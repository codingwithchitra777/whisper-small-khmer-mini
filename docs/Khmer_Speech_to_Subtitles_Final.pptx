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9"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E9EF00A-9707-254E-8DC2-51F1A79E2C80}">
          <p14:sldIdLst>
            <p14:sldId id="256"/>
            <p14:sldId id="257"/>
            <p14:sldId id="258"/>
            <p14:sldId id="259"/>
            <p14:sldId id="260"/>
          </p14:sldIdLst>
        </p14:section>
        <p14:section name="Data" id="{777B42E2-8EB6-E5CE-89ED-A172760F44C8}">
          <p14:sldIdLst>
            <p14:sldId id="261"/>
            <p14:sldId id="262"/>
          </p14:sldIdLst>
        </p14:section>
        <p14:section name="Model &amp; Training" id="{227C1445-C834-1515-B310-ED31AC817581}">
          <p14:sldIdLst>
            <p14:sldId id="263"/>
            <p14:sldId id="264"/>
            <p14:sldId id="265"/>
            <p14:sldId id="266"/>
          </p14:sldIdLst>
        </p14:section>
        <p14:section name="Evaluation" id="{7696CED3-1BF9-252F-AD32-F56875698A5F}">
          <p14:sldIdLst>
            <p14:sldId id="267"/>
            <p14:sldId id="268"/>
            <p14:sldId id="269"/>
            <p14:sldId id="270"/>
            <p14:sldId id="271"/>
            <p14:sldId id="272"/>
          </p14:sldIdLst>
        </p14:section>
        <p14:section name="Demo &amp; Conclusion" id="{49F976A3-D99E-E1A3-176E-A57C0DCFC045}">
          <p14:sldIdLst>
            <p14:sldId id="273"/>
            <p14:sldId id="274"/>
            <p14:sldId id="275"/>
            <p14:sldId id="276"/>
          </p14:sldIdLst>
        </p14:section>
        <p14:section name="Backup" id="{A2CEA4C7-9BCA-051B-F840-3352AFD019CE}">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30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aksmey Sam" userId="9137b61491dfaff7" providerId="LiveId" clId="{5097C3A0-E173-4DCE-88C4-4D44B638932B}"/>
    <pc:docChg chg="custSel delSld modSld modSection">
      <pc:chgData name="Reaksmey Sam" userId="9137b61491dfaff7" providerId="LiveId" clId="{5097C3A0-E173-4DCE-88C4-4D44B638932B}" dt="2026-10-09T13:57:33.279" v="3" actId="47"/>
      <pc:docMkLst>
        <pc:docMk/>
      </pc:docMkLst>
      <pc:sldChg chg="addSp delSp modSp mod">
        <pc:chgData name="Reaksmey Sam" userId="9137b61491dfaff7" providerId="LiveId" clId="{5097C3A0-E173-4DCE-88C4-4D44B638932B}" dt="2026-10-05T08:46:46.092" v="2" actId="478"/>
        <pc:sldMkLst>
          <pc:docMk/>
          <pc:sldMk cId="0" sldId="257"/>
        </pc:sldMkLst>
      </pc:sldChg>
      <pc:sldChg chg="del">
        <pc:chgData name="Reaksmey Sam" userId="9137b61491dfaff7" providerId="LiveId" clId="{5097C3A0-E173-4DCE-88C4-4D44B638932B}" dt="2026-10-09T13:57:33.279" v="3" actId="47"/>
        <pc:sldMkLst>
          <pc:docMk/>
          <pc:sldMk cId="0" sldId="277"/>
        </pc:sldMkLst>
      </pc:sldChg>
      <pc:sldChg chg="del">
        <pc:chgData name="Reaksmey Sam" userId="9137b61491dfaff7" providerId="LiveId" clId="{5097C3A0-E173-4DCE-88C4-4D44B638932B}" dt="2026-10-09T13:57:33.279" v="3" actId="47"/>
        <pc:sldMkLst>
          <pc:docMk/>
          <pc:sldMk cId="0" sldId="27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433"/>
                </a:solidFill>
                <a:latin typeface="+mn-lt"/>
              </a:defRPr>
            </a:pPr>
            <a:r>
              <a:rPr lang="en-US" sz="1400" b="0" i="0" u="none" strike="noStrike">
                <a:solidFill>
                  <a:srgbClr val="1B2433"/>
                </a:solidFill>
                <a:latin typeface="+mn-lt"/>
              </a:rPr>
              <a:t>CER without spaces (%) on DDD_TEST (section 5). Lower is better</a:t>
            </a:r>
          </a:p>
        </c:rich>
      </c:tx>
      <c:overlay val="0"/>
    </c:title>
    <c:autoTitleDeleted val="0"/>
    <c:plotArea>
      <c:layout/>
      <c:barChart>
        <c:barDir val="col"/>
        <c:grouping val="clustered"/>
        <c:varyColors val="0"/>
        <c:ser>
          <c:idx val="0"/>
          <c:order val="0"/>
          <c:tx>
            <c:strRef>
              <c:f>Sheet1!$B$1</c:f>
              <c:strCache>
                <c:ptCount val="1"/>
                <c:pt idx="0">
                  <c:v>DDD_TEST</c:v>
                </c:pt>
              </c:strCache>
            </c:strRef>
          </c:tx>
          <c:spPr>
            <a:solidFill>
              <a:srgbClr val="B5473A"/>
            </a:solidFill>
            <a:effectLst/>
          </c:spPr>
          <c:invertIfNegative val="0"/>
          <c:dPt>
            <c:idx val="0"/>
            <c:invertIfNegative val="0"/>
            <c:bubble3D val="0"/>
            <c:extLst>
              <c:ext xmlns:c16="http://schemas.microsoft.com/office/drawing/2014/chart" uri="{C3380CC4-5D6E-409C-BE32-E72D297353CC}">
                <c16:uniqueId val="{00000001-2BFC-460B-81AF-636FAF05CE77}"/>
              </c:ext>
            </c:extLst>
          </c:dPt>
          <c:dPt>
            <c:idx val="1"/>
            <c:invertIfNegative val="0"/>
            <c:bubble3D val="0"/>
            <c:spPr>
              <a:solidFill>
                <a:srgbClr val="E3A535"/>
              </a:solidFill>
              <a:effectLst/>
            </c:spPr>
            <c:extLst>
              <c:ext xmlns:c16="http://schemas.microsoft.com/office/drawing/2014/chart" uri="{C3380CC4-5D6E-409C-BE32-E72D297353CC}">
                <c16:uniqueId val="{00000003-2BFC-460B-81AF-636FAF05CE77}"/>
              </c:ext>
            </c:extLst>
          </c:dPt>
          <c:dPt>
            <c:idx val="2"/>
            <c:invertIfNegative val="0"/>
            <c:bubble3D val="0"/>
            <c:spPr>
              <a:solidFill>
                <a:srgbClr val="1F7A72"/>
              </a:solidFill>
              <a:effectLst/>
            </c:spPr>
            <c:extLst>
              <c:ext xmlns:c16="http://schemas.microsoft.com/office/drawing/2014/chart" uri="{C3380CC4-5D6E-409C-BE32-E72D297353CC}">
                <c16:uniqueId val="{00000005-2BFC-460B-81AF-636FAF05CE77}"/>
              </c:ext>
            </c:extLst>
          </c:dPt>
          <c:dLbls>
            <c:numFmt formatCode="0.0&quot;%&quot;" sourceLinked="0"/>
            <c:spPr>
              <a:noFill/>
              <a:ln>
                <a:noFill/>
              </a:ln>
              <a:effectLst/>
            </c:spPr>
            <c:txPr>
              <a:bodyPr/>
              <a:lstStyle/>
              <a:p>
                <a:pPr>
                  <a:defRPr sz="1600" b="1" i="0" u="none" strike="noStrike">
                    <a:solidFill>
                      <a:srgbClr val="1B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Baseline (zero-shot)</c:v>
                </c:pt>
                <c:pt idx="1">
                  <c:v>Ablation</c:v>
                </c:pt>
                <c:pt idx="2">
                  <c:v>Main model</c:v>
                </c:pt>
              </c:strCache>
            </c:strRef>
          </c:cat>
          <c:val>
            <c:numRef>
              <c:f>Sheet1!$B$2:$B$4</c:f>
              <c:numCache>
                <c:formatCode>General</c:formatCode>
                <c:ptCount val="3"/>
                <c:pt idx="0">
                  <c:v>147.6</c:v>
                </c:pt>
                <c:pt idx="1">
                  <c:v>39.4</c:v>
                </c:pt>
                <c:pt idx="2">
                  <c:v>18.899999999999999</c:v>
                </c:pt>
              </c:numCache>
            </c:numRef>
          </c:val>
          <c:extLst>
            <c:ext xmlns:c16="http://schemas.microsoft.com/office/drawing/2014/chart" uri="{C3380CC4-5D6E-409C-BE32-E72D297353CC}">
              <c16:uniqueId val="{00000006-2BFC-460B-81AF-636FAF05CE77}"/>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433"/>
                </a:solidFill>
                <a:latin typeface="+mn-lt"/>
              </a:defRPr>
            </a:pPr>
            <a:endParaRPr lang="en-US"/>
          </a:p>
        </c:txPr>
        <c:crossAx val="2094734552"/>
        <c:crosses val="autoZero"/>
        <c:auto val="1"/>
        <c:lblAlgn val="ctr"/>
        <c:lblOffset val="100"/>
        <c:noMultiLvlLbl val="1"/>
      </c:catAx>
      <c:valAx>
        <c:axId val="2094734552"/>
        <c:scaling>
          <c:orientation val="minMax"/>
          <c:max val="160"/>
          <c:min val="0"/>
        </c:scaling>
        <c:delete val="0"/>
        <c:axPos val="l"/>
        <c:majorGridlines>
          <c:spPr>
            <a:ln w="9525" cap="flat">
              <a:solidFill>
                <a:srgbClr val="D9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B7E"/>
                </a:solidFill>
                <a:latin typeface="+mn-lt"/>
              </a:defRPr>
            </a:pPr>
            <a:endParaRPr lang="en-US"/>
          </a:p>
        </c:txPr>
        <c:crossAx val="2094734554"/>
        <c:crosses val="autoZero"/>
        <c:crossBetween val="between"/>
        <c:majorUnit val="4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433"/>
                </a:solidFill>
                <a:latin typeface="+mn-lt"/>
              </a:defRPr>
            </a:pPr>
            <a:r>
              <a:rPr lang="en-US" sz="1400" b="0" i="0" u="none" strike="noStrike">
                <a:solidFill>
                  <a:srgbClr val="1B2433"/>
                </a:solidFill>
                <a:latin typeface="+mn-lt"/>
              </a:rPr>
              <a:t>Validation CER without spaces (%) on 400 clips, every 500 steps</a:t>
            </a:r>
          </a:p>
        </c:rich>
      </c:tx>
      <c:overlay val="0"/>
    </c:title>
    <c:autoTitleDeleted val="0"/>
    <c:plotArea>
      <c:layout/>
      <c:lineChart>
        <c:grouping val="standard"/>
        <c:varyColors val="0"/>
        <c:ser>
          <c:idx val="0"/>
          <c:order val="0"/>
          <c:tx>
            <c:strRef>
              <c:f>Sheet1!$B$1</c:f>
              <c:strCache>
                <c:ptCount val="1"/>
                <c:pt idx="0">
                  <c:v>Validation CER without spaces (%)</c:v>
                </c:pt>
              </c:strCache>
            </c:strRef>
          </c:tx>
          <c:spPr>
            <a:ln w="38100" cap="flat">
              <a:solidFill>
                <a:srgbClr val="1F7A72"/>
              </a:solidFill>
              <a:prstDash val="solid"/>
              <a:round/>
            </a:ln>
            <a:effectLst/>
          </c:spPr>
          <c:marker>
            <c:symbol val="circle"/>
            <c:size val="9"/>
            <c:spPr>
              <a:solidFill>
                <a:srgbClr val="1F7A72"/>
              </a:solidFill>
              <a:ln w="9525" cap="flat">
                <a:solidFill>
                  <a:srgbClr val="1F7A72"/>
                </a:solidFill>
                <a:prstDash val="solid"/>
                <a:round/>
              </a:ln>
              <a:effectLst/>
            </c:spPr>
          </c:marker>
          <c:dLbls>
            <c:numFmt formatCode="0.0&quot;%&quot;" sourceLinked="0"/>
            <c:spPr>
              <a:noFill/>
              <a:ln>
                <a:noFill/>
              </a:ln>
              <a:effectLst/>
            </c:spPr>
            <c:txPr>
              <a:bodyPr/>
              <a:lstStyle/>
              <a:p>
                <a:pPr>
                  <a:defRPr sz="1300" b="0" i="0" u="none" strike="noStrike">
                    <a:solidFill>
                      <a:srgbClr val="1B2433"/>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500</c:v>
                </c:pt>
                <c:pt idx="1">
                  <c:v>1,000</c:v>
                </c:pt>
                <c:pt idx="2">
                  <c:v>1,500</c:v>
                </c:pt>
                <c:pt idx="3">
                  <c:v>2,000</c:v>
                </c:pt>
                <c:pt idx="4">
                  <c:v>2,500</c:v>
                </c:pt>
                <c:pt idx="5">
                  <c:v>3,000</c:v>
                </c:pt>
              </c:strCache>
            </c:strRef>
          </c:cat>
          <c:val>
            <c:numRef>
              <c:f>Sheet1!$B$2:$B$7</c:f>
              <c:numCache>
                <c:formatCode>General</c:formatCode>
                <c:ptCount val="6"/>
                <c:pt idx="0">
                  <c:v>46.8</c:v>
                </c:pt>
                <c:pt idx="1">
                  <c:v>34.5</c:v>
                </c:pt>
                <c:pt idx="2">
                  <c:v>27.1</c:v>
                </c:pt>
                <c:pt idx="3">
                  <c:v>24.4</c:v>
                </c:pt>
                <c:pt idx="4">
                  <c:v>23.5</c:v>
                </c:pt>
                <c:pt idx="5">
                  <c:v>22.6</c:v>
                </c:pt>
              </c:numCache>
            </c:numRef>
          </c:val>
          <c:smooth val="0"/>
          <c:extLst>
            <c:ext xmlns:c16="http://schemas.microsoft.com/office/drawing/2014/chart" uri="{C3380CC4-5D6E-409C-BE32-E72D297353CC}">
              <c16:uniqueId val="{00000000-F792-43FD-8833-50E43424CCAC}"/>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E6B7E"/>
                    </a:solidFill>
                    <a:latin typeface="+mn-lt"/>
                  </a:defRPr>
                </a:pPr>
                <a:r>
                  <a:rPr lang="en-US" sz="1200" b="0" i="0" u="none" strike="noStrike">
                    <a:solidFill>
                      <a:srgbClr val="5E6B7E"/>
                    </a:solidFill>
                    <a:latin typeface="+mn-lt"/>
                  </a:rPr>
                  <a:t>Optimizer step</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E6B7E"/>
                </a:solidFill>
                <a:latin typeface="+mn-lt"/>
              </a:defRPr>
            </a:pPr>
            <a:endParaRPr lang="en-US"/>
          </a:p>
        </c:txPr>
        <c:crossAx val="2094734552"/>
        <c:crosses val="autoZero"/>
        <c:auto val="1"/>
        <c:lblAlgn val="ctr"/>
        <c:lblOffset val="100"/>
        <c:noMultiLvlLbl val="1"/>
      </c:catAx>
      <c:valAx>
        <c:axId val="2094734552"/>
        <c:scaling>
          <c:orientation val="minMax"/>
          <c:max val="50"/>
          <c:min val="0"/>
        </c:scaling>
        <c:delete val="0"/>
        <c:axPos val="l"/>
        <c:majorGridlines>
          <c:spPr>
            <a:ln w="9525" cap="flat">
              <a:solidFill>
                <a:srgbClr val="D9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B7E"/>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640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web app that takes a YouTube link and returns Khmer subtitles with timings, powered by a Whisper-small model we fine-tuned on about 16 hours of Khmer speech.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talk follows six steps: the problem, the data, the model, the experiments, the results, and the working application.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Khmer is spoken by about 17 million people. Most Cambodian video on YouTube and Facebook is published without subtitles, because writing them by hand takes hours per hour of video. And off-the-shelf AI does not solve it: Whisper used as is makes more errors than there are characters on Khmer speakers it has never heard. That shuts out deaf and hard-of-hearing viewers and learners, and makes video content unsearchable.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work is accurate but slow; cloud APIs cost money and give no subtitle workflow; Whisper used as is cannot really transcribe Khmer, as our baseline numbers show later. The gap we fill: a free end-to-end subtitle tool with a Khmer-trained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in six steps: paste a YouTube URL, extract the audio, clean and cut it into chunks, transcribe with our fine-tuned Whisper-small, show the subtitles, and export SRT or TXT.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public Khmer dataset is big and varied enough, so we combined five. Most audio comes from km-speech-corpus. OpenSLR 42 is one male speaker reading news, kheng.info is single words, MPWT is traffic-rule questions, and RFI is 83 clips we cut and transcribed ourselves. 17.85 hours were assembled; 15.99 hours form the training split.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done by src/build_dataset.py. The key step is the leak-free split: several sources have many speakers reading the same sentence, so a random split would put test sentences into training and inflate the scores. We assign each sentence to a split by hashing its text. ddd_test comes from a different dataset (Digital Divide Data Khmer ASR, CC-BY-SA-4.0) with two unseen speakers; any training sentence that also appears in it is removed.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encoder reads an 80-channel log-Mel spectrogram of up to 30 seconds of audio; the decoder writes the transcript token by token while attending to the encoder. 240,582,912 trainable parameters, counted by our training script. Whisper was pre-trained on 680,000 hours of audio, but only a tiny fraction was Khmer, so out of the box it cannot transcribe Khmer. We chose the small size because it fine-tunes in under an hour on one GPU and runs fast enough for a demo.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each layer. The encoder has 12 identical layers: multi-head self-attention, where every audio frame can look at every other frame, followed by a feed-forward network; each block has a LayerNorm in front and a residual connection around it. The decoder also has 12 layers, with three blocks: masked self-attention over the tokens written so far, cross-attention that reads the encoder output, and a feed-forward network. A final linear layer and softmax pick the next token from a 51,865-token vocabulary. Note the 448-token output limit: Khmer uses so many tokens that this is why our web app cuts audio into chunks of 10 seconds or less.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fine-tune all 241 million parameters with Hugging Face's Seq2SeqTrainer. Plain fine-tuning makes Whisper forget timestamps, which a subtitle tool needs, so half of the labels keep start and end time tokens. Language and task are fixed to Khmer transcription so the model never translates.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settings are saved by the training script in run_config_main.json. A small learning rate keeps what Whisper already knows. bf16, gradient checkpointing and 16 x 2 gradient accumulation let it fit on one 24 GB GPU; training is also resumable across Kaggle's 12-hour sessions. The main model trained in 44 minutes; the ablation in 7.5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each answering one question. The ablation uses the exact same recipe on OpenSLR 42 alone, one male speaker. Be honest about the caveat: with less data the ablation also got fewer training steps.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three metrics. WER is standard but misleading for Khmer because there are no consistent spaces between words. CER counts character mistakes. Our main metric removes all spaces first, so it measures whether the right sounds were written down. Error rates over 100% happen when a model rambles or repeats itself. Example: reference KHMER, prediction KMARS has one substitution, one deletion and one insertion, so CER is 3 out of 5, 60%. On the right, the only difference is a missing space: plain CER calls it an error (11.1%), CER without spaces correctly gives 0%. Both values were checked with jiwer, the library behind our metric code. Important: spaces are removed only when computing this score. The subtitles shown to users keep normal Khmer spacing, which the model learned from the training labels.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On speakers and sentences the model never saw, the original Whisper-small makes more errors than there are characters: it basically cannot write Khmer. After fine-tuning, about four out of five characters are right. Our model is best on both test sets.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training we checked the model on 400 validation clips every 500 steps. The error fell from 46.8% to 22.6%, and the improvements got smaller each time. The three cards answer a common question: 22.6%, 24.9% and 18.9% are the same model on three different splits.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outputs from the test set, with the differing word highlighted. The mistakes are mostly one vowel or one syllable, words that sound alike. Compare that with the zero-shot baseline, which on the first unseen-speaker sentence printed a single Khmer letter followed by a space over and over until it hit the token limit.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things we learned. One: Whisper as is cannot write Khmer. Two: about 16 hours of Khmer and 44 minutes of training make it usable on new speakers. Three: variety of speakers matters, even for a single speaker, although the ablation also had fewer steps. Four: for Khmer, measure characters without spaces. Five: split by sentence, or test sentences leak into training. Six: Khmer uses many tokens, which is why the app works on chunks of 10 seconds or less.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pastes a link in the Next.js page, which forwards it to the FastAPI back end. The back end starts a background job and returns immediately; the page polls for progress and new subtitle segments. One worker runs jobs in order because there is one GPU. The back end downloads the audio from YouTube and runs our fine-tuned model. The model was trained offline on RunPod and is published on Hugging Face; the API downloads it on first start. For the public demo, a Cloudflare tunnel exposes the web app.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Paste a Khmer YouTube link, point out the progress counter (chunks done out of total), play the video next to the subtitle timeline, then download the SRT file. Runs locally with start-api.ps1 and start-webapp.ps1; a Cloudflare quick tunnel gives a public link. Have a backup screen recording ready in case the network fails.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working web app that turns Khmer YouTube videos into timed, exportable subtitles. Fine-tuning made Whisper-small usable for Khmer, and the ablation shows that combining five data sources roughly halves the error compared with one speaker. The biggest limitation is the data: YouTube has spontaneous speech, music and noise, but our training data is mostly read speech.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dataset, model and code links. Licenses are recorded in src/config.py. Two sources are research-use only, so the combined training set is not redistributed.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11091672" cy="292608"/>
          </a:xfrm>
          <a:prstGeom prst="rect">
            <a:avLst/>
          </a:prstGeom>
          <a:noFill/>
          <a:ln/>
        </p:spPr>
        <p:txBody>
          <a:bodyPr wrap="square" rtlCol="0"/>
          <a:lstStyle>
            <a:lvl1pPr marL="0" indent="0">
              <a:buNone/>
              <a:defRPr lang="en-US" sz="1400" b="1" dirty="0">
                <a:solidFill>
                  <a:schemeClr val="accent3"/>
                </a:solidFill>
              </a:defRPr>
            </a:lvl1pPr>
          </a:lstStyle>
          <a:p>
            <a:pPr marL="0" indent="0">
              <a:buNone/>
            </a:pPr>
            <a:endParaRPr lang="en-US" sz="1400" dirty="0"/>
          </a:p>
        </p:txBody>
      </p:sp>
      <p:sp>
        <p:nvSpPr>
          <p:cNvPr id="3" name="Text 0"/>
          <p:cNvSpPr>
            <a:spLocks noGrp="1"/>
          </p:cNvSpPr>
          <p:nvPr>
            <p:ph type="title" idx="101" hasCustomPrompt="1"/>
          </p:nvPr>
        </p:nvSpPr>
        <p:spPr>
          <a:xfrm>
            <a:off x="548640" y="713232"/>
            <a:ext cx="11091672" cy="685800"/>
          </a:xfrm>
          <a:prstGeom prst="rect">
            <a:avLst/>
          </a:prstGeom>
          <a:noFill/>
          <a:ln/>
        </p:spPr>
        <p:txBody>
          <a:bodyPr wrap="square" rtlCol="0"/>
          <a:lstStyle>
            <a:lvl1pPr marL="0" indent="0" algn="l">
              <a:buNone/>
              <a:defRPr lang="en-US" sz="3200" b="1" dirty="0">
                <a:solidFill>
                  <a:schemeClr val="tx2"/>
                </a:solidFill>
                <a:latin typeface="Calibri" pitchFamily="34" charset="0"/>
                <a:ea typeface="Calibri" pitchFamily="34" charset="-122"/>
                <a:cs typeface="Calibri"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hyperlink" Target="https://huggingface.co/datasets/seanghay/km-speech-corpu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huggingface.co/datasets/seanghay/khmer_mpwt_speech" TargetMode="External"/><Relationship Id="rId5" Type="http://schemas.openxmlformats.org/officeDocument/2006/relationships/hyperlink" Target="https://huggingface.co/datasets/seanghay/khmer_kheng_info_speech" TargetMode="External"/><Relationship Id="rId4" Type="http://schemas.openxmlformats.org/officeDocument/2006/relationships/hyperlink" Target="https://openslr.org/42/"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huggingface.co/datasets/Digital-Divide-Data/khm-asr-cultura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huggingface.co/learn/audio-course/chapter5/evaluation"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hyperlink" Target="https://huggingface.co/openai/whisper-small" TargetMode="External"/><Relationship Id="rId3" Type="http://schemas.openxmlformats.org/officeDocument/2006/relationships/hyperlink" Target="https://huggingface.co/datasets/seanghay/km-speech-corpus" TargetMode="External"/><Relationship Id="rId7" Type="http://schemas.openxmlformats.org/officeDocument/2006/relationships/hyperlink" Target="https://huggingface.co/datasets/Digital-Divide-Data/khm-asr-cultura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s://huggingface.co/datasets/seanghay/khmer_mpwt_speech" TargetMode="External"/><Relationship Id="rId5" Type="http://schemas.openxmlformats.org/officeDocument/2006/relationships/hyperlink" Target="https://huggingface.co/datasets/seanghay/khmer_kheng_info_speech" TargetMode="External"/><Relationship Id="rId10" Type="http://schemas.openxmlformats.org/officeDocument/2006/relationships/hyperlink" Target="https://huggingface.co/learn/audio-course/chapter5/evaluation" TargetMode="External"/><Relationship Id="rId4" Type="http://schemas.openxmlformats.org/officeDocument/2006/relationships/hyperlink" Target="https://openslr.org/42/" TargetMode="External"/><Relationship Id="rId9" Type="http://schemas.openxmlformats.org/officeDocument/2006/relationships/hyperlink" Target="https://github.com/codingwithchitra777/whisper-small-khmer-mini"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llustration: Khmer speech waveform passing through a Transformer model to become a timestamped Khmer subtitle"/>
          <p:cNvPicPr>
            <a:picLocks noChangeAspect="1"/>
          </p:cNvPicPr>
          <p:nvPr/>
        </p:nvPicPr>
        <p:blipFill>
          <a:blip r:embed="rId3"/>
          <a:stretch>
            <a:fillRect/>
          </a:stretch>
        </p:blipFill>
        <p:spPr>
          <a:xfrm>
            <a:off x="7616952" y="0"/>
            <a:ext cx="4572000" cy="6858000"/>
          </a:xfrm>
          <a:prstGeom prst="rect">
            <a:avLst/>
          </a:prstGeom>
        </p:spPr>
      </p:pic>
      <p:pic>
        <p:nvPicPr>
          <p:cNvPr id="3" name="Image 1" descr="RUPP logo"/>
          <p:cNvPicPr>
            <a:picLocks noChangeAspect="1"/>
          </p:cNvPicPr>
          <p:nvPr/>
        </p:nvPicPr>
        <p:blipFill>
          <a:blip r:embed="rId4"/>
          <a:stretch>
            <a:fillRect/>
          </a:stretch>
        </p:blipFill>
        <p:spPr>
          <a:xfrm>
            <a:off x="548640" y="502920"/>
            <a:ext cx="566928" cy="585216"/>
          </a:xfrm>
          <a:prstGeom prst="rect">
            <a:avLst/>
          </a:prstGeom>
        </p:spPr>
      </p:pic>
      <p:sp>
        <p:nvSpPr>
          <p:cNvPr id="4" name="Text 0"/>
          <p:cNvSpPr txBox="1"/>
          <p:nvPr/>
        </p:nvSpPr>
        <p:spPr>
          <a:xfrm>
            <a:off x="1261872" y="548640"/>
            <a:ext cx="5943600" cy="274320"/>
          </a:xfrm>
          <a:prstGeom prst="rect">
            <a:avLst/>
          </a:prstGeom>
          <a:noFill/>
          <a:ln/>
        </p:spPr>
        <p:txBody>
          <a:bodyPr wrap="square" lIns="0" tIns="0" rIns="0" bIns="0" rtlCol="0" anchor="t"/>
          <a:lstStyle/>
          <a:p>
            <a:pPr marL="0" indent="0">
              <a:buNone/>
            </a:pPr>
            <a:r>
              <a:rPr lang="en-US" sz="1300" b="1" dirty="0">
                <a:solidFill>
                  <a:schemeClr val="bg1"/>
                </a:solidFill>
              </a:rPr>
              <a:t>Royal University of Phnom Penh</a:t>
            </a:r>
            <a:endParaRPr lang="en-US" sz="1300" dirty="0"/>
          </a:p>
        </p:txBody>
      </p:sp>
      <p:sp>
        <p:nvSpPr>
          <p:cNvPr id="5" name="Text 1"/>
          <p:cNvSpPr txBox="1"/>
          <p:nvPr/>
        </p:nvSpPr>
        <p:spPr>
          <a:xfrm>
            <a:off x="1261872" y="822960"/>
            <a:ext cx="5943600" cy="274320"/>
          </a:xfrm>
          <a:prstGeom prst="rect">
            <a:avLst/>
          </a:prstGeom>
          <a:noFill/>
          <a:ln/>
        </p:spPr>
        <p:txBody>
          <a:bodyPr wrap="square" lIns="0" tIns="0" rIns="0" bIns="0" rtlCol="0" anchor="t"/>
          <a:lstStyle/>
          <a:p>
            <a:pPr marL="0" indent="0">
              <a:buNone/>
            </a:pPr>
            <a:r>
              <a:rPr lang="en-US" sz="1200" dirty="0">
                <a:solidFill>
                  <a:schemeClr val="accent6"/>
                </a:solidFill>
              </a:rPr>
              <a:t>Master of Science in Data Science and Engineering</a:t>
            </a:r>
            <a:endParaRPr lang="en-US" sz="1200" dirty="0"/>
          </a:p>
        </p:txBody>
      </p:sp>
      <p:sp>
        <p:nvSpPr>
          <p:cNvPr id="6" name="Text 2"/>
          <p:cNvSpPr txBox="1"/>
          <p:nvPr/>
        </p:nvSpPr>
        <p:spPr>
          <a:xfrm>
            <a:off x="548640" y="2057400"/>
            <a:ext cx="6583680" cy="320040"/>
          </a:xfrm>
          <a:prstGeom prst="rect">
            <a:avLst/>
          </a:prstGeom>
          <a:noFill/>
          <a:ln/>
        </p:spPr>
        <p:txBody>
          <a:bodyPr wrap="square" lIns="0" tIns="0" rIns="0" bIns="0" rtlCol="0" anchor="t"/>
          <a:lstStyle/>
          <a:p>
            <a:pPr marL="0" indent="0">
              <a:buNone/>
            </a:pPr>
            <a:r>
              <a:rPr lang="en-US" sz="1500" b="1" dirty="0">
                <a:solidFill>
                  <a:schemeClr val="accent2"/>
                </a:solidFill>
              </a:rPr>
              <a:t>Final project presentation</a:t>
            </a:r>
            <a:endParaRPr lang="en-US" sz="1500" dirty="0"/>
          </a:p>
        </p:txBody>
      </p:sp>
      <p:sp>
        <p:nvSpPr>
          <p:cNvPr id="7" name="Text 3"/>
          <p:cNvSpPr txBox="1"/>
          <p:nvPr/>
        </p:nvSpPr>
        <p:spPr>
          <a:xfrm>
            <a:off x="548640" y="2423160"/>
            <a:ext cx="6675120" cy="822960"/>
          </a:xfrm>
          <a:prstGeom prst="rect">
            <a:avLst/>
          </a:prstGeom>
          <a:noFill/>
          <a:ln/>
        </p:spPr>
        <p:txBody>
          <a:bodyPr wrap="square" lIns="0" tIns="0" rIns="0" bIns="0" rtlCol="0" anchor="t"/>
          <a:lstStyle/>
          <a:p>
            <a:pPr marL="0" indent="0">
              <a:buNone/>
            </a:pPr>
            <a:r>
              <a:rPr lang="en-US" sz="4600" b="1" dirty="0">
                <a:solidFill>
                  <a:schemeClr val="bg1"/>
                </a:solidFill>
              </a:rPr>
              <a:t>Khmer Speech-to-Subtitles</a:t>
            </a:r>
            <a:endParaRPr lang="en-US" sz="4600" dirty="0"/>
          </a:p>
        </p:txBody>
      </p:sp>
      <p:sp>
        <p:nvSpPr>
          <p:cNvPr id="8" name="Text 4"/>
          <p:cNvSpPr txBox="1"/>
          <p:nvPr/>
        </p:nvSpPr>
        <p:spPr>
          <a:xfrm>
            <a:off x="548640" y="3337560"/>
            <a:ext cx="6217920" cy="731520"/>
          </a:xfrm>
          <a:prstGeom prst="rect">
            <a:avLst/>
          </a:prstGeom>
          <a:noFill/>
          <a:ln/>
        </p:spPr>
        <p:txBody>
          <a:bodyPr wrap="square" lIns="0" tIns="0" rIns="0" bIns="0" rtlCol="0" anchor="t"/>
          <a:lstStyle/>
          <a:p>
            <a:pPr marL="0" indent="0">
              <a:buNone/>
            </a:pPr>
            <a:r>
              <a:rPr lang="en-US" sz="1800" dirty="0">
                <a:solidFill>
                  <a:schemeClr val="accent6"/>
                </a:solidFill>
              </a:rPr>
              <a:t>Fine-tuning Whisper-small to generate timestamped Khmer subtitles for YouTube videos</a:t>
            </a:r>
            <a:endParaRPr lang="en-US" sz="1800" dirty="0"/>
          </a:p>
        </p:txBody>
      </p:sp>
      <p:sp>
        <p:nvSpPr>
          <p:cNvPr id="10" name="Text 5"/>
          <p:cNvSpPr txBox="1"/>
          <p:nvPr/>
        </p:nvSpPr>
        <p:spPr>
          <a:xfrm>
            <a:off x="548640" y="4343400"/>
            <a:ext cx="1325880" cy="274320"/>
          </a:xfrm>
          <a:prstGeom prst="rect">
            <a:avLst/>
          </a:prstGeom>
          <a:noFill/>
          <a:ln/>
        </p:spPr>
        <p:txBody>
          <a:bodyPr wrap="square" lIns="0" tIns="0" rIns="0" bIns="0" rtlCol="0" anchor="t"/>
          <a:lstStyle/>
          <a:p>
            <a:pPr marL="0" indent="0">
              <a:buNone/>
            </a:pPr>
            <a:r>
              <a:rPr lang="en-US" sz="1200" b="1" dirty="0">
                <a:solidFill>
                  <a:schemeClr val="accent2"/>
                </a:solidFill>
              </a:rPr>
              <a:t>Subject</a:t>
            </a:r>
            <a:endParaRPr lang="en-US" sz="1200" dirty="0"/>
          </a:p>
        </p:txBody>
      </p:sp>
      <p:sp>
        <p:nvSpPr>
          <p:cNvPr id="11" name="Text 6"/>
          <p:cNvSpPr txBox="1"/>
          <p:nvPr/>
        </p:nvSpPr>
        <p:spPr>
          <a:xfrm>
            <a:off x="1920240" y="4325112"/>
            <a:ext cx="5394960" cy="292608"/>
          </a:xfrm>
          <a:prstGeom prst="rect">
            <a:avLst/>
          </a:prstGeom>
          <a:noFill/>
          <a:ln/>
        </p:spPr>
        <p:txBody>
          <a:bodyPr wrap="square" lIns="0" tIns="0" rIns="0" bIns="0" rtlCol="0" anchor="t"/>
          <a:lstStyle/>
          <a:p>
            <a:pPr marL="0" indent="0">
              <a:buNone/>
            </a:pPr>
            <a:r>
              <a:rPr lang="en-US" sz="1400" dirty="0">
                <a:solidFill>
                  <a:schemeClr val="bg1"/>
                </a:solidFill>
              </a:rPr>
              <a:t>Introduction to Large Language Models</a:t>
            </a:r>
            <a:endParaRPr lang="en-US" sz="1400" dirty="0"/>
          </a:p>
        </p:txBody>
      </p:sp>
      <p:sp>
        <p:nvSpPr>
          <p:cNvPr id="12" name="Text 7"/>
          <p:cNvSpPr txBox="1"/>
          <p:nvPr/>
        </p:nvSpPr>
        <p:spPr>
          <a:xfrm>
            <a:off x="548640" y="4709160"/>
            <a:ext cx="1325880" cy="274320"/>
          </a:xfrm>
          <a:prstGeom prst="rect">
            <a:avLst/>
          </a:prstGeom>
          <a:noFill/>
          <a:ln/>
        </p:spPr>
        <p:txBody>
          <a:bodyPr wrap="square" lIns="0" tIns="0" rIns="0" bIns="0" rtlCol="0" anchor="t"/>
          <a:lstStyle/>
          <a:p>
            <a:pPr marL="0" indent="0">
              <a:buNone/>
            </a:pPr>
            <a:r>
              <a:rPr lang="en-US" sz="1200" b="1" dirty="0">
                <a:solidFill>
                  <a:schemeClr val="accent2"/>
                </a:solidFill>
              </a:rPr>
              <a:t>Lecturer</a:t>
            </a:r>
            <a:endParaRPr lang="en-US" sz="1200" dirty="0"/>
          </a:p>
        </p:txBody>
      </p:sp>
      <p:sp>
        <p:nvSpPr>
          <p:cNvPr id="13" name="Text 8"/>
          <p:cNvSpPr txBox="1"/>
          <p:nvPr/>
        </p:nvSpPr>
        <p:spPr>
          <a:xfrm>
            <a:off x="1920240" y="4690872"/>
            <a:ext cx="5394960" cy="292608"/>
          </a:xfrm>
          <a:prstGeom prst="rect">
            <a:avLst/>
          </a:prstGeom>
          <a:noFill/>
          <a:ln/>
        </p:spPr>
        <p:txBody>
          <a:bodyPr wrap="square" lIns="0" tIns="0" rIns="0" bIns="0" rtlCol="0" anchor="t"/>
          <a:lstStyle/>
          <a:p>
            <a:pPr marL="0" indent="0">
              <a:buNone/>
            </a:pPr>
            <a:r>
              <a:rPr lang="en-US" sz="1400" dirty="0">
                <a:solidFill>
                  <a:schemeClr val="bg1"/>
                </a:solidFill>
              </a:rPr>
              <a:t>Dr. Chen Sovann</a:t>
            </a:r>
            <a:endParaRPr lang="en-US" sz="1400" dirty="0"/>
          </a:p>
        </p:txBody>
      </p:sp>
      <p:sp>
        <p:nvSpPr>
          <p:cNvPr id="14" name="Text 9"/>
          <p:cNvSpPr txBox="1"/>
          <p:nvPr/>
        </p:nvSpPr>
        <p:spPr>
          <a:xfrm>
            <a:off x="548640" y="5074920"/>
            <a:ext cx="1325880" cy="274320"/>
          </a:xfrm>
          <a:prstGeom prst="rect">
            <a:avLst/>
          </a:prstGeom>
          <a:noFill/>
          <a:ln/>
        </p:spPr>
        <p:txBody>
          <a:bodyPr wrap="square" lIns="0" tIns="0" rIns="0" bIns="0" rtlCol="0" anchor="t"/>
          <a:lstStyle/>
          <a:p>
            <a:pPr marL="0" indent="0">
              <a:buNone/>
            </a:pPr>
            <a:r>
              <a:rPr lang="en-US" sz="1200" b="1" dirty="0">
                <a:solidFill>
                  <a:schemeClr val="accent2"/>
                </a:solidFill>
              </a:rPr>
              <a:t>Presenters</a:t>
            </a:r>
            <a:endParaRPr lang="en-US" sz="1200" dirty="0"/>
          </a:p>
        </p:txBody>
      </p:sp>
      <p:sp>
        <p:nvSpPr>
          <p:cNvPr id="15" name="Text 10"/>
          <p:cNvSpPr txBox="1"/>
          <p:nvPr/>
        </p:nvSpPr>
        <p:spPr>
          <a:xfrm>
            <a:off x="1920240" y="5056632"/>
            <a:ext cx="5394960" cy="292608"/>
          </a:xfrm>
          <a:prstGeom prst="rect">
            <a:avLst/>
          </a:prstGeom>
          <a:noFill/>
          <a:ln/>
        </p:spPr>
        <p:txBody>
          <a:bodyPr wrap="square" lIns="0" tIns="0" rIns="0" bIns="0" rtlCol="0" anchor="t"/>
          <a:lstStyle/>
          <a:p>
            <a:pPr marL="0" indent="0">
              <a:buNone/>
            </a:pPr>
            <a:r>
              <a:rPr lang="en-US" sz="1400" dirty="0">
                <a:solidFill>
                  <a:schemeClr val="bg1"/>
                </a:solidFill>
              </a:rPr>
              <a:t>Sem Chitra, Sar Sakal, Earn Pisey, Sam Reaksmey</a:t>
            </a:r>
            <a:endParaRPr lang="en-US" sz="1400" dirty="0"/>
          </a:p>
        </p:txBody>
      </p:sp>
      <p:sp>
        <p:nvSpPr>
          <p:cNvPr id="16" name="Text 11"/>
          <p:cNvSpPr txBox="1"/>
          <p:nvPr/>
        </p:nvSpPr>
        <p:spPr>
          <a:xfrm>
            <a:off x="548640" y="5440680"/>
            <a:ext cx="1325880" cy="274320"/>
          </a:xfrm>
          <a:prstGeom prst="rect">
            <a:avLst/>
          </a:prstGeom>
          <a:noFill/>
          <a:ln/>
        </p:spPr>
        <p:txBody>
          <a:bodyPr wrap="square" lIns="0" tIns="0" rIns="0" bIns="0" rtlCol="0" anchor="t"/>
          <a:lstStyle/>
          <a:p>
            <a:pPr marL="0" indent="0">
              <a:buNone/>
            </a:pPr>
            <a:r>
              <a:rPr lang="en-US" sz="1200" b="1" dirty="0">
                <a:solidFill>
                  <a:schemeClr val="accent2"/>
                </a:solidFill>
              </a:rPr>
              <a:t>Class</a:t>
            </a:r>
            <a:endParaRPr lang="en-US" sz="1200" dirty="0"/>
          </a:p>
        </p:txBody>
      </p:sp>
      <p:sp>
        <p:nvSpPr>
          <p:cNvPr id="17" name="Text 12"/>
          <p:cNvSpPr txBox="1"/>
          <p:nvPr/>
        </p:nvSpPr>
        <p:spPr>
          <a:xfrm>
            <a:off x="1920240" y="5422392"/>
            <a:ext cx="5394960" cy="292608"/>
          </a:xfrm>
          <a:prstGeom prst="rect">
            <a:avLst/>
          </a:prstGeom>
          <a:noFill/>
          <a:ln/>
        </p:spPr>
        <p:txBody>
          <a:bodyPr wrap="square" lIns="0" tIns="0" rIns="0" bIns="0" rtlCol="0" anchor="t"/>
          <a:lstStyle/>
          <a:p>
            <a:pPr marL="0" indent="0">
              <a:buNone/>
            </a:pPr>
            <a:r>
              <a:rPr lang="en-US" sz="1400" dirty="0">
                <a:solidFill>
                  <a:schemeClr val="bg1"/>
                </a:solidFill>
              </a:rPr>
              <a:t>MDSE Cohort 3, October 2026</a:t>
            </a:r>
            <a:endParaRPr lang="en-US" sz="1400" dirty="0"/>
          </a:p>
        </p:txBody>
      </p:sp>
      <p:sp>
        <p:nvSpPr>
          <p:cNvPr id="18" name="Text 13"/>
          <p:cNvSpPr txBox="1"/>
          <p:nvPr/>
        </p:nvSpPr>
        <p:spPr>
          <a:xfrm>
            <a:off x="548640" y="5806440"/>
            <a:ext cx="1325880" cy="274320"/>
          </a:xfrm>
          <a:prstGeom prst="rect">
            <a:avLst/>
          </a:prstGeom>
          <a:noFill/>
          <a:ln/>
        </p:spPr>
        <p:txBody>
          <a:bodyPr wrap="square" lIns="0" tIns="0" rIns="0" bIns="0" rtlCol="0" anchor="t"/>
          <a:lstStyle/>
          <a:p>
            <a:pPr marL="0" indent="0">
              <a:buNone/>
            </a:pPr>
            <a:r>
              <a:rPr lang="en-US" sz="1200" b="1" dirty="0">
                <a:solidFill>
                  <a:schemeClr val="accent2"/>
                </a:solidFill>
              </a:rPr>
              <a:t>Code</a:t>
            </a:r>
            <a:endParaRPr lang="en-US" sz="1200" dirty="0"/>
          </a:p>
        </p:txBody>
      </p:sp>
      <p:sp>
        <p:nvSpPr>
          <p:cNvPr id="19" name="Text 14"/>
          <p:cNvSpPr txBox="1"/>
          <p:nvPr/>
        </p:nvSpPr>
        <p:spPr>
          <a:xfrm>
            <a:off x="1920240" y="5788152"/>
            <a:ext cx="5394960" cy="292608"/>
          </a:xfrm>
          <a:prstGeom prst="rect">
            <a:avLst/>
          </a:prstGeom>
          <a:noFill/>
          <a:ln/>
        </p:spPr>
        <p:txBody>
          <a:bodyPr wrap="square" lIns="0" tIns="0" rIns="0" bIns="0" rtlCol="0" anchor="t"/>
          <a:lstStyle/>
          <a:p>
            <a:pPr marL="0" indent="0">
              <a:buNone/>
            </a:pPr>
            <a:r>
              <a:rPr lang="en-US" sz="1400" dirty="0">
                <a:solidFill>
                  <a:schemeClr val="bg1"/>
                </a:solidFill>
              </a:rPr>
              <a:t>github.com/codingwithchitra777/whisper-small-khmer-mini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Table of contents</a:t>
            </a:r>
            <a:endParaRPr lang="en-US" sz="3200" dirty="0"/>
          </a:p>
        </p:txBody>
      </p:sp>
      <p:sp>
        <p:nvSpPr>
          <p:cNvPr id="4" name="Text 2"/>
          <p:cNvSpPr txBox="1"/>
          <p:nvPr/>
        </p:nvSpPr>
        <p:spPr>
          <a:xfrm>
            <a:off x="548640" y="1783080"/>
            <a:ext cx="3474720" cy="411480"/>
          </a:xfrm>
          <a:prstGeom prst="rect">
            <a:avLst/>
          </a:prstGeom>
          <a:noFill/>
          <a:ln/>
        </p:spPr>
        <p:txBody>
          <a:bodyPr wrap="square" lIns="0" tIns="0" rIns="0" bIns="0" rtlCol="0" anchor="t"/>
          <a:lstStyle/>
          <a:p>
            <a:pPr marL="0" indent="0">
              <a:buNone/>
            </a:pPr>
            <a:r>
              <a:rPr lang="en-US" sz="2100" b="1" dirty="0">
                <a:solidFill>
                  <a:schemeClr val="tx2"/>
                </a:solidFill>
              </a:rPr>
              <a:t>Problem</a:t>
            </a:r>
            <a:endParaRPr lang="en-US" sz="2100" dirty="0"/>
          </a:p>
        </p:txBody>
      </p:sp>
      <p:sp>
        <p:nvSpPr>
          <p:cNvPr id="5" name="Text 3"/>
          <p:cNvSpPr txBox="1"/>
          <p:nvPr/>
        </p:nvSpPr>
        <p:spPr>
          <a:xfrm>
            <a:off x="548640" y="2258568"/>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1</a:t>
            </a:r>
            <a:endParaRPr lang="en-US" sz="1600" dirty="0"/>
          </a:p>
        </p:txBody>
      </p:sp>
      <p:sp>
        <p:nvSpPr>
          <p:cNvPr id="6" name="Text 4"/>
          <p:cNvSpPr txBox="1"/>
          <p:nvPr/>
        </p:nvSpPr>
        <p:spPr>
          <a:xfrm>
            <a:off x="1005840" y="2258568"/>
            <a:ext cx="3017520" cy="329184"/>
          </a:xfrm>
          <a:prstGeom prst="rect">
            <a:avLst/>
          </a:prstGeom>
          <a:noFill/>
          <a:ln/>
        </p:spPr>
        <p:txBody>
          <a:bodyPr wrap="square" lIns="0" tIns="0" rIns="0" bIns="0" rtlCol="0" anchor="ctr"/>
          <a:lstStyle/>
          <a:p>
            <a:pPr marL="0" indent="0">
              <a:buNone/>
            </a:pPr>
            <a:r>
              <a:rPr lang="en-US" sz="1600" dirty="0">
                <a:solidFill>
                  <a:schemeClr val="tx1"/>
                </a:solidFill>
              </a:rPr>
              <a:t>Problem and motivation</a:t>
            </a:r>
            <a:endParaRPr lang="en-US" sz="1600" dirty="0"/>
          </a:p>
        </p:txBody>
      </p:sp>
      <p:sp>
        <p:nvSpPr>
          <p:cNvPr id="7" name="Text 5"/>
          <p:cNvSpPr txBox="1"/>
          <p:nvPr/>
        </p:nvSpPr>
        <p:spPr>
          <a:xfrm>
            <a:off x="548640" y="2606040"/>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2</a:t>
            </a:r>
            <a:endParaRPr lang="en-US" sz="1600" dirty="0"/>
          </a:p>
        </p:txBody>
      </p:sp>
      <p:sp>
        <p:nvSpPr>
          <p:cNvPr id="8" name="Text 6"/>
          <p:cNvSpPr txBox="1"/>
          <p:nvPr/>
        </p:nvSpPr>
        <p:spPr>
          <a:xfrm>
            <a:off x="1005840" y="2606040"/>
            <a:ext cx="3017520" cy="329184"/>
          </a:xfrm>
          <a:prstGeom prst="rect">
            <a:avLst/>
          </a:prstGeom>
          <a:noFill/>
          <a:ln/>
        </p:spPr>
        <p:txBody>
          <a:bodyPr wrap="square" lIns="0" tIns="0" rIns="0" bIns="0" rtlCol="0" anchor="ctr"/>
          <a:lstStyle/>
          <a:p>
            <a:pPr marL="0" indent="0">
              <a:buNone/>
            </a:pPr>
            <a:r>
              <a:rPr lang="en-US" sz="1600" dirty="0">
                <a:solidFill>
                  <a:schemeClr val="tx1"/>
                </a:solidFill>
              </a:rPr>
              <a:t>Existing solutions</a:t>
            </a:r>
            <a:endParaRPr lang="en-US" sz="1600" dirty="0"/>
          </a:p>
        </p:txBody>
      </p:sp>
      <p:sp>
        <p:nvSpPr>
          <p:cNvPr id="9" name="Text 7"/>
          <p:cNvSpPr txBox="1"/>
          <p:nvPr/>
        </p:nvSpPr>
        <p:spPr>
          <a:xfrm>
            <a:off x="548640" y="2953512"/>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3</a:t>
            </a:r>
            <a:endParaRPr lang="en-US" sz="1600" dirty="0"/>
          </a:p>
        </p:txBody>
      </p:sp>
      <p:sp>
        <p:nvSpPr>
          <p:cNvPr id="10" name="Text 8"/>
          <p:cNvSpPr txBox="1"/>
          <p:nvPr/>
        </p:nvSpPr>
        <p:spPr>
          <a:xfrm>
            <a:off x="1005840" y="2953512"/>
            <a:ext cx="3017520" cy="329184"/>
          </a:xfrm>
          <a:prstGeom prst="rect">
            <a:avLst/>
          </a:prstGeom>
          <a:noFill/>
          <a:ln/>
        </p:spPr>
        <p:txBody>
          <a:bodyPr wrap="square" lIns="0" tIns="0" rIns="0" bIns="0" rtlCol="0" anchor="ctr"/>
          <a:lstStyle/>
          <a:p>
            <a:pPr marL="0" indent="0">
              <a:buNone/>
            </a:pPr>
            <a:r>
              <a:rPr lang="en-US" sz="1600" dirty="0">
                <a:solidFill>
                  <a:schemeClr val="tx1"/>
                </a:solidFill>
              </a:rPr>
              <a:t>Proposed solution</a:t>
            </a:r>
            <a:endParaRPr lang="en-US" sz="1600" dirty="0"/>
          </a:p>
        </p:txBody>
      </p:sp>
      <p:sp>
        <p:nvSpPr>
          <p:cNvPr id="11" name="Text 9"/>
          <p:cNvSpPr txBox="1"/>
          <p:nvPr/>
        </p:nvSpPr>
        <p:spPr>
          <a:xfrm>
            <a:off x="4343400" y="1783080"/>
            <a:ext cx="3474720" cy="411480"/>
          </a:xfrm>
          <a:prstGeom prst="rect">
            <a:avLst/>
          </a:prstGeom>
          <a:noFill/>
          <a:ln/>
        </p:spPr>
        <p:txBody>
          <a:bodyPr wrap="square" lIns="0" tIns="0" rIns="0" bIns="0" rtlCol="0" anchor="t"/>
          <a:lstStyle/>
          <a:p>
            <a:pPr marL="0" indent="0">
              <a:buNone/>
            </a:pPr>
            <a:r>
              <a:rPr lang="en-US" sz="2100" b="1" dirty="0">
                <a:solidFill>
                  <a:schemeClr val="tx2"/>
                </a:solidFill>
              </a:rPr>
              <a:t>Data</a:t>
            </a:r>
            <a:endParaRPr lang="en-US" sz="2100" dirty="0"/>
          </a:p>
        </p:txBody>
      </p:sp>
      <p:sp>
        <p:nvSpPr>
          <p:cNvPr id="12" name="Text 10"/>
          <p:cNvSpPr txBox="1"/>
          <p:nvPr/>
        </p:nvSpPr>
        <p:spPr>
          <a:xfrm>
            <a:off x="4343400" y="2258568"/>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4</a:t>
            </a:r>
            <a:endParaRPr lang="en-US" sz="1600" dirty="0"/>
          </a:p>
        </p:txBody>
      </p:sp>
      <p:sp>
        <p:nvSpPr>
          <p:cNvPr id="13" name="Text 11"/>
          <p:cNvSpPr txBox="1"/>
          <p:nvPr/>
        </p:nvSpPr>
        <p:spPr>
          <a:xfrm>
            <a:off x="4800600" y="2258568"/>
            <a:ext cx="3017520" cy="329184"/>
          </a:xfrm>
          <a:prstGeom prst="rect">
            <a:avLst/>
          </a:prstGeom>
          <a:noFill/>
          <a:ln/>
        </p:spPr>
        <p:txBody>
          <a:bodyPr wrap="square" lIns="0" tIns="0" rIns="0" bIns="0" rtlCol="0" anchor="ctr"/>
          <a:lstStyle/>
          <a:p>
            <a:pPr marL="0" indent="0">
              <a:buNone/>
            </a:pPr>
            <a:r>
              <a:rPr lang="en-US" sz="1600" dirty="0">
                <a:solidFill>
                  <a:schemeClr val="tx1"/>
                </a:solidFill>
              </a:rPr>
              <a:t>Dataset</a:t>
            </a:r>
            <a:endParaRPr lang="en-US" sz="1600" dirty="0"/>
          </a:p>
        </p:txBody>
      </p:sp>
      <p:sp>
        <p:nvSpPr>
          <p:cNvPr id="14" name="Text 12"/>
          <p:cNvSpPr txBox="1"/>
          <p:nvPr/>
        </p:nvSpPr>
        <p:spPr>
          <a:xfrm>
            <a:off x="4343400" y="2606040"/>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5</a:t>
            </a:r>
            <a:endParaRPr lang="en-US" sz="1600" dirty="0"/>
          </a:p>
        </p:txBody>
      </p:sp>
      <p:sp>
        <p:nvSpPr>
          <p:cNvPr id="15" name="Text 13"/>
          <p:cNvSpPr txBox="1"/>
          <p:nvPr/>
        </p:nvSpPr>
        <p:spPr>
          <a:xfrm>
            <a:off x="4800600" y="2606040"/>
            <a:ext cx="3017520" cy="329184"/>
          </a:xfrm>
          <a:prstGeom prst="rect">
            <a:avLst/>
          </a:prstGeom>
          <a:noFill/>
          <a:ln/>
        </p:spPr>
        <p:txBody>
          <a:bodyPr wrap="square" lIns="0" tIns="0" rIns="0" bIns="0" rtlCol="0" anchor="ctr"/>
          <a:lstStyle/>
          <a:p>
            <a:pPr marL="0" indent="0">
              <a:buNone/>
            </a:pPr>
            <a:r>
              <a:rPr lang="en-US" sz="1600" dirty="0">
                <a:solidFill>
                  <a:schemeClr val="tx1"/>
                </a:solidFill>
              </a:rPr>
              <a:t>Data preparation and splits</a:t>
            </a:r>
            <a:endParaRPr lang="en-US" sz="1600" dirty="0"/>
          </a:p>
        </p:txBody>
      </p:sp>
      <p:sp>
        <p:nvSpPr>
          <p:cNvPr id="16" name="Text 14"/>
          <p:cNvSpPr txBox="1"/>
          <p:nvPr/>
        </p:nvSpPr>
        <p:spPr>
          <a:xfrm>
            <a:off x="8138160" y="1783080"/>
            <a:ext cx="3474720" cy="411480"/>
          </a:xfrm>
          <a:prstGeom prst="rect">
            <a:avLst/>
          </a:prstGeom>
          <a:noFill/>
          <a:ln/>
        </p:spPr>
        <p:txBody>
          <a:bodyPr wrap="square" lIns="0" tIns="0" rIns="0" bIns="0" rtlCol="0" anchor="t"/>
          <a:lstStyle/>
          <a:p>
            <a:pPr marL="0" indent="0">
              <a:buNone/>
            </a:pPr>
            <a:r>
              <a:rPr lang="en-US" sz="2100" b="1" dirty="0">
                <a:solidFill>
                  <a:schemeClr val="tx2"/>
                </a:solidFill>
              </a:rPr>
              <a:t>Model</a:t>
            </a:r>
            <a:endParaRPr lang="en-US" sz="2100" dirty="0"/>
          </a:p>
        </p:txBody>
      </p:sp>
      <p:sp>
        <p:nvSpPr>
          <p:cNvPr id="17" name="Text 15"/>
          <p:cNvSpPr txBox="1"/>
          <p:nvPr/>
        </p:nvSpPr>
        <p:spPr>
          <a:xfrm>
            <a:off x="8138160" y="2258568"/>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6</a:t>
            </a:r>
            <a:endParaRPr lang="en-US" sz="1600" dirty="0"/>
          </a:p>
        </p:txBody>
      </p:sp>
      <p:sp>
        <p:nvSpPr>
          <p:cNvPr id="18" name="Text 16"/>
          <p:cNvSpPr txBox="1"/>
          <p:nvPr/>
        </p:nvSpPr>
        <p:spPr>
          <a:xfrm>
            <a:off x="8595360" y="2258568"/>
            <a:ext cx="3017520" cy="329184"/>
          </a:xfrm>
          <a:prstGeom prst="rect">
            <a:avLst/>
          </a:prstGeom>
          <a:noFill/>
          <a:ln/>
        </p:spPr>
        <p:txBody>
          <a:bodyPr wrap="square" lIns="0" tIns="0" rIns="0" bIns="0" rtlCol="0" anchor="ctr"/>
          <a:lstStyle/>
          <a:p>
            <a:pPr marL="0" indent="0">
              <a:buNone/>
            </a:pPr>
            <a:r>
              <a:rPr lang="en-US" sz="1600" dirty="0">
                <a:solidFill>
                  <a:schemeClr val="tx1"/>
                </a:solidFill>
              </a:rPr>
              <a:t>Model and Transformer layers</a:t>
            </a:r>
            <a:endParaRPr lang="en-US" sz="1600" dirty="0"/>
          </a:p>
        </p:txBody>
      </p:sp>
      <p:sp>
        <p:nvSpPr>
          <p:cNvPr id="19" name="Text 17"/>
          <p:cNvSpPr txBox="1"/>
          <p:nvPr/>
        </p:nvSpPr>
        <p:spPr>
          <a:xfrm>
            <a:off x="8138160" y="2606040"/>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7</a:t>
            </a:r>
            <a:endParaRPr lang="en-US" sz="1600" dirty="0"/>
          </a:p>
        </p:txBody>
      </p:sp>
      <p:sp>
        <p:nvSpPr>
          <p:cNvPr id="20" name="Text 18"/>
          <p:cNvSpPr txBox="1"/>
          <p:nvPr/>
        </p:nvSpPr>
        <p:spPr>
          <a:xfrm>
            <a:off x="8595360" y="2606040"/>
            <a:ext cx="3017520" cy="329184"/>
          </a:xfrm>
          <a:prstGeom prst="rect">
            <a:avLst/>
          </a:prstGeom>
          <a:noFill/>
          <a:ln/>
        </p:spPr>
        <p:txBody>
          <a:bodyPr wrap="square" lIns="0" tIns="0" rIns="0" bIns="0" rtlCol="0" anchor="ctr"/>
          <a:lstStyle/>
          <a:p>
            <a:pPr marL="0" indent="0">
              <a:buNone/>
            </a:pPr>
            <a:r>
              <a:rPr lang="en-US" sz="1600" dirty="0">
                <a:solidFill>
                  <a:schemeClr val="tx1"/>
                </a:solidFill>
              </a:rPr>
              <a:t>Fine-tuning method</a:t>
            </a:r>
            <a:endParaRPr lang="en-US" sz="1600" dirty="0"/>
          </a:p>
        </p:txBody>
      </p:sp>
      <p:sp>
        <p:nvSpPr>
          <p:cNvPr id="21" name="Text 19"/>
          <p:cNvSpPr txBox="1"/>
          <p:nvPr/>
        </p:nvSpPr>
        <p:spPr>
          <a:xfrm>
            <a:off x="8138160" y="2953512"/>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8</a:t>
            </a:r>
            <a:endParaRPr lang="en-US" sz="1600" dirty="0"/>
          </a:p>
        </p:txBody>
      </p:sp>
      <p:sp>
        <p:nvSpPr>
          <p:cNvPr id="22" name="Text 20"/>
          <p:cNvSpPr txBox="1"/>
          <p:nvPr/>
        </p:nvSpPr>
        <p:spPr>
          <a:xfrm>
            <a:off x="8595360" y="2953512"/>
            <a:ext cx="3017520" cy="329184"/>
          </a:xfrm>
          <a:prstGeom prst="rect">
            <a:avLst/>
          </a:prstGeom>
          <a:noFill/>
          <a:ln/>
        </p:spPr>
        <p:txBody>
          <a:bodyPr wrap="square" lIns="0" tIns="0" rIns="0" bIns="0" rtlCol="0" anchor="ctr"/>
          <a:lstStyle/>
          <a:p>
            <a:pPr marL="0" indent="0">
              <a:buNone/>
            </a:pPr>
            <a:r>
              <a:rPr lang="en-US" sz="1600" dirty="0">
                <a:solidFill>
                  <a:schemeClr val="tx1"/>
                </a:solidFill>
              </a:rPr>
              <a:t>Training configuration</a:t>
            </a:r>
            <a:endParaRPr lang="en-US" sz="1600" dirty="0"/>
          </a:p>
        </p:txBody>
      </p:sp>
      <p:sp>
        <p:nvSpPr>
          <p:cNvPr id="23" name="Text 21"/>
          <p:cNvSpPr txBox="1"/>
          <p:nvPr/>
        </p:nvSpPr>
        <p:spPr>
          <a:xfrm>
            <a:off x="548640" y="3840480"/>
            <a:ext cx="3474720" cy="411480"/>
          </a:xfrm>
          <a:prstGeom prst="rect">
            <a:avLst/>
          </a:prstGeom>
          <a:noFill/>
          <a:ln/>
        </p:spPr>
        <p:txBody>
          <a:bodyPr wrap="square" lIns="0" tIns="0" rIns="0" bIns="0" rtlCol="0" anchor="t"/>
          <a:lstStyle/>
          <a:p>
            <a:pPr marL="0" indent="0">
              <a:buNone/>
            </a:pPr>
            <a:r>
              <a:rPr lang="en-US" sz="2100" b="1" dirty="0">
                <a:solidFill>
                  <a:schemeClr val="tx2"/>
                </a:solidFill>
              </a:rPr>
              <a:t>Experiments</a:t>
            </a:r>
            <a:endParaRPr lang="en-US" sz="2100" dirty="0"/>
          </a:p>
        </p:txBody>
      </p:sp>
      <p:sp>
        <p:nvSpPr>
          <p:cNvPr id="24" name="Text 22"/>
          <p:cNvSpPr txBox="1"/>
          <p:nvPr/>
        </p:nvSpPr>
        <p:spPr>
          <a:xfrm>
            <a:off x="548640" y="4315968"/>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9</a:t>
            </a:r>
            <a:endParaRPr lang="en-US" sz="1600" dirty="0"/>
          </a:p>
        </p:txBody>
      </p:sp>
      <p:sp>
        <p:nvSpPr>
          <p:cNvPr id="25" name="Text 23"/>
          <p:cNvSpPr txBox="1"/>
          <p:nvPr/>
        </p:nvSpPr>
        <p:spPr>
          <a:xfrm>
            <a:off x="1005840" y="4315968"/>
            <a:ext cx="3017520" cy="329184"/>
          </a:xfrm>
          <a:prstGeom prst="rect">
            <a:avLst/>
          </a:prstGeom>
          <a:noFill/>
          <a:ln/>
        </p:spPr>
        <p:txBody>
          <a:bodyPr wrap="square" lIns="0" tIns="0" rIns="0" bIns="0" rtlCol="0" anchor="ctr"/>
          <a:lstStyle/>
          <a:p>
            <a:pPr marL="0" indent="0">
              <a:buNone/>
            </a:pPr>
            <a:r>
              <a:rPr lang="en-US" sz="1600" dirty="0">
                <a:solidFill>
                  <a:schemeClr val="tx1"/>
                </a:solidFill>
              </a:rPr>
              <a:t>Experimental design</a:t>
            </a:r>
            <a:endParaRPr lang="en-US" sz="1600" dirty="0"/>
          </a:p>
        </p:txBody>
      </p:sp>
      <p:sp>
        <p:nvSpPr>
          <p:cNvPr id="26" name="Text 24"/>
          <p:cNvSpPr txBox="1"/>
          <p:nvPr/>
        </p:nvSpPr>
        <p:spPr>
          <a:xfrm>
            <a:off x="548640" y="4663440"/>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10</a:t>
            </a:r>
            <a:endParaRPr lang="en-US" sz="1600" dirty="0"/>
          </a:p>
        </p:txBody>
      </p:sp>
      <p:sp>
        <p:nvSpPr>
          <p:cNvPr id="27" name="Text 25"/>
          <p:cNvSpPr txBox="1"/>
          <p:nvPr/>
        </p:nvSpPr>
        <p:spPr>
          <a:xfrm>
            <a:off x="1005840" y="4663440"/>
            <a:ext cx="3017520" cy="329184"/>
          </a:xfrm>
          <a:prstGeom prst="rect">
            <a:avLst/>
          </a:prstGeom>
          <a:noFill/>
          <a:ln/>
        </p:spPr>
        <p:txBody>
          <a:bodyPr wrap="square" lIns="0" tIns="0" rIns="0" bIns="0" rtlCol="0" anchor="ctr"/>
          <a:lstStyle/>
          <a:p>
            <a:pPr marL="0" indent="0">
              <a:buNone/>
            </a:pPr>
            <a:r>
              <a:rPr lang="en-US" sz="1600" dirty="0">
                <a:solidFill>
                  <a:schemeClr val="tx1"/>
                </a:solidFill>
              </a:rPr>
              <a:t>Evaluation metrics</a:t>
            </a:r>
            <a:endParaRPr lang="en-US" sz="1600" dirty="0"/>
          </a:p>
        </p:txBody>
      </p:sp>
      <p:sp>
        <p:nvSpPr>
          <p:cNvPr id="28" name="Text 26"/>
          <p:cNvSpPr txBox="1"/>
          <p:nvPr/>
        </p:nvSpPr>
        <p:spPr>
          <a:xfrm>
            <a:off x="4343400" y="3840480"/>
            <a:ext cx="3474720" cy="411480"/>
          </a:xfrm>
          <a:prstGeom prst="rect">
            <a:avLst/>
          </a:prstGeom>
          <a:noFill/>
          <a:ln/>
        </p:spPr>
        <p:txBody>
          <a:bodyPr wrap="square" lIns="0" tIns="0" rIns="0" bIns="0" rtlCol="0" anchor="t"/>
          <a:lstStyle/>
          <a:p>
            <a:pPr marL="0" indent="0">
              <a:buNone/>
            </a:pPr>
            <a:r>
              <a:rPr lang="en-US" sz="2100" b="1" dirty="0">
                <a:solidFill>
                  <a:schemeClr val="tx2"/>
                </a:solidFill>
              </a:rPr>
              <a:t>Results</a:t>
            </a:r>
            <a:endParaRPr lang="en-US" sz="2100" dirty="0"/>
          </a:p>
        </p:txBody>
      </p:sp>
      <p:sp>
        <p:nvSpPr>
          <p:cNvPr id="29" name="Text 27"/>
          <p:cNvSpPr txBox="1"/>
          <p:nvPr/>
        </p:nvSpPr>
        <p:spPr>
          <a:xfrm>
            <a:off x="4343400" y="4315968"/>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11</a:t>
            </a:r>
            <a:endParaRPr lang="en-US" sz="1600" dirty="0"/>
          </a:p>
        </p:txBody>
      </p:sp>
      <p:sp>
        <p:nvSpPr>
          <p:cNvPr id="30" name="Text 28"/>
          <p:cNvSpPr txBox="1"/>
          <p:nvPr/>
        </p:nvSpPr>
        <p:spPr>
          <a:xfrm>
            <a:off x="4800600" y="4315968"/>
            <a:ext cx="3017520" cy="329184"/>
          </a:xfrm>
          <a:prstGeom prst="rect">
            <a:avLst/>
          </a:prstGeom>
          <a:noFill/>
          <a:ln/>
        </p:spPr>
        <p:txBody>
          <a:bodyPr wrap="square" lIns="0" tIns="0" rIns="0" bIns="0" rtlCol="0" anchor="ctr"/>
          <a:lstStyle/>
          <a:p>
            <a:pPr marL="0" indent="0">
              <a:buNone/>
            </a:pPr>
            <a:r>
              <a:rPr lang="en-US" sz="1600" dirty="0">
                <a:solidFill>
                  <a:schemeClr val="tx1"/>
                </a:solidFill>
              </a:rPr>
              <a:t>Main results</a:t>
            </a:r>
            <a:endParaRPr lang="en-US" sz="1600" dirty="0"/>
          </a:p>
        </p:txBody>
      </p:sp>
      <p:sp>
        <p:nvSpPr>
          <p:cNvPr id="31" name="Text 29"/>
          <p:cNvSpPr txBox="1"/>
          <p:nvPr/>
        </p:nvSpPr>
        <p:spPr>
          <a:xfrm>
            <a:off x="4343400" y="4663440"/>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12</a:t>
            </a:r>
            <a:endParaRPr lang="en-US" sz="1600" dirty="0"/>
          </a:p>
        </p:txBody>
      </p:sp>
      <p:sp>
        <p:nvSpPr>
          <p:cNvPr id="32" name="Text 30"/>
          <p:cNvSpPr txBox="1"/>
          <p:nvPr/>
        </p:nvSpPr>
        <p:spPr>
          <a:xfrm>
            <a:off x="4800600" y="4663440"/>
            <a:ext cx="3017520" cy="329184"/>
          </a:xfrm>
          <a:prstGeom prst="rect">
            <a:avLst/>
          </a:prstGeom>
          <a:noFill/>
          <a:ln/>
        </p:spPr>
        <p:txBody>
          <a:bodyPr wrap="square" lIns="0" tIns="0" rIns="0" bIns="0" rtlCol="0" anchor="ctr"/>
          <a:lstStyle/>
          <a:p>
            <a:pPr marL="0" indent="0">
              <a:buNone/>
            </a:pPr>
            <a:r>
              <a:rPr lang="en-US" sz="1600" dirty="0">
                <a:solidFill>
                  <a:schemeClr val="tx1"/>
                </a:solidFill>
              </a:rPr>
              <a:t>Validation and best checkpoint</a:t>
            </a:r>
            <a:endParaRPr lang="en-US" sz="1600" dirty="0"/>
          </a:p>
        </p:txBody>
      </p:sp>
      <p:sp>
        <p:nvSpPr>
          <p:cNvPr id="33" name="Text 31"/>
          <p:cNvSpPr txBox="1"/>
          <p:nvPr/>
        </p:nvSpPr>
        <p:spPr>
          <a:xfrm>
            <a:off x="4343400" y="5010912"/>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13</a:t>
            </a:r>
            <a:endParaRPr lang="en-US" sz="1600" dirty="0"/>
          </a:p>
        </p:txBody>
      </p:sp>
      <p:sp>
        <p:nvSpPr>
          <p:cNvPr id="34" name="Text 32"/>
          <p:cNvSpPr txBox="1"/>
          <p:nvPr/>
        </p:nvSpPr>
        <p:spPr>
          <a:xfrm>
            <a:off x="4800600" y="5010912"/>
            <a:ext cx="3017520" cy="329184"/>
          </a:xfrm>
          <a:prstGeom prst="rect">
            <a:avLst/>
          </a:prstGeom>
          <a:noFill/>
          <a:ln/>
        </p:spPr>
        <p:txBody>
          <a:bodyPr wrap="square" lIns="0" tIns="0" rIns="0" bIns="0" rtlCol="0" anchor="ctr"/>
          <a:lstStyle/>
          <a:p>
            <a:pPr marL="0" indent="0">
              <a:buNone/>
            </a:pPr>
            <a:r>
              <a:rPr lang="en-US" sz="1600" dirty="0">
                <a:solidFill>
                  <a:schemeClr val="tx1"/>
                </a:solidFill>
              </a:rPr>
              <a:t>Error analysis</a:t>
            </a:r>
            <a:endParaRPr lang="en-US" sz="1600" dirty="0"/>
          </a:p>
        </p:txBody>
      </p:sp>
      <p:sp>
        <p:nvSpPr>
          <p:cNvPr id="35" name="Text 33"/>
          <p:cNvSpPr txBox="1"/>
          <p:nvPr/>
        </p:nvSpPr>
        <p:spPr>
          <a:xfrm>
            <a:off x="4343400" y="5358384"/>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14</a:t>
            </a:r>
            <a:endParaRPr lang="en-US" sz="1600" dirty="0"/>
          </a:p>
        </p:txBody>
      </p:sp>
      <p:sp>
        <p:nvSpPr>
          <p:cNvPr id="36" name="Text 34"/>
          <p:cNvSpPr txBox="1"/>
          <p:nvPr/>
        </p:nvSpPr>
        <p:spPr>
          <a:xfrm>
            <a:off x="4800600" y="5358384"/>
            <a:ext cx="3017520" cy="329184"/>
          </a:xfrm>
          <a:prstGeom prst="rect">
            <a:avLst/>
          </a:prstGeom>
          <a:noFill/>
          <a:ln/>
        </p:spPr>
        <p:txBody>
          <a:bodyPr wrap="square" lIns="0" tIns="0" rIns="0" bIns="0" rtlCol="0" anchor="ctr"/>
          <a:lstStyle/>
          <a:p>
            <a:pPr marL="0" indent="0">
              <a:buNone/>
            </a:pPr>
            <a:r>
              <a:rPr lang="en-US" sz="1600" dirty="0">
                <a:solidFill>
                  <a:schemeClr val="tx1"/>
                </a:solidFill>
              </a:rPr>
              <a:t>Key insights</a:t>
            </a:r>
            <a:endParaRPr lang="en-US" sz="1600" dirty="0"/>
          </a:p>
        </p:txBody>
      </p:sp>
      <p:sp>
        <p:nvSpPr>
          <p:cNvPr id="37" name="Text 35"/>
          <p:cNvSpPr txBox="1"/>
          <p:nvPr/>
        </p:nvSpPr>
        <p:spPr>
          <a:xfrm>
            <a:off x="8138160" y="3840480"/>
            <a:ext cx="3474720" cy="411480"/>
          </a:xfrm>
          <a:prstGeom prst="rect">
            <a:avLst/>
          </a:prstGeom>
          <a:noFill/>
          <a:ln/>
        </p:spPr>
        <p:txBody>
          <a:bodyPr wrap="square" lIns="0" tIns="0" rIns="0" bIns="0" rtlCol="0" anchor="t"/>
          <a:lstStyle/>
          <a:p>
            <a:pPr marL="0" indent="0">
              <a:buNone/>
            </a:pPr>
            <a:r>
              <a:rPr lang="en-US" sz="2100" b="1" dirty="0">
                <a:solidFill>
                  <a:schemeClr val="tx2"/>
                </a:solidFill>
              </a:rPr>
              <a:t>Application</a:t>
            </a:r>
            <a:endParaRPr lang="en-US" sz="2100" dirty="0"/>
          </a:p>
        </p:txBody>
      </p:sp>
      <p:sp>
        <p:nvSpPr>
          <p:cNvPr id="38" name="Text 36"/>
          <p:cNvSpPr txBox="1"/>
          <p:nvPr/>
        </p:nvSpPr>
        <p:spPr>
          <a:xfrm>
            <a:off x="8138160" y="4315968"/>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15</a:t>
            </a:r>
            <a:endParaRPr lang="en-US" sz="1600" dirty="0"/>
          </a:p>
        </p:txBody>
      </p:sp>
      <p:sp>
        <p:nvSpPr>
          <p:cNvPr id="39" name="Text 37"/>
          <p:cNvSpPr txBox="1"/>
          <p:nvPr/>
        </p:nvSpPr>
        <p:spPr>
          <a:xfrm>
            <a:off x="8595360" y="4315968"/>
            <a:ext cx="3017520" cy="329184"/>
          </a:xfrm>
          <a:prstGeom prst="rect">
            <a:avLst/>
          </a:prstGeom>
          <a:noFill/>
          <a:ln/>
        </p:spPr>
        <p:txBody>
          <a:bodyPr wrap="square" lIns="0" tIns="0" rIns="0" bIns="0" rtlCol="0" anchor="ctr"/>
          <a:lstStyle/>
          <a:p>
            <a:pPr marL="0" indent="0">
              <a:buNone/>
            </a:pPr>
            <a:r>
              <a:rPr lang="en-US" sz="1600" dirty="0">
                <a:solidFill>
                  <a:schemeClr val="tx1"/>
                </a:solidFill>
              </a:rPr>
              <a:t>System architecture</a:t>
            </a:r>
            <a:endParaRPr lang="en-US" sz="1600" dirty="0"/>
          </a:p>
        </p:txBody>
      </p:sp>
      <p:sp>
        <p:nvSpPr>
          <p:cNvPr id="40" name="Text 38"/>
          <p:cNvSpPr txBox="1"/>
          <p:nvPr/>
        </p:nvSpPr>
        <p:spPr>
          <a:xfrm>
            <a:off x="8138160" y="4663440"/>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16</a:t>
            </a:r>
            <a:endParaRPr lang="en-US" sz="1600" dirty="0"/>
          </a:p>
        </p:txBody>
      </p:sp>
      <p:sp>
        <p:nvSpPr>
          <p:cNvPr id="41" name="Text 39"/>
          <p:cNvSpPr txBox="1"/>
          <p:nvPr/>
        </p:nvSpPr>
        <p:spPr>
          <a:xfrm>
            <a:off x="8595360" y="4663440"/>
            <a:ext cx="3017520" cy="329184"/>
          </a:xfrm>
          <a:prstGeom prst="rect">
            <a:avLst/>
          </a:prstGeom>
          <a:noFill/>
          <a:ln/>
        </p:spPr>
        <p:txBody>
          <a:bodyPr wrap="square" lIns="0" tIns="0" rIns="0" bIns="0" rtlCol="0" anchor="ctr"/>
          <a:lstStyle/>
          <a:p>
            <a:pPr marL="0" indent="0">
              <a:buNone/>
            </a:pPr>
            <a:r>
              <a:rPr lang="en-US" sz="1600" dirty="0">
                <a:solidFill>
                  <a:schemeClr val="tx1"/>
                </a:solidFill>
              </a:rPr>
              <a:t>Web application</a:t>
            </a:r>
            <a:endParaRPr lang="en-US" sz="1600" dirty="0"/>
          </a:p>
        </p:txBody>
      </p:sp>
      <p:sp>
        <p:nvSpPr>
          <p:cNvPr id="42" name="Text 40"/>
          <p:cNvSpPr txBox="1"/>
          <p:nvPr/>
        </p:nvSpPr>
        <p:spPr>
          <a:xfrm>
            <a:off x="8138160" y="5010912"/>
            <a:ext cx="411480" cy="329184"/>
          </a:xfrm>
          <a:prstGeom prst="rect">
            <a:avLst/>
          </a:prstGeom>
          <a:noFill/>
          <a:ln/>
        </p:spPr>
        <p:txBody>
          <a:bodyPr wrap="square" lIns="0" tIns="0" rIns="0" bIns="0" rtlCol="0" anchor="ctr"/>
          <a:lstStyle/>
          <a:p>
            <a:pPr marL="0" indent="0">
              <a:buNone/>
            </a:pPr>
            <a:r>
              <a:rPr lang="en-US" sz="1600" b="1" dirty="0">
                <a:solidFill>
                  <a:schemeClr val="accent3"/>
                </a:solidFill>
              </a:rPr>
              <a:t>17</a:t>
            </a:r>
            <a:endParaRPr lang="en-US" sz="1600" dirty="0"/>
          </a:p>
        </p:txBody>
      </p:sp>
      <p:sp>
        <p:nvSpPr>
          <p:cNvPr id="43" name="Text 41"/>
          <p:cNvSpPr txBox="1"/>
          <p:nvPr/>
        </p:nvSpPr>
        <p:spPr>
          <a:xfrm>
            <a:off x="8595360" y="5010912"/>
            <a:ext cx="3017520" cy="329184"/>
          </a:xfrm>
          <a:prstGeom prst="rect">
            <a:avLst/>
          </a:prstGeom>
          <a:noFill/>
          <a:ln/>
        </p:spPr>
        <p:txBody>
          <a:bodyPr wrap="square" lIns="0" tIns="0" rIns="0" bIns="0" rtlCol="0" anchor="ctr"/>
          <a:lstStyle/>
          <a:p>
            <a:pPr marL="0" indent="0">
              <a:buNone/>
            </a:pPr>
            <a:r>
              <a:rPr lang="en-US" sz="1600" dirty="0">
                <a:solidFill>
                  <a:schemeClr val="tx1"/>
                </a:solidFill>
              </a:rPr>
              <a:t>Conclusion and future work</a:t>
            </a:r>
            <a:endParaRPr lang="en-US" sz="1600" dirty="0"/>
          </a:p>
        </p:txBody>
      </p:sp>
      <p:sp>
        <p:nvSpPr>
          <p:cNvPr id="4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b="1" dirty="0">
                <a:solidFill>
                  <a:schemeClr val="accent3"/>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what exists today, and what is missing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01</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1. Problem and motivation</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Most Khmer videos have </a:t>
            </a:r>
            <a:r>
              <a:rPr lang="en-US" sz="3200" b="1" dirty="0">
                <a:solidFill>
                  <a:schemeClr val="accent3"/>
                </a:solidFill>
                <a:latin typeface="Calibri" pitchFamily="34" charset="0"/>
                <a:ea typeface="Calibri" pitchFamily="34" charset="-122"/>
                <a:cs typeface="Calibri" pitchFamily="34" charset="-120"/>
              </a:rPr>
              <a:t>no subtitles</a:t>
            </a:r>
            <a:endParaRPr lang="en-US" sz="3200" dirty="0"/>
          </a:p>
        </p:txBody>
      </p:sp>
      <p:sp>
        <p:nvSpPr>
          <p:cNvPr id="7" name="problem statement"/>
          <p:cNvSpPr/>
          <p:nvPr/>
        </p:nvSpPr>
        <p:spPr>
          <a:xfrm>
            <a:off x="548640" y="1783080"/>
            <a:ext cx="6812280" cy="1143000"/>
          </a:xfrm>
          <a:prstGeom prst="roundRect">
            <a:avLst>
              <a:gd name="adj" fmla="val 6400"/>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777240" y="1856232"/>
            <a:ext cx="3657600" cy="274320"/>
          </a:xfrm>
          <a:prstGeom prst="rect">
            <a:avLst/>
          </a:prstGeom>
          <a:noFill/>
          <a:ln/>
        </p:spPr>
        <p:txBody>
          <a:bodyPr wrap="square" lIns="0" tIns="0" rIns="0" bIns="0" rtlCol="0" anchor="t"/>
          <a:lstStyle/>
          <a:p>
            <a:pPr marL="0" indent="0">
              <a:buNone/>
            </a:pPr>
            <a:r>
              <a:rPr lang="en-US" sz="1300" b="1" dirty="0">
                <a:solidFill>
                  <a:schemeClr val="accent3"/>
                </a:solidFill>
              </a:rPr>
              <a:t>Problem statement</a:t>
            </a:r>
            <a:endParaRPr lang="en-US" sz="1300" dirty="0"/>
          </a:p>
        </p:txBody>
      </p:sp>
      <p:sp>
        <p:nvSpPr>
          <p:cNvPr id="9" name="Text 7"/>
          <p:cNvSpPr txBox="1"/>
          <p:nvPr/>
        </p:nvSpPr>
        <p:spPr>
          <a:xfrm>
            <a:off x="777240" y="2148840"/>
            <a:ext cx="6400800" cy="731520"/>
          </a:xfrm>
          <a:prstGeom prst="rect">
            <a:avLst/>
          </a:prstGeom>
          <a:noFill/>
          <a:ln/>
        </p:spPr>
        <p:txBody>
          <a:bodyPr wrap="square" lIns="0" tIns="0" rIns="0" bIns="0" rtlCol="0" anchor="t"/>
          <a:lstStyle/>
          <a:p>
            <a:pPr marL="0" indent="0">
              <a:buNone/>
            </a:pPr>
            <a:r>
              <a:rPr lang="en-US" sz="1800" b="1" dirty="0">
                <a:solidFill>
                  <a:schemeClr val="tx2"/>
                </a:solidFill>
              </a:rPr>
              <a:t>Khmer video has almost no subtitles, and there is no free tool that creates accurate, timed Khmer subtitles.</a:t>
            </a:r>
            <a:endParaRPr lang="en-US" sz="1800" dirty="0"/>
          </a:p>
        </p:txBody>
      </p:sp>
      <p:sp>
        <p:nvSpPr>
          <p:cNvPr id="10" name="Text 8"/>
          <p:cNvSpPr txBox="1"/>
          <p:nvPr/>
        </p:nvSpPr>
        <p:spPr>
          <a:xfrm>
            <a:off x="548640" y="3108960"/>
            <a:ext cx="3657600" cy="274320"/>
          </a:xfrm>
          <a:prstGeom prst="rect">
            <a:avLst/>
          </a:prstGeom>
          <a:noFill/>
          <a:ln/>
        </p:spPr>
        <p:txBody>
          <a:bodyPr wrap="square" lIns="0" tIns="0" rIns="0" bIns="0" rtlCol="0" anchor="t"/>
          <a:lstStyle/>
          <a:p>
            <a:pPr marL="0" indent="0">
              <a:buNone/>
            </a:pPr>
            <a:r>
              <a:rPr lang="en-US" sz="1300" b="1" dirty="0">
                <a:solidFill>
                  <a:schemeClr val="accent5"/>
                </a:solidFill>
              </a:rPr>
              <a:t>Why it matters</a:t>
            </a:r>
            <a:endParaRPr lang="en-US" sz="1300" dirty="0"/>
          </a:p>
        </p:txBody>
      </p:sp>
      <p:sp>
        <p:nvSpPr>
          <p:cNvPr id="11" name="evidence 1"/>
          <p:cNvSpPr/>
          <p:nvPr/>
        </p:nvSpPr>
        <p:spPr>
          <a:xfrm>
            <a:off x="548640" y="3429000"/>
            <a:ext cx="2185416" cy="1417320"/>
          </a:xfrm>
          <a:prstGeom prst="roundRect">
            <a:avLst>
              <a:gd name="adj" fmla="val 5161"/>
            </a:avLst>
          </a:prstGeom>
          <a:solidFill>
            <a:schemeClr val="bg1"/>
          </a:solidFill>
          <a:ln w="15875">
            <a:solidFill>
              <a:schemeClr val="accent6"/>
            </a:solidFill>
            <a:prstDash val="solid"/>
          </a:ln>
        </p:spPr>
        <p:txBody>
          <a:bodyPr/>
          <a:lstStyle/>
          <a:p>
            <a:endParaRPr lang="en-US"/>
          </a:p>
        </p:txBody>
      </p:sp>
      <p:sp>
        <p:nvSpPr>
          <p:cNvPr id="12" name="Text 10"/>
          <p:cNvSpPr txBox="1"/>
          <p:nvPr/>
        </p:nvSpPr>
        <p:spPr>
          <a:xfrm>
            <a:off x="713232" y="3493008"/>
            <a:ext cx="1920240" cy="502920"/>
          </a:xfrm>
          <a:prstGeom prst="rect">
            <a:avLst/>
          </a:prstGeom>
          <a:noFill/>
          <a:ln/>
        </p:spPr>
        <p:txBody>
          <a:bodyPr wrap="square" lIns="0" tIns="0" rIns="0" bIns="0" rtlCol="0" anchor="t"/>
          <a:lstStyle/>
          <a:p>
            <a:pPr marL="0" indent="0">
              <a:buNone/>
            </a:pPr>
            <a:r>
              <a:rPr lang="en-US" sz="2600" b="1" dirty="0">
                <a:solidFill>
                  <a:schemeClr val="tx2"/>
                </a:solidFill>
              </a:rPr>
              <a:t>~17M</a:t>
            </a:r>
            <a:endParaRPr lang="en-US" sz="2600" dirty="0"/>
          </a:p>
        </p:txBody>
      </p:sp>
      <p:sp>
        <p:nvSpPr>
          <p:cNvPr id="13" name="Text 11"/>
          <p:cNvSpPr txBox="1"/>
          <p:nvPr/>
        </p:nvSpPr>
        <p:spPr>
          <a:xfrm>
            <a:off x="713232" y="4005072"/>
            <a:ext cx="1920240" cy="777240"/>
          </a:xfrm>
          <a:prstGeom prst="rect">
            <a:avLst/>
          </a:prstGeom>
          <a:noFill/>
          <a:ln/>
        </p:spPr>
        <p:txBody>
          <a:bodyPr wrap="square" lIns="0" tIns="0" rIns="0" bIns="0" rtlCol="0" anchor="t"/>
          <a:lstStyle/>
          <a:p>
            <a:pPr marL="0" indent="0">
              <a:buNone/>
            </a:pPr>
            <a:r>
              <a:rPr lang="en-US" sz="1200" dirty="0">
                <a:solidFill>
                  <a:schemeClr val="tx1"/>
                </a:solidFill>
              </a:rPr>
              <a:t>people speak Khmer; more of their news and lessons is online video</a:t>
            </a:r>
            <a:endParaRPr lang="en-US" sz="1200" dirty="0"/>
          </a:p>
        </p:txBody>
      </p:sp>
      <p:sp>
        <p:nvSpPr>
          <p:cNvPr id="14" name="evidence 2"/>
          <p:cNvSpPr/>
          <p:nvPr/>
        </p:nvSpPr>
        <p:spPr>
          <a:xfrm>
            <a:off x="2862072" y="3429000"/>
            <a:ext cx="2185416" cy="1417320"/>
          </a:xfrm>
          <a:prstGeom prst="roundRect">
            <a:avLst>
              <a:gd name="adj" fmla="val 5161"/>
            </a:avLst>
          </a:prstGeom>
          <a:solidFill>
            <a:schemeClr val="bg1"/>
          </a:solidFill>
          <a:ln w="15875">
            <a:solidFill>
              <a:schemeClr val="accent6"/>
            </a:solidFill>
            <a:prstDash val="solid"/>
          </a:ln>
        </p:spPr>
        <p:txBody>
          <a:bodyPr/>
          <a:lstStyle/>
          <a:p>
            <a:endParaRPr lang="en-US"/>
          </a:p>
        </p:txBody>
      </p:sp>
      <p:sp>
        <p:nvSpPr>
          <p:cNvPr id="15" name="Text 13"/>
          <p:cNvSpPr txBox="1"/>
          <p:nvPr/>
        </p:nvSpPr>
        <p:spPr>
          <a:xfrm>
            <a:off x="3026664" y="3493008"/>
            <a:ext cx="1920240" cy="502920"/>
          </a:xfrm>
          <a:prstGeom prst="rect">
            <a:avLst/>
          </a:prstGeom>
          <a:noFill/>
          <a:ln/>
        </p:spPr>
        <p:txBody>
          <a:bodyPr wrap="square" lIns="0" tIns="0" rIns="0" bIns="0" rtlCol="0" anchor="t"/>
          <a:lstStyle/>
          <a:p>
            <a:pPr marL="0" indent="0">
              <a:buNone/>
            </a:pPr>
            <a:r>
              <a:rPr lang="en-US" sz="2600" b="1" dirty="0">
                <a:solidFill>
                  <a:schemeClr val="tx2"/>
                </a:solidFill>
              </a:rPr>
              <a:t>Hours</a:t>
            </a:r>
            <a:endParaRPr lang="en-US" sz="2600" dirty="0"/>
          </a:p>
        </p:txBody>
      </p:sp>
      <p:sp>
        <p:nvSpPr>
          <p:cNvPr id="16" name="Text 14"/>
          <p:cNvSpPr txBox="1"/>
          <p:nvPr/>
        </p:nvSpPr>
        <p:spPr>
          <a:xfrm>
            <a:off x="3026664" y="4005072"/>
            <a:ext cx="1920240" cy="777240"/>
          </a:xfrm>
          <a:prstGeom prst="rect">
            <a:avLst/>
          </a:prstGeom>
          <a:noFill/>
          <a:ln/>
        </p:spPr>
        <p:txBody>
          <a:bodyPr wrap="square" lIns="0" tIns="0" rIns="0" bIns="0" rtlCol="0" anchor="t"/>
          <a:lstStyle/>
          <a:p>
            <a:pPr marL="0" indent="0">
              <a:buNone/>
            </a:pPr>
            <a:r>
              <a:rPr lang="en-US" sz="1200" dirty="0">
                <a:solidFill>
                  <a:schemeClr val="tx1"/>
                </a:solidFill>
              </a:rPr>
              <a:t>of manual work to subtitle one hour of video: listen, type, align</a:t>
            </a:r>
            <a:endParaRPr lang="en-US" sz="1200" dirty="0"/>
          </a:p>
        </p:txBody>
      </p:sp>
      <p:sp>
        <p:nvSpPr>
          <p:cNvPr id="17" name="evidence 3"/>
          <p:cNvSpPr/>
          <p:nvPr/>
        </p:nvSpPr>
        <p:spPr>
          <a:xfrm>
            <a:off x="5175504" y="3429000"/>
            <a:ext cx="2185416" cy="1417320"/>
          </a:xfrm>
          <a:prstGeom prst="roundRect">
            <a:avLst>
              <a:gd name="adj" fmla="val 5161"/>
            </a:avLst>
          </a:prstGeom>
          <a:solidFill>
            <a:schemeClr val="bg1"/>
          </a:solidFill>
          <a:ln w="15875">
            <a:solidFill>
              <a:schemeClr val="accent6"/>
            </a:solidFill>
            <a:prstDash val="solid"/>
          </a:ln>
        </p:spPr>
        <p:txBody>
          <a:bodyPr/>
          <a:lstStyle/>
          <a:p>
            <a:endParaRPr lang="en-US"/>
          </a:p>
        </p:txBody>
      </p:sp>
      <p:sp>
        <p:nvSpPr>
          <p:cNvPr id="18" name="Text 16"/>
          <p:cNvSpPr txBox="1"/>
          <p:nvPr/>
        </p:nvSpPr>
        <p:spPr>
          <a:xfrm>
            <a:off x="5340096" y="3493008"/>
            <a:ext cx="1920240" cy="502920"/>
          </a:xfrm>
          <a:prstGeom prst="rect">
            <a:avLst/>
          </a:prstGeom>
          <a:noFill/>
          <a:ln/>
        </p:spPr>
        <p:txBody>
          <a:bodyPr wrap="square" lIns="0" tIns="0" rIns="0" bIns="0" rtlCol="0" anchor="t"/>
          <a:lstStyle/>
          <a:p>
            <a:pPr marL="0" indent="0">
              <a:buNone/>
            </a:pPr>
            <a:r>
              <a:rPr lang="en-US" sz="2600" b="1" dirty="0">
                <a:solidFill>
                  <a:schemeClr val="accent4"/>
                </a:solidFill>
              </a:rPr>
              <a:t>147.6%</a:t>
            </a:r>
            <a:endParaRPr lang="en-US" sz="2600" dirty="0"/>
          </a:p>
        </p:txBody>
      </p:sp>
      <p:sp>
        <p:nvSpPr>
          <p:cNvPr id="19" name="Text 17"/>
          <p:cNvSpPr txBox="1"/>
          <p:nvPr/>
        </p:nvSpPr>
        <p:spPr>
          <a:xfrm>
            <a:off x="5340096" y="4005072"/>
            <a:ext cx="1920240" cy="777240"/>
          </a:xfrm>
          <a:prstGeom prst="rect">
            <a:avLst/>
          </a:prstGeom>
          <a:noFill/>
          <a:ln/>
        </p:spPr>
        <p:txBody>
          <a:bodyPr wrap="square" lIns="0" tIns="0" rIns="0" bIns="0" rtlCol="0" anchor="t"/>
          <a:lstStyle/>
          <a:p>
            <a:pPr marL="0" indent="0">
              <a:buNone/>
            </a:pPr>
            <a:r>
              <a:rPr lang="en-US" sz="1200" dirty="0">
                <a:solidFill>
                  <a:schemeClr val="tx1"/>
                </a:solidFill>
              </a:rPr>
              <a:t>error of Whisper as is on Khmer speakers it has never heard</a:t>
            </a:r>
            <a:endParaRPr lang="en-US" sz="1200" dirty="0"/>
          </a:p>
        </p:txBody>
      </p:sp>
      <p:sp>
        <p:nvSpPr>
          <p:cNvPr id="20" name="Text 18"/>
          <p:cNvSpPr txBox="1"/>
          <p:nvPr/>
        </p:nvSpPr>
        <p:spPr>
          <a:xfrm>
            <a:off x="548640" y="5029200"/>
            <a:ext cx="6812280" cy="457200"/>
          </a:xfrm>
          <a:prstGeom prst="rect">
            <a:avLst/>
          </a:prstGeom>
          <a:noFill/>
          <a:ln/>
        </p:spPr>
        <p:txBody>
          <a:bodyPr wrap="square" lIns="0" tIns="0" rIns="0" bIns="0" rtlCol="0" anchor="ctr"/>
          <a:lstStyle/>
          <a:p>
            <a:pPr marL="0" indent="0">
              <a:buNone/>
            </a:pPr>
            <a:r>
              <a:rPr lang="en-US" sz="1400" b="1" dirty="0">
                <a:solidFill>
                  <a:schemeClr val="accent3"/>
                </a:solidFill>
              </a:rPr>
              <a:t>Who is affected:  </a:t>
            </a:r>
            <a:r>
              <a:rPr lang="en-US" sz="1400" dirty="0">
                <a:solidFill>
                  <a:schemeClr val="tx1"/>
                </a:solidFill>
              </a:rPr>
              <a:t>creators, deaf and hard-of-hearing viewers, teachers, students, Khmer learners</a:t>
            </a:r>
            <a:endParaRPr lang="en-US" sz="1400" dirty="0"/>
          </a:p>
        </p:txBody>
      </p:sp>
      <p:sp>
        <p:nvSpPr>
          <p:cNvPr id="21" name="Text 19"/>
          <p:cNvSpPr txBox="1"/>
          <p:nvPr/>
        </p:nvSpPr>
        <p:spPr>
          <a:xfrm>
            <a:off x="548640" y="5532120"/>
            <a:ext cx="6812280" cy="457200"/>
          </a:xfrm>
          <a:prstGeom prst="rect">
            <a:avLst/>
          </a:prstGeom>
          <a:noFill/>
          <a:ln/>
        </p:spPr>
        <p:txBody>
          <a:bodyPr wrap="square" lIns="0" tIns="0" rIns="0" bIns="0" rtlCol="0" anchor="ctr"/>
          <a:lstStyle/>
          <a:p>
            <a:pPr marL="0" indent="0">
              <a:buNone/>
            </a:pPr>
            <a:r>
              <a:rPr lang="en-US" sz="1400" b="1" dirty="0">
                <a:solidFill>
                  <a:schemeClr val="accent3"/>
                </a:solidFill>
              </a:rPr>
              <a:t>Our goal:  </a:t>
            </a:r>
            <a:r>
              <a:rPr lang="en-US" sz="1400" dirty="0">
                <a:solidFill>
                  <a:schemeClr val="tx1"/>
                </a:solidFill>
              </a:rPr>
              <a:t>automatically generate timestamped Khmer subtitles from a YouTube URL</a:t>
            </a:r>
            <a:endParaRPr lang="en-US" sz="1400" dirty="0"/>
          </a:p>
        </p:txBody>
      </p:sp>
      <p:sp>
        <p:nvSpPr>
          <p:cNvPr id="23" name="research question panel"/>
          <p:cNvSpPr/>
          <p:nvPr/>
        </p:nvSpPr>
        <p:spPr>
          <a:xfrm>
            <a:off x="7680960" y="1783080"/>
            <a:ext cx="3959352" cy="4206240"/>
          </a:xfrm>
          <a:prstGeom prst="roundRect">
            <a:avLst>
              <a:gd name="adj" fmla="val 1848"/>
            </a:avLst>
          </a:prstGeom>
          <a:solidFill>
            <a:schemeClr val="tx2"/>
          </a:solidFill>
          <a:ln w="12700">
            <a:solidFill>
              <a:schemeClr val="tx2"/>
            </a:solidFill>
            <a:prstDash val="solid"/>
          </a:ln>
        </p:spPr>
        <p:txBody>
          <a:bodyPr/>
          <a:lstStyle/>
          <a:p>
            <a:endParaRPr lang="en-US"/>
          </a:p>
        </p:txBody>
      </p:sp>
      <p:sp>
        <p:nvSpPr>
          <p:cNvPr id="24" name="Text 21"/>
          <p:cNvSpPr txBox="1"/>
          <p:nvPr/>
        </p:nvSpPr>
        <p:spPr>
          <a:xfrm>
            <a:off x="8001000" y="1874520"/>
            <a:ext cx="1097280" cy="1005840"/>
          </a:xfrm>
          <a:prstGeom prst="rect">
            <a:avLst/>
          </a:prstGeom>
          <a:noFill/>
          <a:ln/>
        </p:spPr>
        <p:txBody>
          <a:bodyPr wrap="square" lIns="0" tIns="0" rIns="0" bIns="0" rtlCol="0" anchor="t"/>
          <a:lstStyle/>
          <a:p>
            <a:pPr marL="0" indent="0">
              <a:buNone/>
            </a:pPr>
            <a:r>
              <a:rPr lang="en-US" sz="9600" b="1" dirty="0">
                <a:solidFill>
                  <a:schemeClr val="accent2"/>
                </a:solidFill>
                <a:latin typeface="Cambria" pitchFamily="34" charset="0"/>
                <a:ea typeface="Cambria" pitchFamily="34" charset="-122"/>
                <a:cs typeface="Cambria" pitchFamily="34" charset="-120"/>
              </a:rPr>
              <a:t>“</a:t>
            </a:r>
            <a:endParaRPr lang="en-US" sz="9600" dirty="0"/>
          </a:p>
        </p:txBody>
      </p:sp>
      <p:sp>
        <p:nvSpPr>
          <p:cNvPr id="25" name="Text 22"/>
          <p:cNvSpPr txBox="1"/>
          <p:nvPr/>
        </p:nvSpPr>
        <p:spPr>
          <a:xfrm>
            <a:off x="8046720" y="2788920"/>
            <a:ext cx="3291840" cy="274320"/>
          </a:xfrm>
          <a:prstGeom prst="rect">
            <a:avLst/>
          </a:prstGeom>
          <a:noFill/>
          <a:ln/>
        </p:spPr>
        <p:txBody>
          <a:bodyPr wrap="square" lIns="0" tIns="0" rIns="0" bIns="0" rtlCol="0" anchor="t"/>
          <a:lstStyle/>
          <a:p>
            <a:pPr marL="0" indent="0">
              <a:buNone/>
            </a:pPr>
            <a:r>
              <a:rPr lang="en-US" sz="1300" b="1" dirty="0">
                <a:solidFill>
                  <a:schemeClr val="accent2"/>
                </a:solidFill>
              </a:rPr>
              <a:t>Research question</a:t>
            </a:r>
            <a:endParaRPr lang="en-US" sz="1300" dirty="0"/>
          </a:p>
        </p:txBody>
      </p:sp>
      <p:sp>
        <p:nvSpPr>
          <p:cNvPr id="26" name="Text 23"/>
          <p:cNvSpPr txBox="1"/>
          <p:nvPr/>
        </p:nvSpPr>
        <p:spPr>
          <a:xfrm>
            <a:off x="8046720" y="3154680"/>
            <a:ext cx="3337560" cy="2468880"/>
          </a:xfrm>
          <a:prstGeom prst="rect">
            <a:avLst/>
          </a:prstGeom>
          <a:noFill/>
          <a:ln/>
        </p:spPr>
        <p:txBody>
          <a:bodyPr wrap="square" lIns="0" tIns="0" rIns="0" bIns="0" rtlCol="0" anchor="t"/>
          <a:lstStyle/>
          <a:p>
            <a:pPr marL="0" indent="0">
              <a:buNone/>
            </a:pPr>
            <a:r>
              <a:rPr lang="en-US" sz="2100" dirty="0">
                <a:solidFill>
                  <a:schemeClr val="bg1"/>
                </a:solidFill>
              </a:rPr>
              <a:t>Can we train Whisper-small to make useful Khmer subtitles, even for speakers it has never heard before?</a:t>
            </a:r>
            <a:endParaRPr lang="en-US" sz="2100" dirty="0"/>
          </a:p>
        </p:txBody>
      </p:sp>
      <p:sp>
        <p:nvSpPr>
          <p:cNvPr id="22"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b="1" dirty="0">
                <a:solidFill>
                  <a:schemeClr val="accent3"/>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our solution, from URL to subtitles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02</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2. Existing solutions</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What exists today, and </a:t>
            </a:r>
            <a:r>
              <a:rPr lang="en-US" sz="3200" b="1" dirty="0">
                <a:solidFill>
                  <a:schemeClr val="accent3"/>
                </a:solidFill>
                <a:latin typeface="Calibri" pitchFamily="34" charset="0"/>
                <a:ea typeface="Calibri" pitchFamily="34" charset="-122"/>
                <a:cs typeface="Calibri" pitchFamily="34" charset="-120"/>
              </a:rPr>
              <a:t>what is missing</a:t>
            </a:r>
            <a:endParaRPr lang="en-US" sz="3200" dirty="0"/>
          </a:p>
        </p:txBody>
      </p:sp>
      <p:graphicFrame>
        <p:nvGraphicFramePr>
          <p:cNvPr id="7" name="existing solutions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2697480"/>
        </p:xfrm>
        <a:graphic>
          <a:graphicData uri="http://schemas.openxmlformats.org/drawingml/2006/table">
            <a:tbl>
              <a:tblPr/>
              <a:tblGrid>
                <a:gridCol w="32918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4965192">
                  <a:extLst>
                    <a:ext uri="{9D8B030D-6E8A-4147-A177-3AD203B41FA5}">
                      <a16:colId xmlns:a16="http://schemas.microsoft.com/office/drawing/2014/main" val="20002"/>
                    </a:ext>
                  </a:extLst>
                </a:gridCol>
              </a:tblGrid>
              <a:tr h="502920">
                <a:tc>
                  <a:txBody>
                    <a:bodyPr/>
                    <a:lstStyle/>
                    <a:p>
                      <a:pPr marL="0" indent="0">
                        <a:buNone/>
                      </a:pPr>
                      <a:r>
                        <a:rPr lang="en-US" sz="1500" b="1" dirty="0">
                          <a:solidFill>
                            <a:schemeClr val="bg1"/>
                          </a:solidFill>
                        </a:rPr>
                        <a:t>Option</a:t>
                      </a:r>
                      <a:endParaRPr lang="en-US" sz="1500" dirty="0"/>
                    </a:p>
                  </a:txBody>
                  <a:tcPr marL="137160"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500" b="1" dirty="0">
                          <a:solidFill>
                            <a:schemeClr val="bg1"/>
                          </a:solidFill>
                        </a:rPr>
                        <a:t>What it offers</a:t>
                      </a:r>
                      <a:endParaRPr lang="en-US" sz="1500" dirty="0"/>
                    </a:p>
                  </a:txBody>
                  <a:tcPr marL="137160"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500" b="1" dirty="0">
                          <a:solidFill>
                            <a:schemeClr val="bg1"/>
                          </a:solidFill>
                        </a:rPr>
                        <a:t>What is missing for Khmer subtitles</a:t>
                      </a:r>
                      <a:endParaRPr lang="en-US" sz="1500" dirty="0"/>
                    </a:p>
                  </a:txBody>
                  <a:tcPr marL="137160" marR="109728" marT="0" marB="0" anchor="ctr">
                    <a:lnL w="0" cap="flat" cmpd="sng" algn="ctr">
                      <a:noFill/>
                    </a:lnL>
                    <a:lnR w="0" cap="flat" cmpd="sng" algn="ctr">
                      <a:noFill/>
                    </a:lnR>
                    <a:lnT w="0" cap="flat" cmpd="sng" algn="ctr">
                      <a:noFill/>
                    </a:lnT>
                    <a:lnB w="0" cap="flat" cmpd="sng" algn="ctr">
                      <a:noFill/>
                    </a:lnB>
                    <a:solidFill>
                      <a:schemeClr val="tx2"/>
                    </a:solidFill>
                  </a:tcPr>
                </a:tc>
                <a:extLst>
                  <a:ext uri="{0D108BD9-81ED-4DB2-BD59-A6C34878D82A}">
                    <a16:rowId xmlns:a16="http://schemas.microsoft.com/office/drawing/2014/main" val="10000"/>
                  </a:ext>
                </a:extLst>
              </a:tr>
              <a:tr h="731520">
                <a:tc>
                  <a:txBody>
                    <a:bodyPr/>
                    <a:lstStyle/>
                    <a:p>
                      <a:pPr marL="0" indent="0">
                        <a:buNone/>
                      </a:pPr>
                      <a:r>
                        <a:rPr lang="en-US" sz="1500" b="1" dirty="0">
                          <a:solidFill>
                            <a:schemeClr val="tx2"/>
                          </a:solidFill>
                        </a:rPr>
                        <a:t>Manual transcription</a:t>
                      </a:r>
                      <a:endParaRPr lang="en-US" sz="1500" dirty="0"/>
                    </a:p>
                  </a:txBody>
                  <a:tcPr marL="137160" marR="109728" marT="0" marB="0" anchor="ctr">
                    <a:lnL w="0" cap="flat" cmpd="sng" algn="ctr">
                      <a:noFill/>
                    </a:lnL>
                    <a:lnR w="0" cap="flat" cmpd="sng" algn="ctr">
                      <a:noFill/>
                    </a:lnR>
                    <a:lnT w="0" cap="flat" cmpd="sng" algn="ctr">
                      <a:noFill/>
                    </a:lnT>
                    <a:lnB w="12700" cap="flat" cmpd="sng" algn="ctr">
                      <a:solidFill>
                        <a:srgbClr val="D9DEE6"/>
                      </a:solidFill>
                      <a:prstDash val="solid"/>
                      <a:round/>
                      <a:headEnd type="none" w="med" len="med"/>
                      <a:tailEnd type="none" w="med" len="med"/>
                    </a:lnB>
                  </a:tcPr>
                </a:tc>
                <a:tc>
                  <a:txBody>
                    <a:bodyPr/>
                    <a:lstStyle/>
                    <a:p>
                      <a:pPr marL="0" indent="0">
                        <a:buNone/>
                      </a:pPr>
                      <a:r>
                        <a:rPr lang="en-US" sz="1500" dirty="0">
                          <a:solidFill>
                            <a:schemeClr val="tx1"/>
                          </a:solidFill>
                        </a:rPr>
                        <a:t>High accuracy</a:t>
                      </a:r>
                      <a:endParaRPr lang="en-US" sz="1500" dirty="0"/>
                    </a:p>
                  </a:txBody>
                  <a:tcPr marL="137160" marR="109728" marT="0" marB="0" anchor="ctr">
                    <a:lnL w="0" cap="flat" cmpd="sng" algn="ctr">
                      <a:noFill/>
                    </a:lnL>
                    <a:lnR w="0" cap="flat" cmpd="sng" algn="ctr">
                      <a:noFill/>
                    </a:lnR>
                    <a:lnT w="0" cap="flat" cmpd="sng" algn="ctr">
                      <a:noFill/>
                    </a:lnT>
                    <a:lnB w="12700" cap="flat" cmpd="sng" algn="ctr">
                      <a:solidFill>
                        <a:srgbClr val="D9DEE6"/>
                      </a:solidFill>
                      <a:prstDash val="solid"/>
                      <a:round/>
                      <a:headEnd type="none" w="med" len="med"/>
                      <a:tailEnd type="none" w="med" len="med"/>
                    </a:lnB>
                  </a:tcPr>
                </a:tc>
                <a:tc>
                  <a:txBody>
                    <a:bodyPr/>
                    <a:lstStyle/>
                    <a:p>
                      <a:pPr marL="0" indent="0">
                        <a:buNone/>
                      </a:pPr>
                      <a:r>
                        <a:rPr lang="en-US" sz="1500" dirty="0">
                          <a:solidFill>
                            <a:schemeClr val="tx1"/>
                          </a:solidFill>
                        </a:rPr>
                        <a:t>Slow and expensive: hours of work per hour of video</a:t>
                      </a:r>
                      <a:endParaRPr lang="en-US" sz="1500" dirty="0"/>
                    </a:p>
                  </a:txBody>
                  <a:tcPr marL="137160" marR="109728" marT="0" marB="0" anchor="ctr">
                    <a:lnL w="0" cap="flat" cmpd="sng" algn="ctr">
                      <a:noFill/>
                    </a:lnL>
                    <a:lnR w="0" cap="flat" cmpd="sng" algn="ctr">
                      <a:noFill/>
                    </a:lnR>
                    <a:lnT w="0" cap="flat" cmpd="sng" algn="ctr">
                      <a:noFill/>
                    </a:lnT>
                    <a:lnB w="12700" cap="flat" cmpd="sng" algn="ctr">
                      <a:solidFill>
                        <a:srgbClr val="D9DEE6"/>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500" b="1" dirty="0">
                          <a:solidFill>
                            <a:schemeClr val="tx2"/>
                          </a:solidFill>
                        </a:rPr>
                        <a:t>Commercial speech APIs (e.g. Google Cloud)</a:t>
                      </a:r>
                      <a:endParaRPr lang="en-US" sz="1500" dirty="0"/>
                    </a:p>
                  </a:txBody>
                  <a:tcPr marL="137160" marR="109728" marT="0" marB="0" anchor="ctr">
                    <a:lnL w="0" cap="flat" cmpd="sng" algn="ctr">
                      <a:noFill/>
                    </a:lnL>
                    <a:lnR w="0" cap="flat" cmpd="sng" algn="ctr">
                      <a:noFill/>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tcPr>
                </a:tc>
                <a:tc>
                  <a:txBody>
                    <a:bodyPr/>
                    <a:lstStyle/>
                    <a:p>
                      <a:pPr marL="0" indent="0">
                        <a:buNone/>
                      </a:pPr>
                      <a:r>
                        <a:rPr lang="en-US" sz="1500" dirty="0">
                          <a:solidFill>
                            <a:schemeClr val="tx1"/>
                          </a:solidFill>
                        </a:rPr>
                        <a:t>Khmer listed as supported</a:t>
                      </a:r>
                      <a:endParaRPr lang="en-US" sz="1500" dirty="0"/>
                    </a:p>
                  </a:txBody>
                  <a:tcPr marL="137160" marR="109728" marT="0" marB="0" anchor="ctr">
                    <a:lnL w="0" cap="flat" cmpd="sng" algn="ctr">
                      <a:noFill/>
                    </a:lnL>
                    <a:lnR w="0" cap="flat" cmpd="sng" algn="ctr">
                      <a:noFill/>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tcPr>
                </a:tc>
                <a:tc>
                  <a:txBody>
                    <a:bodyPr/>
                    <a:lstStyle/>
                    <a:p>
                      <a:pPr marL="0" indent="0">
                        <a:buNone/>
                      </a:pPr>
                      <a:r>
                        <a:rPr lang="en-US" sz="1500" dirty="0">
                          <a:solidFill>
                            <a:schemeClr val="tx1"/>
                          </a:solidFill>
                        </a:rPr>
                        <a:t>Paid per minute, generic model, no subtitle workflow</a:t>
                      </a:r>
                      <a:endParaRPr lang="en-US" sz="1500" dirty="0"/>
                    </a:p>
                  </a:txBody>
                  <a:tcPr marL="137160" marR="109728" marT="0" marB="0" anchor="ctr">
                    <a:lnL w="0" cap="flat" cmpd="sng" algn="ctr">
                      <a:noFill/>
                    </a:lnL>
                    <a:lnR w="0" cap="flat" cmpd="sng" algn="ctr">
                      <a:noFill/>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500" b="1" dirty="0">
                          <a:solidFill>
                            <a:schemeClr val="tx2"/>
                          </a:solidFill>
                        </a:rPr>
                        <a:t>Whisper as is (zero-shot)</a:t>
                      </a:r>
                      <a:endParaRPr lang="en-US" sz="1500" dirty="0"/>
                    </a:p>
                  </a:txBody>
                  <a:tcPr marL="137160" marR="109728" marT="0" marB="0" anchor="ctr">
                    <a:lnL w="0" cap="flat" cmpd="sng" algn="ctr">
                      <a:noFill/>
                    </a:lnL>
                    <a:lnR w="0" cap="flat" cmpd="sng" algn="ctr">
                      <a:noFill/>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tcPr>
                </a:tc>
                <a:tc>
                  <a:txBody>
                    <a:bodyPr/>
                    <a:lstStyle/>
                    <a:p>
                      <a:pPr marL="0" indent="0">
                        <a:buNone/>
                      </a:pPr>
                      <a:r>
                        <a:rPr lang="en-US" sz="1500" dirty="0">
                          <a:solidFill>
                            <a:schemeClr val="tx1"/>
                          </a:solidFill>
                        </a:rPr>
                        <a:t>Free, open source</a:t>
                      </a:r>
                      <a:endParaRPr lang="en-US" sz="1500" dirty="0"/>
                    </a:p>
                  </a:txBody>
                  <a:tcPr marL="137160" marR="109728" marT="0" marB="0" anchor="ctr">
                    <a:lnL w="0" cap="flat" cmpd="sng" algn="ctr">
                      <a:noFill/>
                    </a:lnL>
                    <a:lnR w="0" cap="flat" cmpd="sng" algn="ctr">
                      <a:noFill/>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tcPr>
                </a:tc>
                <a:tc>
                  <a:txBody>
                    <a:bodyPr/>
                    <a:lstStyle/>
                    <a:p>
                      <a:pPr marL="0" indent="0">
                        <a:buNone/>
                      </a:pPr>
                      <a:r>
                        <a:rPr lang="en-US" sz="1500" dirty="0">
                          <a:solidFill>
                            <a:schemeClr val="accent4"/>
                          </a:solidFill>
                        </a:rPr>
                        <a:t>147.6% character error on unseen speakers (our baseline)</a:t>
                      </a:r>
                      <a:endParaRPr lang="en-US" sz="1500" dirty="0"/>
                    </a:p>
                  </a:txBody>
                  <a:tcPr marL="137160" marR="109728" marT="0" marB="0" anchor="ctr">
                    <a:lnL w="0" cap="flat" cmpd="sng" algn="ctr">
                      <a:noFill/>
                    </a:lnL>
                    <a:lnR w="0" cap="flat" cmpd="sng" algn="ctr">
                      <a:noFill/>
                    </a:lnR>
                    <a:lnT w="12700" cap="flat" cmpd="sng" algn="ctr">
                      <a:solidFill>
                        <a:srgbClr val="D9DEE6"/>
                      </a:solidFill>
                      <a:prstDash val="solid"/>
                      <a:round/>
                      <a:headEnd type="none" w="med" len="med"/>
                      <a:tailEnd type="none" w="med" len="med"/>
                    </a:lnT>
                    <a:lnB w="12700" cap="flat" cmpd="sng" algn="ctr">
                      <a:solidFill>
                        <a:srgbClr val="D9DE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txBox="1"/>
          <p:nvPr/>
        </p:nvSpPr>
        <p:spPr>
          <a:xfrm>
            <a:off x="548640" y="4663440"/>
            <a:ext cx="11091672" cy="320040"/>
          </a:xfrm>
          <a:prstGeom prst="rect">
            <a:avLst/>
          </a:prstGeom>
          <a:noFill/>
          <a:ln/>
        </p:spPr>
        <p:txBody>
          <a:bodyPr wrap="square" lIns="0" tIns="0" rIns="0" bIns="0" rtlCol="0" anchor="t"/>
          <a:lstStyle/>
          <a:p>
            <a:pPr marL="0" indent="0">
              <a:buNone/>
            </a:pPr>
            <a:r>
              <a:rPr lang="en-US" sz="1400" i="1" dirty="0">
                <a:solidFill>
                  <a:schemeClr val="accent5"/>
                </a:solidFill>
              </a:rPr>
              <a:t>Automatic tools built for English either do not support Khmer or are too inaccurate to publish.</a:t>
            </a:r>
            <a:endParaRPr lang="en-US" sz="1400" dirty="0"/>
          </a:p>
        </p:txBody>
      </p:sp>
      <p:sp>
        <p:nvSpPr>
          <p:cNvPr id="9" name="the gap"/>
          <p:cNvSpPr/>
          <p:nvPr/>
        </p:nvSpPr>
        <p:spPr>
          <a:xfrm>
            <a:off x="548640" y="5166360"/>
            <a:ext cx="11091672" cy="868680"/>
          </a:xfrm>
          <a:prstGeom prst="roundRect">
            <a:avLst>
              <a:gd name="adj" fmla="val 8421"/>
            </a:avLst>
          </a:prstGeom>
          <a:solidFill>
            <a:schemeClr val="tx2"/>
          </a:solidFill>
          <a:ln w="12700">
            <a:solidFill>
              <a:schemeClr val="tx2"/>
            </a:solidFill>
            <a:prstDash val="solid"/>
          </a:ln>
        </p:spPr>
        <p:txBody>
          <a:bodyPr/>
          <a:lstStyle/>
          <a:p>
            <a:endParaRPr lang="en-US"/>
          </a:p>
        </p:txBody>
      </p:sp>
      <p:sp>
        <p:nvSpPr>
          <p:cNvPr id="10" name="Text 7"/>
          <p:cNvSpPr txBox="1"/>
          <p:nvPr/>
        </p:nvSpPr>
        <p:spPr>
          <a:xfrm>
            <a:off x="822960" y="5166360"/>
            <a:ext cx="10607040" cy="868680"/>
          </a:xfrm>
          <a:prstGeom prst="rect">
            <a:avLst/>
          </a:prstGeom>
          <a:noFill/>
          <a:ln/>
        </p:spPr>
        <p:txBody>
          <a:bodyPr wrap="square" lIns="0" tIns="0" rIns="0" bIns="0" rtlCol="0" anchor="ctr"/>
          <a:lstStyle/>
          <a:p>
            <a:pPr marL="0" indent="0">
              <a:buNone/>
            </a:pPr>
            <a:r>
              <a:rPr lang="en-US" sz="1800" b="1" dirty="0">
                <a:solidFill>
                  <a:schemeClr val="accent2"/>
                </a:solidFill>
              </a:rPr>
              <a:t>The gap:  </a:t>
            </a:r>
            <a:r>
              <a:rPr lang="en-US" sz="1800" dirty="0">
                <a:solidFill>
                  <a:schemeClr val="bg1"/>
                </a:solidFill>
              </a:rPr>
              <a:t>a free tool that goes from a video link to timed subtitles, with a model trained for Khmer.</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b="1" dirty="0">
                <a:solidFill>
                  <a:schemeClr val="accent3"/>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the Khmer speech data behind the model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03</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3. Proposed solution</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From a YouTube URL to Khmer subtitles</a:t>
            </a:r>
            <a:endParaRPr lang="en-US" sz="3200" dirty="0"/>
          </a:p>
        </p:txBody>
      </p:sp>
      <p:sp>
        <p:nvSpPr>
          <p:cNvPr id="7" name="step 1"/>
          <p:cNvSpPr/>
          <p:nvPr/>
        </p:nvSpPr>
        <p:spPr>
          <a:xfrm>
            <a:off x="1037844" y="1920240"/>
            <a:ext cx="868680" cy="868680"/>
          </a:xfrm>
          <a:prstGeom prst="ellipse">
            <a:avLst/>
          </a:prstGeom>
          <a:solidFill>
            <a:schemeClr val="tx2"/>
          </a:solidFill>
          <a:ln w="12700">
            <a:solidFill>
              <a:schemeClr val="tx2"/>
            </a:solidFill>
            <a:prstDash val="solid"/>
          </a:ln>
        </p:spPr>
        <p:txBody>
          <a:bodyPr/>
          <a:lstStyle/>
          <a:p>
            <a:endParaRPr lang="en-US"/>
          </a:p>
        </p:txBody>
      </p:sp>
      <p:pic>
        <p:nvPicPr>
          <p:cNvPr id="8" name="Image 0" descr="Link icon"/>
          <p:cNvPicPr>
            <a:picLocks noChangeAspect="1"/>
          </p:cNvPicPr>
          <p:nvPr/>
        </p:nvPicPr>
        <p:blipFill>
          <a:blip r:embed="rId3"/>
          <a:stretch>
            <a:fillRect/>
          </a:stretch>
        </p:blipFill>
        <p:spPr>
          <a:xfrm>
            <a:off x="1255014" y="2137410"/>
            <a:ext cx="434340" cy="434340"/>
          </a:xfrm>
          <a:prstGeom prst="rect">
            <a:avLst/>
          </a:prstGeom>
        </p:spPr>
      </p:pic>
      <p:sp>
        <p:nvSpPr>
          <p:cNvPr id="9" name="arrow"/>
          <p:cNvSpPr/>
          <p:nvPr/>
        </p:nvSpPr>
        <p:spPr>
          <a:xfrm>
            <a:off x="2016252" y="2354580"/>
            <a:ext cx="758952" cy="0"/>
          </a:xfrm>
          <a:prstGeom prst="line">
            <a:avLst/>
          </a:prstGeom>
          <a:noFill/>
          <a:ln w="19050">
            <a:solidFill>
              <a:schemeClr val="accent5"/>
            </a:solidFill>
            <a:prstDash val="solid"/>
            <a:tailEnd type="triangle"/>
          </a:ln>
        </p:spPr>
        <p:txBody>
          <a:bodyPr/>
          <a:lstStyle/>
          <a:p>
            <a:endParaRPr lang="en-US"/>
          </a:p>
        </p:txBody>
      </p:sp>
      <p:sp>
        <p:nvSpPr>
          <p:cNvPr id="10" name="Text 7"/>
          <p:cNvSpPr txBox="1"/>
          <p:nvPr/>
        </p:nvSpPr>
        <p:spPr>
          <a:xfrm>
            <a:off x="548640" y="2944368"/>
            <a:ext cx="1847088" cy="256032"/>
          </a:xfrm>
          <a:prstGeom prst="rect">
            <a:avLst/>
          </a:prstGeom>
          <a:noFill/>
          <a:ln/>
        </p:spPr>
        <p:txBody>
          <a:bodyPr wrap="square" lIns="0" tIns="0" rIns="0" bIns="0" rtlCol="0" anchor="t"/>
          <a:lstStyle/>
          <a:p>
            <a:pPr marL="0" indent="0" algn="ctr">
              <a:buNone/>
            </a:pPr>
            <a:r>
              <a:rPr lang="en-US" sz="1200" b="1" dirty="0">
                <a:solidFill>
                  <a:schemeClr val="accent5"/>
                </a:solidFill>
              </a:rPr>
              <a:t>Step 1</a:t>
            </a:r>
            <a:endParaRPr lang="en-US" sz="1200" dirty="0"/>
          </a:p>
        </p:txBody>
      </p:sp>
      <p:sp>
        <p:nvSpPr>
          <p:cNvPr id="11" name="Text 8"/>
          <p:cNvSpPr txBox="1"/>
          <p:nvPr/>
        </p:nvSpPr>
        <p:spPr>
          <a:xfrm>
            <a:off x="594360" y="3218688"/>
            <a:ext cx="1755648" cy="365760"/>
          </a:xfrm>
          <a:prstGeom prst="rect">
            <a:avLst/>
          </a:prstGeom>
          <a:noFill/>
          <a:ln/>
        </p:spPr>
        <p:txBody>
          <a:bodyPr wrap="square" lIns="0" tIns="0" rIns="0" bIns="0" rtlCol="0" anchor="t"/>
          <a:lstStyle/>
          <a:p>
            <a:pPr marL="0" indent="0" algn="ctr">
              <a:buNone/>
            </a:pPr>
            <a:r>
              <a:rPr lang="en-US" sz="1700" b="1" dirty="0">
                <a:solidFill>
                  <a:schemeClr val="tx2"/>
                </a:solidFill>
              </a:rPr>
              <a:t>YouTube URL</a:t>
            </a:r>
            <a:endParaRPr lang="en-US" sz="1700" dirty="0"/>
          </a:p>
        </p:txBody>
      </p:sp>
      <p:sp>
        <p:nvSpPr>
          <p:cNvPr id="12" name="step 2"/>
          <p:cNvSpPr/>
          <p:nvPr/>
        </p:nvSpPr>
        <p:spPr>
          <a:xfrm>
            <a:off x="2884932" y="1920240"/>
            <a:ext cx="868680" cy="868680"/>
          </a:xfrm>
          <a:prstGeom prst="ellipse">
            <a:avLst/>
          </a:prstGeom>
          <a:solidFill>
            <a:schemeClr val="tx2"/>
          </a:solidFill>
          <a:ln w="12700">
            <a:solidFill>
              <a:schemeClr val="tx2"/>
            </a:solidFill>
            <a:prstDash val="solid"/>
          </a:ln>
        </p:spPr>
        <p:txBody>
          <a:bodyPr/>
          <a:lstStyle/>
          <a:p>
            <a:endParaRPr lang="en-US"/>
          </a:p>
        </p:txBody>
      </p:sp>
      <p:pic>
        <p:nvPicPr>
          <p:cNvPr id="13" name="Image 1" descr="Download icon"/>
          <p:cNvPicPr>
            <a:picLocks noChangeAspect="1"/>
          </p:cNvPicPr>
          <p:nvPr/>
        </p:nvPicPr>
        <p:blipFill>
          <a:blip r:embed="rId4"/>
          <a:stretch>
            <a:fillRect/>
          </a:stretch>
        </p:blipFill>
        <p:spPr>
          <a:xfrm>
            <a:off x="3102102" y="2137410"/>
            <a:ext cx="434340" cy="434340"/>
          </a:xfrm>
          <a:prstGeom prst="rect">
            <a:avLst/>
          </a:prstGeom>
        </p:spPr>
      </p:pic>
      <p:sp>
        <p:nvSpPr>
          <p:cNvPr id="14" name="arrow"/>
          <p:cNvSpPr/>
          <p:nvPr/>
        </p:nvSpPr>
        <p:spPr>
          <a:xfrm>
            <a:off x="3863340" y="2354580"/>
            <a:ext cx="758952" cy="0"/>
          </a:xfrm>
          <a:prstGeom prst="line">
            <a:avLst/>
          </a:prstGeom>
          <a:noFill/>
          <a:ln w="19050">
            <a:solidFill>
              <a:schemeClr val="accent5"/>
            </a:solidFill>
            <a:prstDash val="solid"/>
            <a:tailEnd type="triangle"/>
          </a:ln>
        </p:spPr>
        <p:txBody>
          <a:bodyPr/>
          <a:lstStyle/>
          <a:p>
            <a:endParaRPr lang="en-US"/>
          </a:p>
        </p:txBody>
      </p:sp>
      <p:sp>
        <p:nvSpPr>
          <p:cNvPr id="15" name="Text 11"/>
          <p:cNvSpPr txBox="1"/>
          <p:nvPr/>
        </p:nvSpPr>
        <p:spPr>
          <a:xfrm>
            <a:off x="2395728" y="2944368"/>
            <a:ext cx="1847088" cy="256032"/>
          </a:xfrm>
          <a:prstGeom prst="rect">
            <a:avLst/>
          </a:prstGeom>
          <a:noFill/>
          <a:ln/>
        </p:spPr>
        <p:txBody>
          <a:bodyPr wrap="square" lIns="0" tIns="0" rIns="0" bIns="0" rtlCol="0" anchor="t"/>
          <a:lstStyle/>
          <a:p>
            <a:pPr marL="0" indent="0" algn="ctr">
              <a:buNone/>
            </a:pPr>
            <a:r>
              <a:rPr lang="en-US" sz="1200" b="1" dirty="0">
                <a:solidFill>
                  <a:schemeClr val="accent5"/>
                </a:solidFill>
              </a:rPr>
              <a:t>Step 2</a:t>
            </a:r>
            <a:endParaRPr lang="en-US" sz="1200" dirty="0"/>
          </a:p>
        </p:txBody>
      </p:sp>
      <p:sp>
        <p:nvSpPr>
          <p:cNvPr id="16" name="Text 12"/>
          <p:cNvSpPr txBox="1"/>
          <p:nvPr/>
        </p:nvSpPr>
        <p:spPr>
          <a:xfrm>
            <a:off x="2441448" y="3218688"/>
            <a:ext cx="1755648" cy="365760"/>
          </a:xfrm>
          <a:prstGeom prst="rect">
            <a:avLst/>
          </a:prstGeom>
          <a:noFill/>
          <a:ln/>
        </p:spPr>
        <p:txBody>
          <a:bodyPr wrap="square" lIns="0" tIns="0" rIns="0" bIns="0" rtlCol="0" anchor="t"/>
          <a:lstStyle/>
          <a:p>
            <a:pPr marL="0" indent="0" algn="ctr">
              <a:buNone/>
            </a:pPr>
            <a:r>
              <a:rPr lang="en-US" sz="1700" b="1" dirty="0">
                <a:solidFill>
                  <a:schemeClr val="tx2"/>
                </a:solidFill>
              </a:rPr>
              <a:t>Extract audio</a:t>
            </a:r>
            <a:endParaRPr lang="en-US" sz="1700" dirty="0"/>
          </a:p>
        </p:txBody>
      </p:sp>
      <p:sp>
        <p:nvSpPr>
          <p:cNvPr id="17" name="step 3"/>
          <p:cNvSpPr/>
          <p:nvPr/>
        </p:nvSpPr>
        <p:spPr>
          <a:xfrm>
            <a:off x="4732020" y="1920240"/>
            <a:ext cx="868680" cy="868680"/>
          </a:xfrm>
          <a:prstGeom prst="ellipse">
            <a:avLst/>
          </a:prstGeom>
          <a:solidFill>
            <a:schemeClr val="tx2"/>
          </a:solidFill>
          <a:ln w="12700">
            <a:solidFill>
              <a:schemeClr val="tx2"/>
            </a:solidFill>
            <a:prstDash val="solid"/>
          </a:ln>
        </p:spPr>
        <p:txBody>
          <a:bodyPr/>
          <a:lstStyle/>
          <a:p>
            <a:endParaRPr lang="en-US"/>
          </a:p>
        </p:txBody>
      </p:sp>
      <p:pic>
        <p:nvPicPr>
          <p:cNvPr id="18" name="Image 2" descr="Scissors icon"/>
          <p:cNvPicPr>
            <a:picLocks noChangeAspect="1"/>
          </p:cNvPicPr>
          <p:nvPr/>
        </p:nvPicPr>
        <p:blipFill>
          <a:blip r:embed="rId5"/>
          <a:stretch>
            <a:fillRect/>
          </a:stretch>
        </p:blipFill>
        <p:spPr>
          <a:xfrm>
            <a:off x="4949190" y="2137410"/>
            <a:ext cx="434340" cy="434340"/>
          </a:xfrm>
          <a:prstGeom prst="rect">
            <a:avLst/>
          </a:prstGeom>
        </p:spPr>
      </p:pic>
      <p:sp>
        <p:nvSpPr>
          <p:cNvPr id="19" name="arrow"/>
          <p:cNvSpPr/>
          <p:nvPr/>
        </p:nvSpPr>
        <p:spPr>
          <a:xfrm>
            <a:off x="5710428" y="2354580"/>
            <a:ext cx="758952" cy="0"/>
          </a:xfrm>
          <a:prstGeom prst="line">
            <a:avLst/>
          </a:prstGeom>
          <a:noFill/>
          <a:ln w="19050">
            <a:solidFill>
              <a:schemeClr val="accent5"/>
            </a:solidFill>
            <a:prstDash val="solid"/>
            <a:tailEnd type="triangle"/>
          </a:ln>
        </p:spPr>
        <p:txBody>
          <a:bodyPr/>
          <a:lstStyle/>
          <a:p>
            <a:endParaRPr lang="en-US"/>
          </a:p>
        </p:txBody>
      </p:sp>
      <p:sp>
        <p:nvSpPr>
          <p:cNvPr id="20" name="Text 15"/>
          <p:cNvSpPr txBox="1"/>
          <p:nvPr/>
        </p:nvSpPr>
        <p:spPr>
          <a:xfrm>
            <a:off x="4242816" y="2944368"/>
            <a:ext cx="1847088" cy="256032"/>
          </a:xfrm>
          <a:prstGeom prst="rect">
            <a:avLst/>
          </a:prstGeom>
          <a:noFill/>
          <a:ln/>
        </p:spPr>
        <p:txBody>
          <a:bodyPr wrap="square" lIns="0" tIns="0" rIns="0" bIns="0" rtlCol="0" anchor="t"/>
          <a:lstStyle/>
          <a:p>
            <a:pPr marL="0" indent="0" algn="ctr">
              <a:buNone/>
            </a:pPr>
            <a:r>
              <a:rPr lang="en-US" sz="1200" b="1" dirty="0">
                <a:solidFill>
                  <a:schemeClr val="accent5"/>
                </a:solidFill>
              </a:rPr>
              <a:t>Step 3</a:t>
            </a:r>
            <a:endParaRPr lang="en-US" sz="1200" dirty="0"/>
          </a:p>
        </p:txBody>
      </p:sp>
      <p:sp>
        <p:nvSpPr>
          <p:cNvPr id="21" name="Text 16"/>
          <p:cNvSpPr txBox="1"/>
          <p:nvPr/>
        </p:nvSpPr>
        <p:spPr>
          <a:xfrm>
            <a:off x="4288536" y="3218688"/>
            <a:ext cx="1755648" cy="365760"/>
          </a:xfrm>
          <a:prstGeom prst="rect">
            <a:avLst/>
          </a:prstGeom>
          <a:noFill/>
          <a:ln/>
        </p:spPr>
        <p:txBody>
          <a:bodyPr wrap="square" lIns="0" tIns="0" rIns="0" bIns="0" rtlCol="0" anchor="t"/>
          <a:lstStyle/>
          <a:p>
            <a:pPr marL="0" indent="0" algn="ctr">
              <a:buNone/>
            </a:pPr>
            <a:r>
              <a:rPr lang="en-US" sz="1700" b="1" dirty="0">
                <a:solidFill>
                  <a:schemeClr val="tx2"/>
                </a:solidFill>
              </a:rPr>
              <a:t>Clean &amp; chunk audio</a:t>
            </a:r>
            <a:endParaRPr lang="en-US" sz="1700" dirty="0"/>
          </a:p>
        </p:txBody>
      </p:sp>
      <p:sp>
        <p:nvSpPr>
          <p:cNvPr id="22" name="step 4"/>
          <p:cNvSpPr/>
          <p:nvPr/>
        </p:nvSpPr>
        <p:spPr>
          <a:xfrm>
            <a:off x="6579108" y="1920240"/>
            <a:ext cx="868680" cy="868680"/>
          </a:xfrm>
          <a:prstGeom prst="ellipse">
            <a:avLst/>
          </a:prstGeom>
          <a:solidFill>
            <a:schemeClr val="accent2"/>
          </a:solidFill>
          <a:ln w="12700">
            <a:solidFill>
              <a:schemeClr val="accent2"/>
            </a:solidFill>
            <a:prstDash val="solid"/>
          </a:ln>
        </p:spPr>
        <p:txBody>
          <a:bodyPr/>
          <a:lstStyle/>
          <a:p>
            <a:endParaRPr lang="en-US"/>
          </a:p>
        </p:txBody>
      </p:sp>
      <p:pic>
        <p:nvPicPr>
          <p:cNvPr id="23" name="Image 3" descr="Brain icon"/>
          <p:cNvPicPr>
            <a:picLocks noChangeAspect="1"/>
          </p:cNvPicPr>
          <p:nvPr/>
        </p:nvPicPr>
        <p:blipFill>
          <a:blip r:embed="rId6"/>
          <a:stretch>
            <a:fillRect/>
          </a:stretch>
        </p:blipFill>
        <p:spPr>
          <a:xfrm>
            <a:off x="6796278" y="2137410"/>
            <a:ext cx="434340" cy="434340"/>
          </a:xfrm>
          <a:prstGeom prst="rect">
            <a:avLst/>
          </a:prstGeom>
        </p:spPr>
      </p:pic>
      <p:sp>
        <p:nvSpPr>
          <p:cNvPr id="24" name="arrow"/>
          <p:cNvSpPr/>
          <p:nvPr/>
        </p:nvSpPr>
        <p:spPr>
          <a:xfrm>
            <a:off x="7557516" y="2354580"/>
            <a:ext cx="758952" cy="0"/>
          </a:xfrm>
          <a:prstGeom prst="line">
            <a:avLst/>
          </a:prstGeom>
          <a:noFill/>
          <a:ln w="19050">
            <a:solidFill>
              <a:schemeClr val="accent5"/>
            </a:solidFill>
            <a:prstDash val="solid"/>
            <a:tailEnd type="triangle"/>
          </a:ln>
        </p:spPr>
        <p:txBody>
          <a:bodyPr/>
          <a:lstStyle/>
          <a:p>
            <a:endParaRPr lang="en-US"/>
          </a:p>
        </p:txBody>
      </p:sp>
      <p:sp>
        <p:nvSpPr>
          <p:cNvPr id="25" name="Text 19"/>
          <p:cNvSpPr txBox="1"/>
          <p:nvPr/>
        </p:nvSpPr>
        <p:spPr>
          <a:xfrm>
            <a:off x="6089904" y="2944368"/>
            <a:ext cx="1847088" cy="256032"/>
          </a:xfrm>
          <a:prstGeom prst="rect">
            <a:avLst/>
          </a:prstGeom>
          <a:noFill/>
          <a:ln/>
        </p:spPr>
        <p:txBody>
          <a:bodyPr wrap="square" lIns="0" tIns="0" rIns="0" bIns="0" rtlCol="0" anchor="t"/>
          <a:lstStyle/>
          <a:p>
            <a:pPr marL="0" indent="0" algn="ctr">
              <a:buNone/>
            </a:pPr>
            <a:r>
              <a:rPr lang="en-US" sz="1200" b="1" dirty="0">
                <a:solidFill>
                  <a:schemeClr val="accent5"/>
                </a:solidFill>
              </a:rPr>
              <a:t>Step 4</a:t>
            </a:r>
            <a:endParaRPr lang="en-US" sz="1200" dirty="0"/>
          </a:p>
        </p:txBody>
      </p:sp>
      <p:sp>
        <p:nvSpPr>
          <p:cNvPr id="26" name="Text 20"/>
          <p:cNvSpPr txBox="1"/>
          <p:nvPr/>
        </p:nvSpPr>
        <p:spPr>
          <a:xfrm>
            <a:off x="6135624" y="3218688"/>
            <a:ext cx="1755648" cy="365760"/>
          </a:xfrm>
          <a:prstGeom prst="rect">
            <a:avLst/>
          </a:prstGeom>
          <a:noFill/>
          <a:ln/>
        </p:spPr>
        <p:txBody>
          <a:bodyPr wrap="square" lIns="0" tIns="0" rIns="0" bIns="0" rtlCol="0" anchor="t"/>
          <a:lstStyle/>
          <a:p>
            <a:pPr marL="0" indent="0" algn="ctr">
              <a:buNone/>
            </a:pPr>
            <a:r>
              <a:rPr lang="en-US" sz="1700" b="1" dirty="0">
                <a:solidFill>
                  <a:schemeClr val="accent3"/>
                </a:solidFill>
              </a:rPr>
              <a:t>Whisper-small</a:t>
            </a:r>
            <a:endParaRPr lang="en-US" sz="1700" dirty="0"/>
          </a:p>
        </p:txBody>
      </p:sp>
      <p:sp>
        <p:nvSpPr>
          <p:cNvPr id="27" name="step 5"/>
          <p:cNvSpPr/>
          <p:nvPr/>
        </p:nvSpPr>
        <p:spPr>
          <a:xfrm>
            <a:off x="8426196" y="1920240"/>
            <a:ext cx="868680" cy="868680"/>
          </a:xfrm>
          <a:prstGeom prst="ellipse">
            <a:avLst/>
          </a:prstGeom>
          <a:solidFill>
            <a:schemeClr val="tx2"/>
          </a:solidFill>
          <a:ln w="12700">
            <a:solidFill>
              <a:schemeClr val="tx2"/>
            </a:solidFill>
            <a:prstDash val="solid"/>
          </a:ln>
        </p:spPr>
        <p:txBody>
          <a:bodyPr/>
          <a:lstStyle/>
          <a:p>
            <a:endParaRPr lang="en-US"/>
          </a:p>
        </p:txBody>
      </p:sp>
      <p:pic>
        <p:nvPicPr>
          <p:cNvPr id="28" name="Image 4" descr="Captions icon"/>
          <p:cNvPicPr>
            <a:picLocks noChangeAspect="1"/>
          </p:cNvPicPr>
          <p:nvPr/>
        </p:nvPicPr>
        <p:blipFill>
          <a:blip r:embed="rId7"/>
          <a:stretch>
            <a:fillRect/>
          </a:stretch>
        </p:blipFill>
        <p:spPr>
          <a:xfrm>
            <a:off x="8643366" y="2137410"/>
            <a:ext cx="434340" cy="434340"/>
          </a:xfrm>
          <a:prstGeom prst="rect">
            <a:avLst/>
          </a:prstGeom>
        </p:spPr>
      </p:pic>
      <p:sp>
        <p:nvSpPr>
          <p:cNvPr id="29" name="arrow"/>
          <p:cNvSpPr/>
          <p:nvPr/>
        </p:nvSpPr>
        <p:spPr>
          <a:xfrm>
            <a:off x="9404604" y="2354580"/>
            <a:ext cx="758952" cy="0"/>
          </a:xfrm>
          <a:prstGeom prst="line">
            <a:avLst/>
          </a:prstGeom>
          <a:noFill/>
          <a:ln w="19050">
            <a:solidFill>
              <a:schemeClr val="accent5"/>
            </a:solidFill>
            <a:prstDash val="solid"/>
            <a:tailEnd type="triangle"/>
          </a:ln>
        </p:spPr>
        <p:txBody>
          <a:bodyPr/>
          <a:lstStyle/>
          <a:p>
            <a:endParaRPr lang="en-US"/>
          </a:p>
        </p:txBody>
      </p:sp>
      <p:sp>
        <p:nvSpPr>
          <p:cNvPr id="30" name="Text 23"/>
          <p:cNvSpPr txBox="1"/>
          <p:nvPr/>
        </p:nvSpPr>
        <p:spPr>
          <a:xfrm>
            <a:off x="7936992" y="2944368"/>
            <a:ext cx="1847088" cy="256032"/>
          </a:xfrm>
          <a:prstGeom prst="rect">
            <a:avLst/>
          </a:prstGeom>
          <a:noFill/>
          <a:ln/>
        </p:spPr>
        <p:txBody>
          <a:bodyPr wrap="square" lIns="0" tIns="0" rIns="0" bIns="0" rtlCol="0" anchor="t"/>
          <a:lstStyle/>
          <a:p>
            <a:pPr marL="0" indent="0" algn="ctr">
              <a:buNone/>
            </a:pPr>
            <a:r>
              <a:rPr lang="en-US" sz="1200" b="1" dirty="0">
                <a:solidFill>
                  <a:schemeClr val="accent5"/>
                </a:solidFill>
              </a:rPr>
              <a:t>Step 5</a:t>
            </a:r>
            <a:endParaRPr lang="en-US" sz="1200" dirty="0"/>
          </a:p>
        </p:txBody>
      </p:sp>
      <p:sp>
        <p:nvSpPr>
          <p:cNvPr id="31" name="Text 24"/>
          <p:cNvSpPr txBox="1"/>
          <p:nvPr/>
        </p:nvSpPr>
        <p:spPr>
          <a:xfrm>
            <a:off x="7982712" y="3218688"/>
            <a:ext cx="1755648" cy="365760"/>
          </a:xfrm>
          <a:prstGeom prst="rect">
            <a:avLst/>
          </a:prstGeom>
          <a:noFill/>
          <a:ln/>
        </p:spPr>
        <p:txBody>
          <a:bodyPr wrap="square" lIns="0" tIns="0" rIns="0" bIns="0" rtlCol="0" anchor="t"/>
          <a:lstStyle/>
          <a:p>
            <a:pPr marL="0" indent="0" algn="ctr">
              <a:buNone/>
            </a:pPr>
            <a:r>
              <a:rPr lang="en-US" sz="1700" b="1" dirty="0">
                <a:solidFill>
                  <a:schemeClr val="tx2"/>
                </a:solidFill>
              </a:rPr>
              <a:t>Khmer subtitles</a:t>
            </a:r>
            <a:endParaRPr lang="en-US" sz="1700" dirty="0"/>
          </a:p>
        </p:txBody>
      </p:sp>
      <p:sp>
        <p:nvSpPr>
          <p:cNvPr id="32" name="step 6"/>
          <p:cNvSpPr/>
          <p:nvPr/>
        </p:nvSpPr>
        <p:spPr>
          <a:xfrm>
            <a:off x="10273284" y="1920240"/>
            <a:ext cx="868680" cy="868680"/>
          </a:xfrm>
          <a:prstGeom prst="ellipse">
            <a:avLst/>
          </a:prstGeom>
          <a:solidFill>
            <a:schemeClr val="tx2"/>
          </a:solidFill>
          <a:ln w="12700">
            <a:solidFill>
              <a:schemeClr val="tx2"/>
            </a:solidFill>
            <a:prstDash val="solid"/>
          </a:ln>
        </p:spPr>
        <p:txBody>
          <a:bodyPr/>
          <a:lstStyle/>
          <a:p>
            <a:endParaRPr lang="en-US"/>
          </a:p>
        </p:txBody>
      </p:sp>
      <p:pic>
        <p:nvPicPr>
          <p:cNvPr id="33" name="Image 5" descr="FileDown icon"/>
          <p:cNvPicPr>
            <a:picLocks noChangeAspect="1"/>
          </p:cNvPicPr>
          <p:nvPr/>
        </p:nvPicPr>
        <p:blipFill>
          <a:blip r:embed="rId8"/>
          <a:stretch>
            <a:fillRect/>
          </a:stretch>
        </p:blipFill>
        <p:spPr>
          <a:xfrm>
            <a:off x="10490454" y="2137410"/>
            <a:ext cx="434340" cy="434340"/>
          </a:xfrm>
          <a:prstGeom prst="rect">
            <a:avLst/>
          </a:prstGeom>
        </p:spPr>
      </p:pic>
      <p:sp>
        <p:nvSpPr>
          <p:cNvPr id="34" name="Text 26"/>
          <p:cNvSpPr txBox="1"/>
          <p:nvPr/>
        </p:nvSpPr>
        <p:spPr>
          <a:xfrm>
            <a:off x="9784080" y="2944368"/>
            <a:ext cx="1847088" cy="256032"/>
          </a:xfrm>
          <a:prstGeom prst="rect">
            <a:avLst/>
          </a:prstGeom>
          <a:noFill/>
          <a:ln/>
        </p:spPr>
        <p:txBody>
          <a:bodyPr wrap="square" lIns="0" tIns="0" rIns="0" bIns="0" rtlCol="0" anchor="t"/>
          <a:lstStyle/>
          <a:p>
            <a:pPr marL="0" indent="0" algn="ctr">
              <a:buNone/>
            </a:pPr>
            <a:r>
              <a:rPr lang="en-US" sz="1200" b="1" dirty="0">
                <a:solidFill>
                  <a:schemeClr val="accent5"/>
                </a:solidFill>
              </a:rPr>
              <a:t>Step 6</a:t>
            </a:r>
            <a:endParaRPr lang="en-US" sz="1200" dirty="0"/>
          </a:p>
        </p:txBody>
      </p:sp>
      <p:sp>
        <p:nvSpPr>
          <p:cNvPr id="35" name="Text 27"/>
          <p:cNvSpPr txBox="1"/>
          <p:nvPr/>
        </p:nvSpPr>
        <p:spPr>
          <a:xfrm>
            <a:off x="9829800" y="3218688"/>
            <a:ext cx="1755648" cy="365760"/>
          </a:xfrm>
          <a:prstGeom prst="rect">
            <a:avLst/>
          </a:prstGeom>
          <a:noFill/>
          <a:ln/>
        </p:spPr>
        <p:txBody>
          <a:bodyPr wrap="square" lIns="0" tIns="0" rIns="0" bIns="0" rtlCol="0" anchor="t"/>
          <a:lstStyle/>
          <a:p>
            <a:pPr marL="0" indent="0" algn="ctr">
              <a:buNone/>
            </a:pPr>
            <a:r>
              <a:rPr lang="en-US" sz="1700" b="1" dirty="0">
                <a:solidFill>
                  <a:schemeClr val="tx2"/>
                </a:solidFill>
              </a:rPr>
              <a:t>SRT / TXT export</a:t>
            </a:r>
            <a:endParaRPr lang="en-US" sz="1700" dirty="0"/>
          </a:p>
        </p:txBody>
      </p:sp>
      <p:sp>
        <p:nvSpPr>
          <p:cNvPr id="37" name="tech stack panel"/>
          <p:cNvSpPr/>
          <p:nvPr/>
        </p:nvSpPr>
        <p:spPr>
          <a:xfrm>
            <a:off x="548640" y="4572000"/>
            <a:ext cx="11091672" cy="1325880"/>
          </a:xfrm>
          <a:prstGeom prst="roundRect">
            <a:avLst>
              <a:gd name="adj" fmla="val 5517"/>
            </a:avLst>
          </a:prstGeom>
          <a:solidFill>
            <a:schemeClr val="bg2"/>
          </a:solidFill>
          <a:ln w="12700">
            <a:solidFill>
              <a:schemeClr val="bg2"/>
            </a:solidFill>
            <a:prstDash val="solid"/>
          </a:ln>
        </p:spPr>
        <p:txBody>
          <a:bodyPr/>
          <a:lstStyle/>
          <a:p>
            <a:endParaRPr lang="en-US"/>
          </a:p>
        </p:txBody>
      </p:sp>
      <p:sp>
        <p:nvSpPr>
          <p:cNvPr id="38" name="Text 29"/>
          <p:cNvSpPr txBox="1"/>
          <p:nvPr/>
        </p:nvSpPr>
        <p:spPr>
          <a:xfrm>
            <a:off x="822960" y="4709160"/>
            <a:ext cx="3657600" cy="274320"/>
          </a:xfrm>
          <a:prstGeom prst="rect">
            <a:avLst/>
          </a:prstGeom>
          <a:noFill/>
          <a:ln/>
        </p:spPr>
        <p:txBody>
          <a:bodyPr wrap="square" lIns="0" tIns="0" rIns="0" bIns="0" rtlCol="0" anchor="t"/>
          <a:lstStyle/>
          <a:p>
            <a:pPr marL="0" indent="0">
              <a:buNone/>
            </a:pPr>
            <a:r>
              <a:rPr lang="en-US" sz="1300" b="1" dirty="0">
                <a:solidFill>
                  <a:schemeClr val="accent5"/>
                </a:solidFill>
              </a:rPr>
              <a:t>Technology stack</a:t>
            </a:r>
            <a:endParaRPr lang="en-US" sz="1300" dirty="0"/>
          </a:p>
        </p:txBody>
      </p:sp>
      <p:pic>
        <p:nvPicPr>
          <p:cNvPr id="39" name="Image 6" descr="Frontend icon"/>
          <p:cNvPicPr>
            <a:picLocks noChangeAspect="1"/>
          </p:cNvPicPr>
          <p:nvPr/>
        </p:nvPicPr>
        <p:blipFill>
          <a:blip r:embed="rId9"/>
          <a:stretch>
            <a:fillRect/>
          </a:stretch>
        </p:blipFill>
        <p:spPr>
          <a:xfrm>
            <a:off x="822960" y="5120640"/>
            <a:ext cx="384048" cy="384048"/>
          </a:xfrm>
          <a:prstGeom prst="rect">
            <a:avLst/>
          </a:prstGeom>
        </p:spPr>
      </p:pic>
      <p:sp>
        <p:nvSpPr>
          <p:cNvPr id="40" name="Text 30"/>
          <p:cNvSpPr txBox="1"/>
          <p:nvPr/>
        </p:nvSpPr>
        <p:spPr>
          <a:xfrm>
            <a:off x="1325880" y="5102352"/>
            <a:ext cx="2148840" cy="420624"/>
          </a:xfrm>
          <a:prstGeom prst="rect">
            <a:avLst/>
          </a:prstGeom>
          <a:noFill/>
          <a:ln/>
        </p:spPr>
        <p:txBody>
          <a:bodyPr wrap="square" lIns="0" tIns="0" rIns="0" bIns="0" rtlCol="0" anchor="ctr"/>
          <a:lstStyle/>
          <a:p>
            <a:pPr marL="0" indent="0">
              <a:buNone/>
            </a:pPr>
            <a:r>
              <a:rPr lang="en-US" sz="1500" dirty="0">
                <a:solidFill>
                  <a:schemeClr val="accent5"/>
                </a:solidFill>
              </a:rPr>
              <a:t>Frontend: </a:t>
            </a:r>
            <a:r>
              <a:rPr lang="en-US" sz="1500" b="1" dirty="0">
                <a:solidFill>
                  <a:schemeClr val="tx2"/>
                </a:solidFill>
              </a:rPr>
              <a:t>Next.js</a:t>
            </a:r>
            <a:endParaRPr lang="en-US" sz="1500" dirty="0"/>
          </a:p>
        </p:txBody>
      </p:sp>
      <p:pic>
        <p:nvPicPr>
          <p:cNvPr id="41" name="Image 7" descr="Backend icon"/>
          <p:cNvPicPr>
            <a:picLocks noChangeAspect="1"/>
          </p:cNvPicPr>
          <p:nvPr/>
        </p:nvPicPr>
        <p:blipFill>
          <a:blip r:embed="rId10"/>
          <a:stretch>
            <a:fillRect/>
          </a:stretch>
        </p:blipFill>
        <p:spPr>
          <a:xfrm>
            <a:off x="3520440" y="5120640"/>
            <a:ext cx="384048" cy="384048"/>
          </a:xfrm>
          <a:prstGeom prst="rect">
            <a:avLst/>
          </a:prstGeom>
        </p:spPr>
      </p:pic>
      <p:sp>
        <p:nvSpPr>
          <p:cNvPr id="42" name="Text 31"/>
          <p:cNvSpPr txBox="1"/>
          <p:nvPr/>
        </p:nvSpPr>
        <p:spPr>
          <a:xfrm>
            <a:off x="4023360" y="5102352"/>
            <a:ext cx="2148840" cy="420624"/>
          </a:xfrm>
          <a:prstGeom prst="rect">
            <a:avLst/>
          </a:prstGeom>
          <a:noFill/>
          <a:ln/>
        </p:spPr>
        <p:txBody>
          <a:bodyPr wrap="square" lIns="0" tIns="0" rIns="0" bIns="0" rtlCol="0" anchor="ctr"/>
          <a:lstStyle/>
          <a:p>
            <a:pPr marL="0" indent="0">
              <a:buNone/>
            </a:pPr>
            <a:r>
              <a:rPr lang="en-US" sz="1500" dirty="0">
                <a:solidFill>
                  <a:schemeClr val="accent5"/>
                </a:solidFill>
              </a:rPr>
              <a:t>Backend: </a:t>
            </a:r>
            <a:r>
              <a:rPr lang="en-US" sz="1500" b="1" dirty="0">
                <a:solidFill>
                  <a:schemeClr val="tx2"/>
                </a:solidFill>
              </a:rPr>
              <a:t>FastAPI</a:t>
            </a:r>
            <a:endParaRPr lang="en-US" sz="1500" dirty="0"/>
          </a:p>
        </p:txBody>
      </p:sp>
      <p:pic>
        <p:nvPicPr>
          <p:cNvPr id="43" name="Image 8" descr="Audio icon"/>
          <p:cNvPicPr>
            <a:picLocks noChangeAspect="1"/>
          </p:cNvPicPr>
          <p:nvPr/>
        </p:nvPicPr>
        <p:blipFill>
          <a:blip r:embed="rId11"/>
          <a:stretch>
            <a:fillRect/>
          </a:stretch>
        </p:blipFill>
        <p:spPr>
          <a:xfrm>
            <a:off x="6217920" y="5120640"/>
            <a:ext cx="384048" cy="384048"/>
          </a:xfrm>
          <a:prstGeom prst="rect">
            <a:avLst/>
          </a:prstGeom>
        </p:spPr>
      </p:pic>
      <p:sp>
        <p:nvSpPr>
          <p:cNvPr id="44" name="Text 32"/>
          <p:cNvSpPr txBox="1"/>
          <p:nvPr/>
        </p:nvSpPr>
        <p:spPr>
          <a:xfrm>
            <a:off x="6720840" y="5102352"/>
            <a:ext cx="2148840" cy="420624"/>
          </a:xfrm>
          <a:prstGeom prst="rect">
            <a:avLst/>
          </a:prstGeom>
          <a:noFill/>
          <a:ln/>
        </p:spPr>
        <p:txBody>
          <a:bodyPr wrap="square" lIns="0" tIns="0" rIns="0" bIns="0" rtlCol="0" anchor="ctr"/>
          <a:lstStyle/>
          <a:p>
            <a:pPr marL="0" indent="0">
              <a:buNone/>
            </a:pPr>
            <a:r>
              <a:rPr lang="en-US" sz="1500" dirty="0">
                <a:solidFill>
                  <a:schemeClr val="accent5"/>
                </a:solidFill>
              </a:rPr>
              <a:t>Audio: </a:t>
            </a:r>
            <a:r>
              <a:rPr lang="en-US" sz="1500" b="1" dirty="0">
                <a:solidFill>
                  <a:schemeClr val="tx2"/>
                </a:solidFill>
              </a:rPr>
              <a:t>yt-dlp + FFmpeg</a:t>
            </a:r>
            <a:endParaRPr lang="en-US" sz="1500" dirty="0"/>
          </a:p>
        </p:txBody>
      </p:sp>
      <p:pic>
        <p:nvPicPr>
          <p:cNvPr id="45" name="Image 9" descr="ASR model icon"/>
          <p:cNvPicPr>
            <a:picLocks noChangeAspect="1"/>
          </p:cNvPicPr>
          <p:nvPr/>
        </p:nvPicPr>
        <p:blipFill>
          <a:blip r:embed="rId6"/>
          <a:stretch>
            <a:fillRect/>
          </a:stretch>
        </p:blipFill>
        <p:spPr>
          <a:xfrm>
            <a:off x="8915400" y="5120640"/>
            <a:ext cx="384048" cy="384048"/>
          </a:xfrm>
          <a:prstGeom prst="rect">
            <a:avLst/>
          </a:prstGeom>
        </p:spPr>
      </p:pic>
      <p:sp>
        <p:nvSpPr>
          <p:cNvPr id="46" name="Text 33"/>
          <p:cNvSpPr txBox="1"/>
          <p:nvPr/>
        </p:nvSpPr>
        <p:spPr>
          <a:xfrm>
            <a:off x="9418320" y="5102352"/>
            <a:ext cx="2148840" cy="420624"/>
          </a:xfrm>
          <a:prstGeom prst="rect">
            <a:avLst/>
          </a:prstGeom>
          <a:noFill/>
          <a:ln/>
        </p:spPr>
        <p:txBody>
          <a:bodyPr wrap="square" lIns="0" tIns="0" rIns="0" bIns="0" rtlCol="0" anchor="ctr"/>
          <a:lstStyle/>
          <a:p>
            <a:pPr marL="0" indent="0">
              <a:buNone/>
            </a:pPr>
            <a:r>
              <a:rPr lang="en-US" sz="1500" dirty="0">
                <a:solidFill>
                  <a:schemeClr val="accent5"/>
                </a:solidFill>
              </a:rPr>
              <a:t>ASR model: </a:t>
            </a:r>
            <a:r>
              <a:rPr lang="en-US" sz="1500" b="1" dirty="0">
                <a:solidFill>
                  <a:schemeClr val="tx2"/>
                </a:solidFill>
              </a:rPr>
              <a:t>Whisper-small</a:t>
            </a:r>
            <a:endParaRPr lang="en-US" sz="1500" dirty="0"/>
          </a:p>
        </p:txBody>
      </p:sp>
      <p:sp>
        <p:nvSpPr>
          <p:cNvPr id="36"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b="1" dirty="0">
                <a:solidFill>
                  <a:schemeClr val="accent3"/>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how we clean and split this data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04</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4. Dataset</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Five Khmer speech sources, </a:t>
            </a:r>
            <a:r>
              <a:rPr lang="en-US" sz="3200" b="1" dirty="0">
                <a:solidFill>
                  <a:schemeClr val="accent3"/>
                </a:solidFill>
                <a:latin typeface="Calibri" pitchFamily="34" charset="0"/>
                <a:ea typeface="Calibri" pitchFamily="34" charset="-122"/>
                <a:cs typeface="Calibri" pitchFamily="34" charset="-120"/>
              </a:rPr>
              <a:t>17.85 hours</a:t>
            </a:r>
            <a:r>
              <a:rPr lang="en-US" sz="3200" b="1" dirty="0">
                <a:solidFill>
                  <a:schemeClr val="tx2"/>
                </a:solidFill>
                <a:latin typeface="Calibri" pitchFamily="34" charset="0"/>
                <a:ea typeface="Calibri" pitchFamily="34" charset="-122"/>
                <a:cs typeface="Calibri" pitchFamily="34" charset="-120"/>
              </a:rPr>
              <a:t> assembled</a:t>
            </a:r>
            <a:endParaRPr lang="en-US" sz="3200" dirty="0"/>
          </a:p>
        </p:txBody>
      </p:sp>
      <p:sp>
        <p:nvSpPr>
          <p:cNvPr id="7" name="Text 5"/>
          <p:cNvSpPr txBox="1"/>
          <p:nvPr/>
        </p:nvSpPr>
        <p:spPr>
          <a:xfrm>
            <a:off x="548640" y="1783080"/>
            <a:ext cx="2743200" cy="256032"/>
          </a:xfrm>
          <a:prstGeom prst="rect">
            <a:avLst/>
          </a:prstGeom>
          <a:noFill/>
          <a:ln/>
        </p:spPr>
        <p:txBody>
          <a:bodyPr wrap="square" lIns="0" tIns="0" rIns="0" bIns="0" rtlCol="0" anchor="t"/>
          <a:lstStyle/>
          <a:p>
            <a:pPr marL="0" indent="0">
              <a:buNone/>
            </a:pPr>
            <a:r>
              <a:rPr lang="en-US" sz="1200" b="1" dirty="0">
                <a:solidFill>
                  <a:schemeClr val="accent5"/>
                </a:solidFill>
              </a:rPr>
              <a:t>Source</a:t>
            </a:r>
            <a:endParaRPr lang="en-US" sz="1200" dirty="0"/>
          </a:p>
        </p:txBody>
      </p:sp>
      <p:sp>
        <p:nvSpPr>
          <p:cNvPr id="8" name="Text 6"/>
          <p:cNvSpPr txBox="1"/>
          <p:nvPr/>
        </p:nvSpPr>
        <p:spPr>
          <a:xfrm>
            <a:off x="3931920" y="1783080"/>
            <a:ext cx="1188720" cy="256032"/>
          </a:xfrm>
          <a:prstGeom prst="rect">
            <a:avLst/>
          </a:prstGeom>
          <a:noFill/>
          <a:ln/>
        </p:spPr>
        <p:txBody>
          <a:bodyPr wrap="square" lIns="0" tIns="0" rIns="0" bIns="0" rtlCol="0" anchor="t"/>
          <a:lstStyle/>
          <a:p>
            <a:pPr marL="0" indent="0" algn="r">
              <a:buNone/>
            </a:pPr>
            <a:r>
              <a:rPr lang="en-US" sz="1200" b="1" dirty="0">
                <a:solidFill>
                  <a:schemeClr val="accent5"/>
                </a:solidFill>
              </a:rPr>
              <a:t>Clips</a:t>
            </a:r>
            <a:endParaRPr lang="en-US" sz="1200" dirty="0"/>
          </a:p>
        </p:txBody>
      </p:sp>
      <p:sp>
        <p:nvSpPr>
          <p:cNvPr id="9" name="Text 7"/>
          <p:cNvSpPr txBox="1"/>
          <p:nvPr/>
        </p:nvSpPr>
        <p:spPr>
          <a:xfrm>
            <a:off x="5440680" y="1783080"/>
            <a:ext cx="1828800" cy="256032"/>
          </a:xfrm>
          <a:prstGeom prst="rect">
            <a:avLst/>
          </a:prstGeom>
          <a:noFill/>
          <a:ln/>
        </p:spPr>
        <p:txBody>
          <a:bodyPr wrap="square" lIns="0" tIns="0" rIns="0" bIns="0" rtlCol="0" anchor="t"/>
          <a:lstStyle/>
          <a:p>
            <a:pPr marL="0" indent="0">
              <a:buNone/>
            </a:pPr>
            <a:r>
              <a:rPr lang="en-US" sz="1200" b="1" dirty="0">
                <a:solidFill>
                  <a:schemeClr val="accent5"/>
                </a:solidFill>
              </a:rPr>
              <a:t>Hours</a:t>
            </a:r>
            <a:endParaRPr lang="en-US" sz="1200" dirty="0"/>
          </a:p>
        </p:txBody>
      </p:sp>
      <p:sp>
        <p:nvSpPr>
          <p:cNvPr id="10" name="line"/>
          <p:cNvSpPr/>
          <p:nvPr/>
        </p:nvSpPr>
        <p:spPr>
          <a:xfrm>
            <a:off x="548640" y="2103120"/>
            <a:ext cx="7863840" cy="0"/>
          </a:xfrm>
          <a:prstGeom prst="line">
            <a:avLst/>
          </a:prstGeom>
          <a:noFill/>
          <a:ln w="12700">
            <a:solidFill>
              <a:schemeClr val="accent6"/>
            </a:solidFill>
            <a:prstDash val="solid"/>
          </a:ln>
        </p:spPr>
        <p:txBody>
          <a:bodyPr/>
          <a:lstStyle/>
          <a:p>
            <a:endParaRPr lang="en-US"/>
          </a:p>
        </p:txBody>
      </p:sp>
      <p:sp>
        <p:nvSpPr>
          <p:cNvPr id="11" name="Text 9"/>
          <p:cNvSpPr txBox="1"/>
          <p:nvPr/>
        </p:nvSpPr>
        <p:spPr>
          <a:xfrm>
            <a:off x="548640" y="2212848"/>
            <a:ext cx="3291840" cy="310896"/>
          </a:xfrm>
          <a:prstGeom prst="rect">
            <a:avLst/>
          </a:prstGeom>
          <a:noFill/>
          <a:ln/>
        </p:spPr>
        <p:txBody>
          <a:bodyPr wrap="square" lIns="0" tIns="0" rIns="0" bIns="0" rtlCol="0" anchor="t"/>
          <a:lstStyle/>
          <a:p>
            <a:pPr marL="0" indent="0">
              <a:buNone/>
            </a:pPr>
            <a:r>
              <a:rPr lang="en-US" sz="1700" b="1" u="sng" dirty="0">
                <a:solidFill>
                  <a:schemeClr val="tx2"/>
                </a:solidFill>
                <a:hlinkClick r:id="rId3" tooltip="https://huggingface.co/datasets/seanghay/km-speech-corpus">
                  <a:extLst>
                    <a:ext uri="{A12FA001-AC4F-418D-AE19-62706E023703}">
                      <ahyp:hlinkClr xmlns:ahyp="http://schemas.microsoft.com/office/drawing/2018/hyperlinkcolor" val="tx"/>
                    </a:ext>
                  </a:extLst>
                </a:hlinkClick>
              </a:rPr>
              <a:t>km-speech-corpus</a:t>
            </a:r>
            <a:endParaRPr lang="en-US" sz="1700" dirty="0"/>
          </a:p>
        </p:txBody>
      </p:sp>
      <p:sp>
        <p:nvSpPr>
          <p:cNvPr id="12" name="Text 10"/>
          <p:cNvSpPr txBox="1"/>
          <p:nvPr/>
        </p:nvSpPr>
        <p:spPr>
          <a:xfrm>
            <a:off x="548640" y="2523744"/>
            <a:ext cx="3657600" cy="256032"/>
          </a:xfrm>
          <a:prstGeom prst="rect">
            <a:avLst/>
          </a:prstGeom>
          <a:noFill/>
          <a:ln/>
        </p:spPr>
        <p:txBody>
          <a:bodyPr wrap="square" lIns="0" tIns="0" rIns="0" bIns="0" rtlCol="0" anchor="t"/>
          <a:lstStyle/>
          <a:p>
            <a:pPr marL="0" indent="0">
              <a:buNone/>
            </a:pPr>
            <a:r>
              <a:rPr lang="en-US" sz="1200" dirty="0">
                <a:solidFill>
                  <a:schemeClr val="accent5"/>
                </a:solidFill>
              </a:rPr>
              <a:t>Read sentences, many speakers</a:t>
            </a:r>
            <a:r>
              <a:rPr lang="en-US" sz="1200" b="1" dirty="0">
                <a:solidFill>
                  <a:schemeClr val="accent3"/>
                </a:solidFill>
              </a:rPr>
              <a:t>   CC-BY-4.0</a:t>
            </a:r>
            <a:endParaRPr lang="en-US" sz="1200" dirty="0"/>
          </a:p>
        </p:txBody>
      </p:sp>
      <p:sp>
        <p:nvSpPr>
          <p:cNvPr id="13" name="Text 11"/>
          <p:cNvSpPr txBox="1"/>
          <p:nvPr/>
        </p:nvSpPr>
        <p:spPr>
          <a:xfrm>
            <a:off x="3931920" y="2322576"/>
            <a:ext cx="1188720" cy="310896"/>
          </a:xfrm>
          <a:prstGeom prst="rect">
            <a:avLst/>
          </a:prstGeom>
          <a:noFill/>
          <a:ln/>
        </p:spPr>
        <p:txBody>
          <a:bodyPr wrap="square" lIns="0" tIns="0" rIns="0" bIns="0" rtlCol="0" anchor="t"/>
          <a:lstStyle/>
          <a:p>
            <a:pPr marL="0" indent="0" algn="r">
              <a:buNone/>
            </a:pPr>
            <a:r>
              <a:rPr lang="en-US" sz="1700" dirty="0">
                <a:solidFill>
                  <a:schemeClr val="tx1"/>
                </a:solidFill>
              </a:rPr>
              <a:t>14,943</a:t>
            </a:r>
            <a:endParaRPr lang="en-US" sz="1700" dirty="0"/>
          </a:p>
        </p:txBody>
      </p:sp>
      <p:sp>
        <p:nvSpPr>
          <p:cNvPr id="14" name="hours bar 1"/>
          <p:cNvSpPr/>
          <p:nvPr/>
        </p:nvSpPr>
        <p:spPr>
          <a:xfrm>
            <a:off x="5440680" y="2368296"/>
            <a:ext cx="2103120" cy="237744"/>
          </a:xfrm>
          <a:prstGeom prst="rect">
            <a:avLst/>
          </a:prstGeom>
          <a:solidFill>
            <a:schemeClr val="tx2"/>
          </a:solidFill>
          <a:ln w="12700">
            <a:solidFill>
              <a:schemeClr val="tx2"/>
            </a:solidFill>
            <a:prstDash val="solid"/>
          </a:ln>
        </p:spPr>
        <p:txBody>
          <a:bodyPr/>
          <a:lstStyle/>
          <a:p>
            <a:endParaRPr lang="en-US"/>
          </a:p>
        </p:txBody>
      </p:sp>
      <p:sp>
        <p:nvSpPr>
          <p:cNvPr id="15" name="Text 13"/>
          <p:cNvSpPr txBox="1"/>
          <p:nvPr/>
        </p:nvSpPr>
        <p:spPr>
          <a:xfrm>
            <a:off x="7653528" y="2304288"/>
            <a:ext cx="868680" cy="365760"/>
          </a:xfrm>
          <a:prstGeom prst="rect">
            <a:avLst/>
          </a:prstGeom>
          <a:noFill/>
          <a:ln/>
        </p:spPr>
        <p:txBody>
          <a:bodyPr wrap="square" lIns="0" tIns="0" rIns="0" bIns="0" rtlCol="0" anchor="ctr"/>
          <a:lstStyle/>
          <a:p>
            <a:pPr marL="0" indent="0">
              <a:buNone/>
            </a:pPr>
            <a:r>
              <a:rPr lang="en-US" sz="1500" dirty="0">
                <a:solidFill>
                  <a:schemeClr val="tx1"/>
                </a:solidFill>
              </a:rPr>
              <a:t>10.41 h</a:t>
            </a:r>
            <a:endParaRPr lang="en-US" sz="1500" dirty="0"/>
          </a:p>
        </p:txBody>
      </p:sp>
      <p:sp>
        <p:nvSpPr>
          <p:cNvPr id="16" name="line"/>
          <p:cNvSpPr/>
          <p:nvPr/>
        </p:nvSpPr>
        <p:spPr>
          <a:xfrm>
            <a:off x="548640" y="2862072"/>
            <a:ext cx="7863840" cy="0"/>
          </a:xfrm>
          <a:prstGeom prst="line">
            <a:avLst/>
          </a:prstGeom>
          <a:noFill/>
          <a:ln w="12700">
            <a:solidFill>
              <a:schemeClr val="accent6"/>
            </a:solidFill>
            <a:prstDash val="solid"/>
          </a:ln>
        </p:spPr>
        <p:txBody>
          <a:bodyPr/>
          <a:lstStyle/>
          <a:p>
            <a:endParaRPr lang="en-US"/>
          </a:p>
        </p:txBody>
      </p:sp>
      <p:sp>
        <p:nvSpPr>
          <p:cNvPr id="17" name="Text 15"/>
          <p:cNvSpPr txBox="1"/>
          <p:nvPr/>
        </p:nvSpPr>
        <p:spPr>
          <a:xfrm>
            <a:off x="548640" y="2971800"/>
            <a:ext cx="3291840" cy="310896"/>
          </a:xfrm>
          <a:prstGeom prst="rect">
            <a:avLst/>
          </a:prstGeom>
          <a:noFill/>
          <a:ln/>
        </p:spPr>
        <p:txBody>
          <a:bodyPr wrap="square" lIns="0" tIns="0" rIns="0" bIns="0" rtlCol="0" anchor="t"/>
          <a:lstStyle/>
          <a:p>
            <a:pPr marL="0" indent="0">
              <a:buNone/>
            </a:pPr>
            <a:r>
              <a:rPr lang="en-US" sz="1700" b="1" u="sng" dirty="0">
                <a:solidFill>
                  <a:schemeClr val="tx2"/>
                </a:solidFill>
                <a:hlinkClick r:id="rId4" tooltip="https://openslr.org/42/">
                  <a:extLst>
                    <a:ext uri="{A12FA001-AC4F-418D-AE19-62706E023703}">
                      <ahyp:hlinkClr xmlns:ahyp="http://schemas.microsoft.com/office/drawing/2018/hyperlinkcolor" val="tx"/>
                    </a:ext>
                  </a:extLst>
                </a:hlinkClick>
              </a:rPr>
              <a:t>OpenSLR 42</a:t>
            </a:r>
            <a:endParaRPr lang="en-US" sz="1700" dirty="0"/>
          </a:p>
        </p:txBody>
      </p:sp>
      <p:sp>
        <p:nvSpPr>
          <p:cNvPr id="18" name="Text 16"/>
          <p:cNvSpPr txBox="1"/>
          <p:nvPr/>
        </p:nvSpPr>
        <p:spPr>
          <a:xfrm>
            <a:off x="548640" y="3282696"/>
            <a:ext cx="3657600" cy="256032"/>
          </a:xfrm>
          <a:prstGeom prst="rect">
            <a:avLst/>
          </a:prstGeom>
          <a:noFill/>
          <a:ln/>
        </p:spPr>
        <p:txBody>
          <a:bodyPr wrap="square" lIns="0" tIns="0" rIns="0" bIns="0" rtlCol="0" anchor="t"/>
          <a:lstStyle/>
          <a:p>
            <a:pPr marL="0" indent="0">
              <a:buNone/>
            </a:pPr>
            <a:r>
              <a:rPr lang="en-US" sz="1200" dirty="0">
                <a:solidFill>
                  <a:schemeClr val="accent5"/>
                </a:solidFill>
              </a:rPr>
              <a:t>Read news, one male speaker</a:t>
            </a:r>
            <a:r>
              <a:rPr lang="en-US" sz="1200" b="1" dirty="0">
                <a:solidFill>
                  <a:schemeClr val="accent3"/>
                </a:solidFill>
              </a:rPr>
              <a:t>   CC-BY-SA-4.0</a:t>
            </a:r>
            <a:endParaRPr lang="en-US" sz="1200" dirty="0"/>
          </a:p>
        </p:txBody>
      </p:sp>
      <p:sp>
        <p:nvSpPr>
          <p:cNvPr id="19" name="Text 17"/>
          <p:cNvSpPr txBox="1"/>
          <p:nvPr/>
        </p:nvSpPr>
        <p:spPr>
          <a:xfrm>
            <a:off x="3931920" y="3081528"/>
            <a:ext cx="1188720" cy="310896"/>
          </a:xfrm>
          <a:prstGeom prst="rect">
            <a:avLst/>
          </a:prstGeom>
          <a:noFill/>
          <a:ln/>
        </p:spPr>
        <p:txBody>
          <a:bodyPr wrap="square" lIns="0" tIns="0" rIns="0" bIns="0" rtlCol="0" anchor="t"/>
          <a:lstStyle/>
          <a:p>
            <a:pPr marL="0" indent="0" algn="r">
              <a:buNone/>
            </a:pPr>
            <a:r>
              <a:rPr lang="en-US" sz="1700" dirty="0">
                <a:solidFill>
                  <a:schemeClr val="tx1"/>
                </a:solidFill>
              </a:rPr>
              <a:t>2,906</a:t>
            </a:r>
            <a:endParaRPr lang="en-US" sz="1700" dirty="0"/>
          </a:p>
        </p:txBody>
      </p:sp>
      <p:sp>
        <p:nvSpPr>
          <p:cNvPr id="20" name="hours bar 2"/>
          <p:cNvSpPr/>
          <p:nvPr/>
        </p:nvSpPr>
        <p:spPr>
          <a:xfrm>
            <a:off x="5440680" y="3127248"/>
            <a:ext cx="802054" cy="237744"/>
          </a:xfrm>
          <a:prstGeom prst="rect">
            <a:avLst/>
          </a:prstGeom>
          <a:solidFill>
            <a:schemeClr val="tx2"/>
          </a:solidFill>
          <a:ln w="12700">
            <a:solidFill>
              <a:schemeClr val="tx2"/>
            </a:solidFill>
            <a:prstDash val="solid"/>
          </a:ln>
        </p:spPr>
        <p:txBody>
          <a:bodyPr/>
          <a:lstStyle/>
          <a:p>
            <a:endParaRPr lang="en-US"/>
          </a:p>
        </p:txBody>
      </p:sp>
      <p:sp>
        <p:nvSpPr>
          <p:cNvPr id="21" name="Text 19"/>
          <p:cNvSpPr txBox="1"/>
          <p:nvPr/>
        </p:nvSpPr>
        <p:spPr>
          <a:xfrm>
            <a:off x="6352462" y="3063240"/>
            <a:ext cx="868680" cy="365760"/>
          </a:xfrm>
          <a:prstGeom prst="rect">
            <a:avLst/>
          </a:prstGeom>
          <a:noFill/>
          <a:ln/>
        </p:spPr>
        <p:txBody>
          <a:bodyPr wrap="square" lIns="0" tIns="0" rIns="0" bIns="0" rtlCol="0" anchor="ctr"/>
          <a:lstStyle/>
          <a:p>
            <a:pPr marL="0" indent="0">
              <a:buNone/>
            </a:pPr>
            <a:r>
              <a:rPr lang="en-US" sz="1500" dirty="0">
                <a:solidFill>
                  <a:schemeClr val="tx1"/>
                </a:solidFill>
              </a:rPr>
              <a:t>3.97 h</a:t>
            </a:r>
            <a:endParaRPr lang="en-US" sz="1500" dirty="0"/>
          </a:p>
        </p:txBody>
      </p:sp>
      <p:sp>
        <p:nvSpPr>
          <p:cNvPr id="22" name="line"/>
          <p:cNvSpPr/>
          <p:nvPr/>
        </p:nvSpPr>
        <p:spPr>
          <a:xfrm>
            <a:off x="548640" y="3621024"/>
            <a:ext cx="7863840" cy="0"/>
          </a:xfrm>
          <a:prstGeom prst="line">
            <a:avLst/>
          </a:prstGeom>
          <a:noFill/>
          <a:ln w="12700">
            <a:solidFill>
              <a:schemeClr val="accent6"/>
            </a:solidFill>
            <a:prstDash val="solid"/>
          </a:ln>
        </p:spPr>
        <p:txBody>
          <a:bodyPr/>
          <a:lstStyle/>
          <a:p>
            <a:endParaRPr lang="en-US"/>
          </a:p>
        </p:txBody>
      </p:sp>
      <p:sp>
        <p:nvSpPr>
          <p:cNvPr id="23" name="Text 21"/>
          <p:cNvSpPr txBox="1"/>
          <p:nvPr/>
        </p:nvSpPr>
        <p:spPr>
          <a:xfrm>
            <a:off x="548640" y="3730752"/>
            <a:ext cx="3291840" cy="310896"/>
          </a:xfrm>
          <a:prstGeom prst="rect">
            <a:avLst/>
          </a:prstGeom>
          <a:noFill/>
          <a:ln/>
        </p:spPr>
        <p:txBody>
          <a:bodyPr wrap="square" lIns="0" tIns="0" rIns="0" bIns="0" rtlCol="0" anchor="t"/>
          <a:lstStyle/>
          <a:p>
            <a:pPr marL="0" indent="0">
              <a:buNone/>
            </a:pPr>
            <a:r>
              <a:rPr lang="en-US" sz="1700" b="1" u="sng" dirty="0">
                <a:solidFill>
                  <a:schemeClr val="tx2"/>
                </a:solidFill>
                <a:hlinkClick r:id="rId5" tooltip="https://huggingface.co/datasets/seanghay/khmer_kheng_info_speech">
                  <a:extLst>
                    <a:ext uri="{A12FA001-AC4F-418D-AE19-62706E023703}">
                      <ahyp:hlinkClr xmlns:ahyp="http://schemas.microsoft.com/office/drawing/2018/hyperlinkcolor" val="tx"/>
                    </a:ext>
                  </a:extLst>
                </a:hlinkClick>
              </a:rPr>
              <a:t>khmer_kheng_info_speech</a:t>
            </a:r>
            <a:endParaRPr lang="en-US" sz="1700" dirty="0"/>
          </a:p>
        </p:txBody>
      </p:sp>
      <p:sp>
        <p:nvSpPr>
          <p:cNvPr id="24" name="Text 22"/>
          <p:cNvSpPr txBox="1"/>
          <p:nvPr/>
        </p:nvSpPr>
        <p:spPr>
          <a:xfrm>
            <a:off x="548640" y="4041648"/>
            <a:ext cx="3657600" cy="256032"/>
          </a:xfrm>
          <a:prstGeom prst="rect">
            <a:avLst/>
          </a:prstGeom>
          <a:noFill/>
          <a:ln/>
        </p:spPr>
        <p:txBody>
          <a:bodyPr wrap="square" lIns="0" tIns="0" rIns="0" bIns="0" rtlCol="0" anchor="t"/>
          <a:lstStyle/>
          <a:p>
            <a:pPr marL="0" indent="0">
              <a:buNone/>
            </a:pPr>
            <a:r>
              <a:rPr lang="en-US" sz="1200" dirty="0">
                <a:solidFill>
                  <a:schemeClr val="accent5"/>
                </a:solidFill>
              </a:rPr>
              <a:t>Single dictionary words</a:t>
            </a:r>
            <a:r>
              <a:rPr lang="en-US" sz="1200" b="1" dirty="0">
                <a:solidFill>
                  <a:schemeClr val="accent4"/>
                </a:solidFill>
              </a:rPr>
              <a:t>   Research only</a:t>
            </a:r>
            <a:endParaRPr lang="en-US" sz="1200" dirty="0"/>
          </a:p>
        </p:txBody>
      </p:sp>
      <p:sp>
        <p:nvSpPr>
          <p:cNvPr id="25" name="Text 23"/>
          <p:cNvSpPr txBox="1"/>
          <p:nvPr/>
        </p:nvSpPr>
        <p:spPr>
          <a:xfrm>
            <a:off x="3931920" y="3840480"/>
            <a:ext cx="1188720" cy="310896"/>
          </a:xfrm>
          <a:prstGeom prst="rect">
            <a:avLst/>
          </a:prstGeom>
          <a:noFill/>
          <a:ln/>
        </p:spPr>
        <p:txBody>
          <a:bodyPr wrap="square" lIns="0" tIns="0" rIns="0" bIns="0" rtlCol="0" anchor="t"/>
          <a:lstStyle/>
          <a:p>
            <a:pPr marL="0" indent="0" algn="r">
              <a:buNone/>
            </a:pPr>
            <a:r>
              <a:rPr lang="en-US" sz="1700" dirty="0">
                <a:solidFill>
                  <a:schemeClr val="tx1"/>
                </a:solidFill>
              </a:rPr>
              <a:t>3,097</a:t>
            </a:r>
            <a:endParaRPr lang="en-US" sz="1700" dirty="0"/>
          </a:p>
        </p:txBody>
      </p:sp>
      <p:sp>
        <p:nvSpPr>
          <p:cNvPr id="26" name="hours bar 3"/>
          <p:cNvSpPr/>
          <p:nvPr/>
        </p:nvSpPr>
        <p:spPr>
          <a:xfrm>
            <a:off x="5440680" y="3886200"/>
            <a:ext cx="294962" cy="237744"/>
          </a:xfrm>
          <a:prstGeom prst="rect">
            <a:avLst/>
          </a:prstGeom>
          <a:solidFill>
            <a:schemeClr val="tx2"/>
          </a:solidFill>
          <a:ln w="12700">
            <a:solidFill>
              <a:schemeClr val="tx2"/>
            </a:solidFill>
            <a:prstDash val="solid"/>
          </a:ln>
        </p:spPr>
        <p:txBody>
          <a:bodyPr/>
          <a:lstStyle/>
          <a:p>
            <a:endParaRPr lang="en-US"/>
          </a:p>
        </p:txBody>
      </p:sp>
      <p:sp>
        <p:nvSpPr>
          <p:cNvPr id="27" name="Text 25"/>
          <p:cNvSpPr txBox="1"/>
          <p:nvPr/>
        </p:nvSpPr>
        <p:spPr>
          <a:xfrm>
            <a:off x="5845370" y="3822192"/>
            <a:ext cx="868680" cy="365760"/>
          </a:xfrm>
          <a:prstGeom prst="rect">
            <a:avLst/>
          </a:prstGeom>
          <a:noFill/>
          <a:ln/>
        </p:spPr>
        <p:txBody>
          <a:bodyPr wrap="square" lIns="0" tIns="0" rIns="0" bIns="0" rtlCol="0" anchor="ctr"/>
          <a:lstStyle/>
          <a:p>
            <a:pPr marL="0" indent="0">
              <a:buNone/>
            </a:pPr>
            <a:r>
              <a:rPr lang="en-US" sz="1500" dirty="0">
                <a:solidFill>
                  <a:schemeClr val="tx1"/>
                </a:solidFill>
              </a:rPr>
              <a:t>1.46 h</a:t>
            </a:r>
            <a:endParaRPr lang="en-US" sz="1500" dirty="0"/>
          </a:p>
        </p:txBody>
      </p:sp>
      <p:sp>
        <p:nvSpPr>
          <p:cNvPr id="28" name="line"/>
          <p:cNvSpPr/>
          <p:nvPr/>
        </p:nvSpPr>
        <p:spPr>
          <a:xfrm>
            <a:off x="548640" y="4379976"/>
            <a:ext cx="7863840" cy="0"/>
          </a:xfrm>
          <a:prstGeom prst="line">
            <a:avLst/>
          </a:prstGeom>
          <a:noFill/>
          <a:ln w="12700">
            <a:solidFill>
              <a:schemeClr val="accent6"/>
            </a:solidFill>
            <a:prstDash val="solid"/>
          </a:ln>
        </p:spPr>
        <p:txBody>
          <a:bodyPr/>
          <a:lstStyle/>
          <a:p>
            <a:endParaRPr lang="en-US"/>
          </a:p>
        </p:txBody>
      </p:sp>
      <p:sp>
        <p:nvSpPr>
          <p:cNvPr id="29" name="Text 27"/>
          <p:cNvSpPr txBox="1"/>
          <p:nvPr/>
        </p:nvSpPr>
        <p:spPr>
          <a:xfrm>
            <a:off x="548640" y="4489704"/>
            <a:ext cx="3291840" cy="310896"/>
          </a:xfrm>
          <a:prstGeom prst="rect">
            <a:avLst/>
          </a:prstGeom>
          <a:noFill/>
          <a:ln/>
        </p:spPr>
        <p:txBody>
          <a:bodyPr wrap="square" lIns="0" tIns="0" rIns="0" bIns="0" rtlCol="0" anchor="t"/>
          <a:lstStyle/>
          <a:p>
            <a:pPr marL="0" indent="0">
              <a:buNone/>
            </a:pPr>
            <a:r>
              <a:rPr lang="en-US" sz="1700" b="1" u="sng" dirty="0">
                <a:solidFill>
                  <a:schemeClr val="tx2"/>
                </a:solidFill>
                <a:hlinkClick r:id="rId6" tooltip="https://huggingface.co/datasets/seanghay/khmer_mpwt_speech">
                  <a:extLst>
                    <a:ext uri="{A12FA001-AC4F-418D-AE19-62706E023703}">
                      <ahyp:hlinkClr xmlns:ahyp="http://schemas.microsoft.com/office/drawing/2018/hyperlinkcolor" val="tx"/>
                    </a:ext>
                  </a:extLst>
                </a:hlinkClick>
              </a:rPr>
              <a:t>khmer_mpwt_speech</a:t>
            </a:r>
            <a:endParaRPr lang="en-US" sz="1700" dirty="0"/>
          </a:p>
        </p:txBody>
      </p:sp>
      <p:sp>
        <p:nvSpPr>
          <p:cNvPr id="30" name="Text 28"/>
          <p:cNvSpPr txBox="1"/>
          <p:nvPr/>
        </p:nvSpPr>
        <p:spPr>
          <a:xfrm>
            <a:off x="548640" y="4800600"/>
            <a:ext cx="3657600" cy="256032"/>
          </a:xfrm>
          <a:prstGeom prst="rect">
            <a:avLst/>
          </a:prstGeom>
          <a:noFill/>
          <a:ln/>
        </p:spPr>
        <p:txBody>
          <a:bodyPr wrap="square" lIns="0" tIns="0" rIns="0" bIns="0" rtlCol="0" anchor="t"/>
          <a:lstStyle/>
          <a:p>
            <a:pPr marL="0" indent="0">
              <a:buNone/>
            </a:pPr>
            <a:r>
              <a:rPr lang="en-US" sz="1200" dirty="0">
                <a:solidFill>
                  <a:schemeClr val="accent5"/>
                </a:solidFill>
              </a:rPr>
              <a:t>Traffic-rule questions</a:t>
            </a:r>
            <a:r>
              <a:rPr lang="en-US" sz="1200" b="1" dirty="0">
                <a:solidFill>
                  <a:schemeClr val="accent4"/>
                </a:solidFill>
              </a:rPr>
              <a:t>   Research only</a:t>
            </a:r>
            <a:endParaRPr lang="en-US" sz="1200" dirty="0"/>
          </a:p>
        </p:txBody>
      </p:sp>
      <p:sp>
        <p:nvSpPr>
          <p:cNvPr id="31" name="Text 29"/>
          <p:cNvSpPr txBox="1"/>
          <p:nvPr/>
        </p:nvSpPr>
        <p:spPr>
          <a:xfrm>
            <a:off x="3931920" y="4599432"/>
            <a:ext cx="1188720" cy="310896"/>
          </a:xfrm>
          <a:prstGeom prst="rect">
            <a:avLst/>
          </a:prstGeom>
          <a:noFill/>
          <a:ln/>
        </p:spPr>
        <p:txBody>
          <a:bodyPr wrap="square" lIns="0" tIns="0" rIns="0" bIns="0" rtlCol="0" anchor="t"/>
          <a:lstStyle/>
          <a:p>
            <a:pPr marL="0" indent="0" algn="r">
              <a:buNone/>
            </a:pPr>
            <a:r>
              <a:rPr lang="en-US" sz="1700" dirty="0">
                <a:solidFill>
                  <a:schemeClr val="tx1"/>
                </a:solidFill>
              </a:rPr>
              <a:t>2,058</a:t>
            </a:r>
            <a:endParaRPr lang="en-US" sz="1700" dirty="0"/>
          </a:p>
        </p:txBody>
      </p:sp>
      <p:sp>
        <p:nvSpPr>
          <p:cNvPr id="32" name="hours bar 4"/>
          <p:cNvSpPr/>
          <p:nvPr/>
        </p:nvSpPr>
        <p:spPr>
          <a:xfrm>
            <a:off x="5440680" y="4645152"/>
            <a:ext cx="383855" cy="237744"/>
          </a:xfrm>
          <a:prstGeom prst="rect">
            <a:avLst/>
          </a:prstGeom>
          <a:solidFill>
            <a:schemeClr val="tx2"/>
          </a:solidFill>
          <a:ln w="12700">
            <a:solidFill>
              <a:schemeClr val="tx2"/>
            </a:solidFill>
            <a:prstDash val="solid"/>
          </a:ln>
        </p:spPr>
        <p:txBody>
          <a:bodyPr/>
          <a:lstStyle/>
          <a:p>
            <a:endParaRPr lang="en-US"/>
          </a:p>
        </p:txBody>
      </p:sp>
      <p:sp>
        <p:nvSpPr>
          <p:cNvPr id="33" name="Text 31"/>
          <p:cNvSpPr txBox="1"/>
          <p:nvPr/>
        </p:nvSpPr>
        <p:spPr>
          <a:xfrm>
            <a:off x="5934263" y="4581144"/>
            <a:ext cx="868680" cy="365760"/>
          </a:xfrm>
          <a:prstGeom prst="rect">
            <a:avLst/>
          </a:prstGeom>
          <a:noFill/>
          <a:ln/>
        </p:spPr>
        <p:txBody>
          <a:bodyPr wrap="square" lIns="0" tIns="0" rIns="0" bIns="0" rtlCol="0" anchor="ctr"/>
          <a:lstStyle/>
          <a:p>
            <a:pPr marL="0" indent="0">
              <a:buNone/>
            </a:pPr>
            <a:r>
              <a:rPr lang="en-US" sz="1500" dirty="0">
                <a:solidFill>
                  <a:schemeClr val="tx1"/>
                </a:solidFill>
              </a:rPr>
              <a:t>1.90 h</a:t>
            </a:r>
            <a:endParaRPr lang="en-US" sz="1500" dirty="0"/>
          </a:p>
        </p:txBody>
      </p:sp>
      <p:sp>
        <p:nvSpPr>
          <p:cNvPr id="34" name="line"/>
          <p:cNvSpPr/>
          <p:nvPr/>
        </p:nvSpPr>
        <p:spPr>
          <a:xfrm>
            <a:off x="548640" y="5138928"/>
            <a:ext cx="7863840" cy="0"/>
          </a:xfrm>
          <a:prstGeom prst="line">
            <a:avLst/>
          </a:prstGeom>
          <a:noFill/>
          <a:ln w="12700">
            <a:solidFill>
              <a:schemeClr val="accent6"/>
            </a:solidFill>
            <a:prstDash val="solid"/>
          </a:ln>
        </p:spPr>
        <p:txBody>
          <a:bodyPr/>
          <a:lstStyle/>
          <a:p>
            <a:endParaRPr lang="en-US"/>
          </a:p>
        </p:txBody>
      </p:sp>
      <p:sp>
        <p:nvSpPr>
          <p:cNvPr id="35" name="Text 33"/>
          <p:cNvSpPr txBox="1"/>
          <p:nvPr/>
        </p:nvSpPr>
        <p:spPr>
          <a:xfrm>
            <a:off x="548640" y="5248656"/>
            <a:ext cx="3291840" cy="310896"/>
          </a:xfrm>
          <a:prstGeom prst="rect">
            <a:avLst/>
          </a:prstGeom>
          <a:noFill/>
          <a:ln/>
        </p:spPr>
        <p:txBody>
          <a:bodyPr wrap="square" lIns="0" tIns="0" rIns="0" bIns="0" rtlCol="0" anchor="t"/>
          <a:lstStyle/>
          <a:p>
            <a:pPr marL="0" indent="0">
              <a:buNone/>
            </a:pPr>
            <a:r>
              <a:rPr lang="en-US" sz="1700" b="1" dirty="0">
                <a:solidFill>
                  <a:schemeClr val="tx2"/>
                </a:solidFill>
              </a:rPr>
              <a:t>RFI Khmer</a:t>
            </a:r>
            <a:endParaRPr lang="en-US" sz="1700" dirty="0"/>
          </a:p>
        </p:txBody>
      </p:sp>
      <p:sp>
        <p:nvSpPr>
          <p:cNvPr id="36" name="Text 34"/>
          <p:cNvSpPr txBox="1"/>
          <p:nvPr/>
        </p:nvSpPr>
        <p:spPr>
          <a:xfrm>
            <a:off x="548640" y="5559552"/>
            <a:ext cx="3657600" cy="256032"/>
          </a:xfrm>
          <a:prstGeom prst="rect">
            <a:avLst/>
          </a:prstGeom>
          <a:noFill/>
          <a:ln/>
        </p:spPr>
        <p:txBody>
          <a:bodyPr wrap="square" lIns="0" tIns="0" rIns="0" bIns="0" rtlCol="0" anchor="t"/>
          <a:lstStyle/>
          <a:p>
            <a:pPr marL="0" indent="0">
              <a:buNone/>
            </a:pPr>
            <a:r>
              <a:rPr lang="en-US" sz="1200" dirty="0">
                <a:solidFill>
                  <a:schemeClr val="accent5"/>
                </a:solidFill>
              </a:rPr>
              <a:t>Radio news we transcribed</a:t>
            </a:r>
            <a:r>
              <a:rPr lang="en-US" sz="1200" b="1" dirty="0">
                <a:solidFill>
                  <a:schemeClr val="accent3"/>
                </a:solidFill>
              </a:rPr>
              <a:t>   Own collection</a:t>
            </a:r>
            <a:endParaRPr lang="en-US" sz="1200" dirty="0"/>
          </a:p>
        </p:txBody>
      </p:sp>
      <p:sp>
        <p:nvSpPr>
          <p:cNvPr id="37" name="Text 35"/>
          <p:cNvSpPr txBox="1"/>
          <p:nvPr/>
        </p:nvSpPr>
        <p:spPr>
          <a:xfrm>
            <a:off x="3931920" y="5358384"/>
            <a:ext cx="1188720" cy="310896"/>
          </a:xfrm>
          <a:prstGeom prst="rect">
            <a:avLst/>
          </a:prstGeom>
          <a:noFill/>
          <a:ln/>
        </p:spPr>
        <p:txBody>
          <a:bodyPr wrap="square" lIns="0" tIns="0" rIns="0" bIns="0" rtlCol="0" anchor="t"/>
          <a:lstStyle/>
          <a:p>
            <a:pPr marL="0" indent="0" algn="r">
              <a:buNone/>
            </a:pPr>
            <a:r>
              <a:rPr lang="en-US" sz="1700" dirty="0">
                <a:solidFill>
                  <a:schemeClr val="tx1"/>
                </a:solidFill>
              </a:rPr>
              <a:t>83</a:t>
            </a:r>
            <a:endParaRPr lang="en-US" sz="1700" dirty="0"/>
          </a:p>
        </p:txBody>
      </p:sp>
      <p:sp>
        <p:nvSpPr>
          <p:cNvPr id="38" name="hours bar 5"/>
          <p:cNvSpPr/>
          <p:nvPr/>
        </p:nvSpPr>
        <p:spPr>
          <a:xfrm>
            <a:off x="5440680" y="5404104"/>
            <a:ext cx="36576" cy="237744"/>
          </a:xfrm>
          <a:prstGeom prst="rect">
            <a:avLst/>
          </a:prstGeom>
          <a:solidFill>
            <a:schemeClr val="tx2"/>
          </a:solidFill>
          <a:ln w="12700">
            <a:solidFill>
              <a:schemeClr val="tx2"/>
            </a:solidFill>
            <a:prstDash val="solid"/>
          </a:ln>
        </p:spPr>
        <p:txBody>
          <a:bodyPr/>
          <a:lstStyle/>
          <a:p>
            <a:endParaRPr lang="en-US"/>
          </a:p>
        </p:txBody>
      </p:sp>
      <p:sp>
        <p:nvSpPr>
          <p:cNvPr id="39" name="Text 37"/>
          <p:cNvSpPr txBox="1"/>
          <p:nvPr/>
        </p:nvSpPr>
        <p:spPr>
          <a:xfrm>
            <a:off x="5586984" y="5340096"/>
            <a:ext cx="868680" cy="365760"/>
          </a:xfrm>
          <a:prstGeom prst="rect">
            <a:avLst/>
          </a:prstGeom>
          <a:noFill/>
          <a:ln/>
        </p:spPr>
        <p:txBody>
          <a:bodyPr wrap="square" lIns="0" tIns="0" rIns="0" bIns="0" rtlCol="0" anchor="ctr"/>
          <a:lstStyle/>
          <a:p>
            <a:pPr marL="0" indent="0">
              <a:buNone/>
            </a:pPr>
            <a:r>
              <a:rPr lang="en-US" sz="1500" dirty="0">
                <a:solidFill>
                  <a:schemeClr val="tx1"/>
                </a:solidFill>
              </a:rPr>
              <a:t>0.11 h</a:t>
            </a:r>
            <a:endParaRPr lang="en-US" sz="1500" dirty="0"/>
          </a:p>
        </p:txBody>
      </p:sp>
      <p:sp>
        <p:nvSpPr>
          <p:cNvPr id="40" name="line"/>
          <p:cNvSpPr/>
          <p:nvPr/>
        </p:nvSpPr>
        <p:spPr>
          <a:xfrm>
            <a:off x="548640" y="5897880"/>
            <a:ext cx="7863840" cy="0"/>
          </a:xfrm>
          <a:prstGeom prst="line">
            <a:avLst/>
          </a:prstGeom>
          <a:noFill/>
          <a:ln w="12700">
            <a:solidFill>
              <a:schemeClr val="accent6"/>
            </a:solidFill>
            <a:prstDash val="solid"/>
          </a:ln>
        </p:spPr>
        <p:txBody>
          <a:bodyPr/>
          <a:lstStyle/>
          <a:p>
            <a:endParaRPr lang="en-US"/>
          </a:p>
        </p:txBody>
      </p:sp>
      <p:sp>
        <p:nvSpPr>
          <p:cNvPr id="41" name="Text 39"/>
          <p:cNvSpPr txBox="1"/>
          <p:nvPr/>
        </p:nvSpPr>
        <p:spPr>
          <a:xfrm>
            <a:off x="548640" y="5961888"/>
            <a:ext cx="7863840" cy="274320"/>
          </a:xfrm>
          <a:prstGeom prst="rect">
            <a:avLst/>
          </a:prstGeom>
          <a:noFill/>
          <a:ln/>
        </p:spPr>
        <p:txBody>
          <a:bodyPr wrap="square" lIns="0" tIns="0" rIns="0" bIns="0" rtlCol="0" anchor="t"/>
          <a:lstStyle/>
          <a:p>
            <a:pPr marL="0" indent="0">
              <a:buNone/>
            </a:pPr>
            <a:r>
              <a:rPr lang="en-US" sz="1200" i="1" dirty="0">
                <a:solidFill>
                  <a:schemeClr val="accent5"/>
                </a:solidFill>
              </a:rPr>
              <a:t>Two sources are research-use only, so the dataset stays private. Names link to each source (see References).</a:t>
            </a:r>
            <a:endParaRPr lang="en-US" sz="1200" dirty="0"/>
          </a:p>
        </p:txBody>
      </p:sp>
      <p:sp>
        <p:nvSpPr>
          <p:cNvPr id="43" name="totals panel"/>
          <p:cNvSpPr/>
          <p:nvPr/>
        </p:nvSpPr>
        <p:spPr>
          <a:xfrm>
            <a:off x="8823960" y="1783080"/>
            <a:ext cx="2816352" cy="4114800"/>
          </a:xfrm>
          <a:prstGeom prst="roundRect">
            <a:avLst>
              <a:gd name="adj" fmla="val 2597"/>
            </a:avLst>
          </a:prstGeom>
          <a:solidFill>
            <a:schemeClr val="bg2"/>
          </a:solidFill>
          <a:ln w="12700">
            <a:solidFill>
              <a:schemeClr val="bg2"/>
            </a:solidFill>
            <a:prstDash val="solid"/>
          </a:ln>
        </p:spPr>
        <p:txBody>
          <a:bodyPr/>
          <a:lstStyle/>
          <a:p>
            <a:endParaRPr lang="en-US"/>
          </a:p>
        </p:txBody>
      </p:sp>
      <p:sp>
        <p:nvSpPr>
          <p:cNvPr id="44" name="Text 41"/>
          <p:cNvSpPr txBox="1"/>
          <p:nvPr/>
        </p:nvSpPr>
        <p:spPr>
          <a:xfrm>
            <a:off x="9098280" y="2011680"/>
            <a:ext cx="2377440" cy="274320"/>
          </a:xfrm>
          <a:prstGeom prst="rect">
            <a:avLst/>
          </a:prstGeom>
          <a:noFill/>
          <a:ln/>
        </p:spPr>
        <p:txBody>
          <a:bodyPr wrap="square" lIns="0" tIns="0" rIns="0" bIns="0" rtlCol="0" anchor="t"/>
          <a:lstStyle/>
          <a:p>
            <a:pPr marL="0" indent="0">
              <a:buNone/>
            </a:pPr>
            <a:r>
              <a:rPr lang="en-US" sz="1400" b="1" dirty="0">
                <a:solidFill>
                  <a:schemeClr val="accent5"/>
                </a:solidFill>
              </a:rPr>
              <a:t>Total assembled</a:t>
            </a:r>
            <a:endParaRPr lang="en-US" sz="1400" dirty="0"/>
          </a:p>
        </p:txBody>
      </p:sp>
      <p:sp>
        <p:nvSpPr>
          <p:cNvPr id="45" name="Text 42"/>
          <p:cNvSpPr txBox="1"/>
          <p:nvPr/>
        </p:nvSpPr>
        <p:spPr>
          <a:xfrm>
            <a:off x="9098280" y="2286000"/>
            <a:ext cx="2377440" cy="658368"/>
          </a:xfrm>
          <a:prstGeom prst="rect">
            <a:avLst/>
          </a:prstGeom>
          <a:noFill/>
          <a:ln/>
        </p:spPr>
        <p:txBody>
          <a:bodyPr wrap="square" lIns="0" tIns="0" rIns="0" bIns="0" rtlCol="0" anchor="t"/>
          <a:lstStyle/>
          <a:p>
            <a:pPr marL="0" indent="0">
              <a:buNone/>
            </a:pPr>
            <a:r>
              <a:rPr lang="en-US" sz="4000" b="1" dirty="0">
                <a:solidFill>
                  <a:schemeClr val="accent5"/>
                </a:solidFill>
              </a:rPr>
              <a:t>17.85 h</a:t>
            </a:r>
            <a:endParaRPr lang="en-US" sz="4000" dirty="0"/>
          </a:p>
        </p:txBody>
      </p:sp>
      <p:sp>
        <p:nvSpPr>
          <p:cNvPr id="46" name="Text 43"/>
          <p:cNvSpPr txBox="1"/>
          <p:nvPr/>
        </p:nvSpPr>
        <p:spPr>
          <a:xfrm>
            <a:off x="9098280" y="2944368"/>
            <a:ext cx="2286000" cy="274320"/>
          </a:xfrm>
          <a:prstGeom prst="rect">
            <a:avLst/>
          </a:prstGeom>
          <a:noFill/>
          <a:ln/>
        </p:spPr>
        <p:txBody>
          <a:bodyPr wrap="square" lIns="0" tIns="0" rIns="0" bIns="0" rtlCol="0" anchor="t"/>
          <a:lstStyle/>
          <a:p>
            <a:pPr marL="0" indent="0">
              <a:buNone/>
            </a:pPr>
            <a:r>
              <a:rPr lang="en-US" sz="1500" dirty="0">
                <a:solidFill>
                  <a:schemeClr val="tx1"/>
                </a:solidFill>
              </a:rPr>
              <a:t>23,087 clips</a:t>
            </a:r>
            <a:endParaRPr lang="en-US" sz="1500" dirty="0"/>
          </a:p>
        </p:txBody>
      </p:sp>
      <p:sp>
        <p:nvSpPr>
          <p:cNvPr id="47" name="assembled bar"/>
          <p:cNvSpPr/>
          <p:nvPr/>
        </p:nvSpPr>
        <p:spPr>
          <a:xfrm>
            <a:off x="9098280" y="3456432"/>
            <a:ext cx="2267712" cy="201168"/>
          </a:xfrm>
          <a:prstGeom prst="rect">
            <a:avLst/>
          </a:prstGeom>
          <a:solidFill>
            <a:schemeClr val="accent6"/>
          </a:solidFill>
          <a:ln w="12700">
            <a:solidFill>
              <a:schemeClr val="accent6"/>
            </a:solidFill>
            <a:prstDash val="solid"/>
          </a:ln>
        </p:spPr>
        <p:txBody>
          <a:bodyPr/>
          <a:lstStyle/>
          <a:p>
            <a:endParaRPr lang="en-US"/>
          </a:p>
        </p:txBody>
      </p:sp>
      <p:sp>
        <p:nvSpPr>
          <p:cNvPr id="48" name="training share"/>
          <p:cNvSpPr/>
          <p:nvPr/>
        </p:nvSpPr>
        <p:spPr>
          <a:xfrm>
            <a:off x="9098280" y="3456432"/>
            <a:ext cx="2031413" cy="201168"/>
          </a:xfrm>
          <a:prstGeom prst="rect">
            <a:avLst/>
          </a:prstGeom>
          <a:solidFill>
            <a:schemeClr val="tx2"/>
          </a:solidFill>
          <a:ln w="12700">
            <a:solidFill>
              <a:schemeClr val="tx2"/>
            </a:solidFill>
            <a:prstDash val="solid"/>
          </a:ln>
        </p:spPr>
        <p:txBody>
          <a:bodyPr/>
          <a:lstStyle/>
          <a:p>
            <a:endParaRPr lang="en-US"/>
          </a:p>
        </p:txBody>
      </p:sp>
      <p:sp>
        <p:nvSpPr>
          <p:cNvPr id="49" name="Text 46"/>
          <p:cNvSpPr txBox="1"/>
          <p:nvPr/>
        </p:nvSpPr>
        <p:spPr>
          <a:xfrm>
            <a:off x="9098280" y="3886200"/>
            <a:ext cx="2377440" cy="274320"/>
          </a:xfrm>
          <a:prstGeom prst="rect">
            <a:avLst/>
          </a:prstGeom>
          <a:noFill/>
          <a:ln/>
        </p:spPr>
        <p:txBody>
          <a:bodyPr wrap="square" lIns="0" tIns="0" rIns="0" bIns="0" rtlCol="0" anchor="t"/>
          <a:lstStyle/>
          <a:p>
            <a:pPr marL="0" indent="0">
              <a:buNone/>
            </a:pPr>
            <a:r>
              <a:rPr lang="en-US" sz="1400" b="1" dirty="0">
                <a:solidFill>
                  <a:schemeClr val="tx2"/>
                </a:solidFill>
              </a:rPr>
              <a:t>Actually used for training</a:t>
            </a:r>
            <a:endParaRPr lang="en-US" sz="1400" dirty="0"/>
          </a:p>
        </p:txBody>
      </p:sp>
      <p:sp>
        <p:nvSpPr>
          <p:cNvPr id="50" name="Text 47"/>
          <p:cNvSpPr txBox="1"/>
          <p:nvPr/>
        </p:nvSpPr>
        <p:spPr>
          <a:xfrm>
            <a:off x="9098280" y="4160520"/>
            <a:ext cx="2377440" cy="658368"/>
          </a:xfrm>
          <a:prstGeom prst="rect">
            <a:avLst/>
          </a:prstGeom>
          <a:noFill/>
          <a:ln/>
        </p:spPr>
        <p:txBody>
          <a:bodyPr wrap="square" lIns="0" tIns="0" rIns="0" bIns="0" rtlCol="0" anchor="t"/>
          <a:lstStyle/>
          <a:p>
            <a:pPr marL="0" indent="0">
              <a:buNone/>
            </a:pPr>
            <a:r>
              <a:rPr lang="en-US" sz="4000" b="1" dirty="0">
                <a:solidFill>
                  <a:schemeClr val="tx2"/>
                </a:solidFill>
              </a:rPr>
              <a:t>15.99 h</a:t>
            </a:r>
            <a:endParaRPr lang="en-US" sz="4000" dirty="0"/>
          </a:p>
        </p:txBody>
      </p:sp>
      <p:sp>
        <p:nvSpPr>
          <p:cNvPr id="51" name="Text 48"/>
          <p:cNvSpPr txBox="1"/>
          <p:nvPr/>
        </p:nvSpPr>
        <p:spPr>
          <a:xfrm>
            <a:off x="9098280" y="4818888"/>
            <a:ext cx="2377440" cy="274320"/>
          </a:xfrm>
          <a:prstGeom prst="rect">
            <a:avLst/>
          </a:prstGeom>
          <a:noFill/>
          <a:ln/>
        </p:spPr>
        <p:txBody>
          <a:bodyPr wrap="square" lIns="0" tIns="0" rIns="0" bIns="0" rtlCol="0" anchor="t"/>
          <a:lstStyle/>
          <a:p>
            <a:pPr marL="0" indent="0">
              <a:buNone/>
            </a:pPr>
            <a:r>
              <a:rPr lang="en-US" sz="1500" dirty="0">
                <a:solidFill>
                  <a:schemeClr val="tx1"/>
                </a:solidFill>
              </a:rPr>
              <a:t>20,758 clips (train split)</a:t>
            </a:r>
            <a:endParaRPr lang="en-US" sz="1500" dirty="0"/>
          </a:p>
        </p:txBody>
      </p:sp>
      <p:sp>
        <p:nvSpPr>
          <p:cNvPr id="52" name="Text 49"/>
          <p:cNvSpPr txBox="1"/>
          <p:nvPr/>
        </p:nvSpPr>
        <p:spPr>
          <a:xfrm>
            <a:off x="9098280" y="5166360"/>
            <a:ext cx="2377440" cy="548640"/>
          </a:xfrm>
          <a:prstGeom prst="rect">
            <a:avLst/>
          </a:prstGeom>
          <a:noFill/>
          <a:ln/>
        </p:spPr>
        <p:txBody>
          <a:bodyPr wrap="square" lIns="0" tIns="0" rIns="0" bIns="0" rtlCol="0" anchor="t"/>
          <a:lstStyle/>
          <a:p>
            <a:pPr marL="0" indent="0">
              <a:buNone/>
            </a:pPr>
            <a:r>
              <a:rPr lang="en-US" sz="1200" dirty="0">
                <a:solidFill>
                  <a:schemeClr val="accent5"/>
                </a:solidFill>
              </a:rPr>
              <a:t>The rest becomes the validation and test splits (section 5).</a:t>
            </a:r>
            <a:endParaRPr lang="en-US" sz="1200" dirty="0"/>
          </a:p>
        </p:txBody>
      </p:sp>
      <p:sp>
        <p:nvSpPr>
          <p:cNvPr id="42"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b="1" dirty="0">
                <a:solidFill>
                  <a:schemeClr val="accent3"/>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the model we train on these splits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05</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5. Data preparation and splits</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Clean the data, then split it </a:t>
            </a:r>
            <a:r>
              <a:rPr lang="en-US" sz="3200" b="1" dirty="0">
                <a:solidFill>
                  <a:schemeClr val="accent3"/>
                </a:solidFill>
                <a:latin typeface="Calibri" pitchFamily="34" charset="0"/>
                <a:ea typeface="Calibri" pitchFamily="34" charset="-122"/>
                <a:cs typeface="Calibri" pitchFamily="34" charset="-120"/>
              </a:rPr>
              <a:t>without leakage</a:t>
            </a:r>
            <a:endParaRPr lang="en-US" sz="3200" dirty="0"/>
          </a:p>
        </p:txBody>
      </p:sp>
      <p:sp>
        <p:nvSpPr>
          <p:cNvPr id="7" name="Combine step"/>
          <p:cNvSpPr/>
          <p:nvPr/>
        </p:nvSpPr>
        <p:spPr>
          <a:xfrm>
            <a:off x="548640" y="1783080"/>
            <a:ext cx="1737360" cy="2011680"/>
          </a:xfrm>
          <a:prstGeom prst="roundRect">
            <a:avLst>
              <a:gd name="adj" fmla="val 4211"/>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685800" y="1874520"/>
            <a:ext cx="365760" cy="365760"/>
          </a:xfrm>
          <a:prstGeom prst="rect">
            <a:avLst/>
          </a:prstGeom>
          <a:noFill/>
          <a:ln/>
        </p:spPr>
        <p:txBody>
          <a:bodyPr wrap="square" lIns="0" tIns="0" rIns="0" bIns="0" rtlCol="0" anchor="t"/>
          <a:lstStyle/>
          <a:p>
            <a:pPr marL="0" indent="0">
              <a:buNone/>
            </a:pPr>
            <a:r>
              <a:rPr lang="en-US" sz="2000" b="1" dirty="0">
                <a:solidFill>
                  <a:schemeClr val="accent2"/>
                </a:solidFill>
              </a:rPr>
              <a:t>1</a:t>
            </a:r>
            <a:endParaRPr lang="en-US" sz="2000" dirty="0"/>
          </a:p>
        </p:txBody>
      </p:sp>
      <p:sp>
        <p:nvSpPr>
          <p:cNvPr id="9" name="Text 7"/>
          <p:cNvSpPr txBox="1"/>
          <p:nvPr/>
        </p:nvSpPr>
        <p:spPr>
          <a:xfrm>
            <a:off x="1005840" y="1892808"/>
            <a:ext cx="1188720" cy="329184"/>
          </a:xfrm>
          <a:prstGeom prst="rect">
            <a:avLst/>
          </a:prstGeom>
          <a:noFill/>
          <a:ln/>
        </p:spPr>
        <p:txBody>
          <a:bodyPr wrap="square" lIns="0" tIns="0" rIns="0" bIns="0" rtlCol="0" anchor="ctr"/>
          <a:lstStyle/>
          <a:p>
            <a:pPr marL="0" indent="0">
              <a:buNone/>
            </a:pPr>
            <a:r>
              <a:rPr lang="en-US" sz="1500" b="1" dirty="0">
                <a:solidFill>
                  <a:schemeClr val="tx2"/>
                </a:solidFill>
              </a:rPr>
              <a:t>Combine</a:t>
            </a:r>
            <a:endParaRPr lang="en-US" sz="1500" dirty="0"/>
          </a:p>
        </p:txBody>
      </p:sp>
      <p:sp>
        <p:nvSpPr>
          <p:cNvPr id="10" name="Text 8"/>
          <p:cNvSpPr txBox="1"/>
          <p:nvPr/>
        </p:nvSpPr>
        <p:spPr>
          <a:xfrm>
            <a:off x="685800" y="2286000"/>
            <a:ext cx="1508760" cy="411480"/>
          </a:xfrm>
          <a:prstGeom prst="rect">
            <a:avLst/>
          </a:prstGeom>
          <a:noFill/>
          <a:ln/>
        </p:spPr>
        <p:txBody>
          <a:bodyPr wrap="square" lIns="0" tIns="0" rIns="0" bIns="0" rtlCol="0" anchor="t"/>
          <a:lstStyle/>
          <a:p>
            <a:pPr marL="0" indent="0">
              <a:buNone/>
            </a:pPr>
            <a:r>
              <a:rPr lang="en-US" sz="1200" i="1" dirty="0">
                <a:solidFill>
                  <a:schemeClr val="accent5"/>
                </a:solidFill>
              </a:rPr>
              <a:t>Gather all the speech</a:t>
            </a:r>
            <a:endParaRPr lang="en-US" sz="1200" dirty="0"/>
          </a:p>
        </p:txBody>
      </p:sp>
      <p:sp>
        <p:nvSpPr>
          <p:cNvPr id="11" name="Text 9"/>
          <p:cNvSpPr txBox="1"/>
          <p:nvPr/>
        </p:nvSpPr>
        <p:spPr>
          <a:xfrm>
            <a:off x="685800" y="2743200"/>
            <a:ext cx="1554480" cy="10058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5 sources</a:t>
            </a:r>
            <a:endParaRPr lang="en-US" sz="1200" dirty="0"/>
          </a:p>
          <a:p>
            <a:pPr marL="152400" indent="-152400">
              <a:spcAft>
                <a:spcPts val="300"/>
              </a:spcAft>
              <a:buSzPct val="100000"/>
              <a:buChar char="•"/>
            </a:pPr>
            <a:r>
              <a:rPr lang="en-US" sz="1200" dirty="0">
                <a:solidFill>
                  <a:schemeClr val="tx1"/>
                </a:solidFill>
              </a:rPr>
              <a:t>23,087 clips, 17.85 h</a:t>
            </a:r>
            <a:endParaRPr lang="en-US" sz="1200" dirty="0"/>
          </a:p>
        </p:txBody>
      </p:sp>
      <p:sp>
        <p:nvSpPr>
          <p:cNvPr id="12" name="arrow"/>
          <p:cNvSpPr/>
          <p:nvPr/>
        </p:nvSpPr>
        <p:spPr>
          <a:xfrm>
            <a:off x="2331720" y="2788920"/>
            <a:ext cx="274320" cy="0"/>
          </a:xfrm>
          <a:prstGeom prst="line">
            <a:avLst/>
          </a:prstGeom>
          <a:noFill/>
          <a:ln w="19050">
            <a:solidFill>
              <a:schemeClr val="accent5"/>
            </a:solidFill>
            <a:prstDash val="solid"/>
            <a:tailEnd type="triangle"/>
          </a:ln>
        </p:spPr>
        <p:txBody>
          <a:bodyPr/>
          <a:lstStyle/>
          <a:p>
            <a:endParaRPr lang="en-US"/>
          </a:p>
        </p:txBody>
      </p:sp>
      <p:sp>
        <p:nvSpPr>
          <p:cNvPr id="13" name="Clean audio step"/>
          <p:cNvSpPr/>
          <p:nvPr/>
        </p:nvSpPr>
        <p:spPr>
          <a:xfrm>
            <a:off x="2651760" y="1783080"/>
            <a:ext cx="1737360" cy="2011680"/>
          </a:xfrm>
          <a:prstGeom prst="roundRect">
            <a:avLst>
              <a:gd name="adj" fmla="val 4211"/>
            </a:avLst>
          </a:prstGeom>
          <a:solidFill>
            <a:schemeClr val="bg1"/>
          </a:solidFill>
          <a:ln w="15875">
            <a:solidFill>
              <a:schemeClr val="accent6"/>
            </a:solidFill>
            <a:prstDash val="solid"/>
          </a:ln>
        </p:spPr>
        <p:txBody>
          <a:bodyPr/>
          <a:lstStyle/>
          <a:p>
            <a:endParaRPr lang="en-US"/>
          </a:p>
        </p:txBody>
      </p:sp>
      <p:sp>
        <p:nvSpPr>
          <p:cNvPr id="14" name="Text 12"/>
          <p:cNvSpPr txBox="1"/>
          <p:nvPr/>
        </p:nvSpPr>
        <p:spPr>
          <a:xfrm>
            <a:off x="2788920" y="1874520"/>
            <a:ext cx="365760" cy="365760"/>
          </a:xfrm>
          <a:prstGeom prst="rect">
            <a:avLst/>
          </a:prstGeom>
          <a:noFill/>
          <a:ln/>
        </p:spPr>
        <p:txBody>
          <a:bodyPr wrap="square" lIns="0" tIns="0" rIns="0" bIns="0" rtlCol="0" anchor="t"/>
          <a:lstStyle/>
          <a:p>
            <a:pPr marL="0" indent="0">
              <a:buNone/>
            </a:pPr>
            <a:r>
              <a:rPr lang="en-US" sz="2000" b="1" dirty="0">
                <a:solidFill>
                  <a:schemeClr val="accent2"/>
                </a:solidFill>
              </a:rPr>
              <a:t>2</a:t>
            </a:r>
            <a:endParaRPr lang="en-US" sz="2000" dirty="0"/>
          </a:p>
        </p:txBody>
      </p:sp>
      <p:sp>
        <p:nvSpPr>
          <p:cNvPr id="15" name="Text 13"/>
          <p:cNvSpPr txBox="1"/>
          <p:nvPr/>
        </p:nvSpPr>
        <p:spPr>
          <a:xfrm>
            <a:off x="3108960" y="1892808"/>
            <a:ext cx="1188720" cy="329184"/>
          </a:xfrm>
          <a:prstGeom prst="rect">
            <a:avLst/>
          </a:prstGeom>
          <a:noFill/>
          <a:ln/>
        </p:spPr>
        <p:txBody>
          <a:bodyPr wrap="square" lIns="0" tIns="0" rIns="0" bIns="0" rtlCol="0" anchor="ctr"/>
          <a:lstStyle/>
          <a:p>
            <a:pPr marL="0" indent="0">
              <a:buNone/>
            </a:pPr>
            <a:r>
              <a:rPr lang="en-US" sz="1500" b="1" dirty="0">
                <a:solidFill>
                  <a:schemeClr val="tx2"/>
                </a:solidFill>
              </a:rPr>
              <a:t>Clean audio</a:t>
            </a:r>
            <a:endParaRPr lang="en-US" sz="1500" dirty="0"/>
          </a:p>
        </p:txBody>
      </p:sp>
      <p:sp>
        <p:nvSpPr>
          <p:cNvPr id="16" name="Text 14"/>
          <p:cNvSpPr txBox="1"/>
          <p:nvPr/>
        </p:nvSpPr>
        <p:spPr>
          <a:xfrm>
            <a:off x="2788920" y="2286000"/>
            <a:ext cx="1508760" cy="411480"/>
          </a:xfrm>
          <a:prstGeom prst="rect">
            <a:avLst/>
          </a:prstGeom>
          <a:noFill/>
          <a:ln/>
        </p:spPr>
        <p:txBody>
          <a:bodyPr wrap="square" lIns="0" tIns="0" rIns="0" bIns="0" rtlCol="0" anchor="t"/>
          <a:lstStyle/>
          <a:p>
            <a:pPr marL="0" indent="0">
              <a:buNone/>
            </a:pPr>
            <a:r>
              <a:rPr lang="en-US" sz="1200" i="1" dirty="0">
                <a:solidFill>
                  <a:schemeClr val="accent5"/>
                </a:solidFill>
              </a:rPr>
              <a:t>Same format for every clip</a:t>
            </a:r>
            <a:endParaRPr lang="en-US" sz="1200" dirty="0"/>
          </a:p>
        </p:txBody>
      </p:sp>
      <p:sp>
        <p:nvSpPr>
          <p:cNvPr id="17" name="Text 15"/>
          <p:cNvSpPr txBox="1"/>
          <p:nvPr/>
        </p:nvSpPr>
        <p:spPr>
          <a:xfrm>
            <a:off x="2788920" y="2743200"/>
            <a:ext cx="1554480" cy="10058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16 kHz, mono (what Whisper expects)</a:t>
            </a:r>
            <a:endParaRPr lang="en-US" sz="1200" dirty="0"/>
          </a:p>
          <a:p>
            <a:pPr marL="152400" indent="-152400">
              <a:spcAft>
                <a:spcPts val="300"/>
              </a:spcAft>
              <a:buSzPct val="100000"/>
              <a:buChar char="•"/>
            </a:pPr>
            <a:r>
              <a:rPr lang="en-US" sz="1200" dirty="0">
                <a:solidFill>
                  <a:schemeClr val="tx1"/>
                </a:solidFill>
              </a:rPr>
              <a:t>Keep clips of 0.3–30 s</a:t>
            </a:r>
            <a:endParaRPr lang="en-US" sz="1200" dirty="0"/>
          </a:p>
        </p:txBody>
      </p:sp>
      <p:sp>
        <p:nvSpPr>
          <p:cNvPr id="18" name="arrow"/>
          <p:cNvSpPr/>
          <p:nvPr/>
        </p:nvSpPr>
        <p:spPr>
          <a:xfrm>
            <a:off x="4434840" y="2788920"/>
            <a:ext cx="274320" cy="0"/>
          </a:xfrm>
          <a:prstGeom prst="line">
            <a:avLst/>
          </a:prstGeom>
          <a:noFill/>
          <a:ln w="19050">
            <a:solidFill>
              <a:schemeClr val="accent5"/>
            </a:solidFill>
            <a:prstDash val="solid"/>
            <a:tailEnd type="triangle"/>
          </a:ln>
        </p:spPr>
        <p:txBody>
          <a:bodyPr/>
          <a:lstStyle/>
          <a:p>
            <a:endParaRPr lang="en-US"/>
          </a:p>
        </p:txBody>
      </p:sp>
      <p:sp>
        <p:nvSpPr>
          <p:cNvPr id="19" name="Clean text step"/>
          <p:cNvSpPr/>
          <p:nvPr/>
        </p:nvSpPr>
        <p:spPr>
          <a:xfrm>
            <a:off x="4754880" y="1783080"/>
            <a:ext cx="1737360" cy="2011680"/>
          </a:xfrm>
          <a:prstGeom prst="roundRect">
            <a:avLst>
              <a:gd name="adj" fmla="val 4211"/>
            </a:avLst>
          </a:prstGeom>
          <a:solidFill>
            <a:schemeClr val="bg1"/>
          </a:solidFill>
          <a:ln w="15875">
            <a:solidFill>
              <a:schemeClr val="accent6"/>
            </a:solidFill>
            <a:prstDash val="solid"/>
          </a:ln>
        </p:spPr>
        <p:txBody>
          <a:bodyPr/>
          <a:lstStyle/>
          <a:p>
            <a:endParaRPr lang="en-US"/>
          </a:p>
        </p:txBody>
      </p:sp>
      <p:sp>
        <p:nvSpPr>
          <p:cNvPr id="20" name="Text 18"/>
          <p:cNvSpPr txBox="1"/>
          <p:nvPr/>
        </p:nvSpPr>
        <p:spPr>
          <a:xfrm>
            <a:off x="4892040" y="1874520"/>
            <a:ext cx="365760" cy="365760"/>
          </a:xfrm>
          <a:prstGeom prst="rect">
            <a:avLst/>
          </a:prstGeom>
          <a:noFill/>
          <a:ln/>
        </p:spPr>
        <p:txBody>
          <a:bodyPr wrap="square" lIns="0" tIns="0" rIns="0" bIns="0" rtlCol="0" anchor="t"/>
          <a:lstStyle/>
          <a:p>
            <a:pPr marL="0" indent="0">
              <a:buNone/>
            </a:pPr>
            <a:r>
              <a:rPr lang="en-US" sz="2000" b="1" dirty="0">
                <a:solidFill>
                  <a:schemeClr val="accent2"/>
                </a:solidFill>
              </a:rPr>
              <a:t>3</a:t>
            </a:r>
            <a:endParaRPr lang="en-US" sz="2000" dirty="0"/>
          </a:p>
        </p:txBody>
      </p:sp>
      <p:sp>
        <p:nvSpPr>
          <p:cNvPr id="21" name="Text 19"/>
          <p:cNvSpPr txBox="1"/>
          <p:nvPr/>
        </p:nvSpPr>
        <p:spPr>
          <a:xfrm>
            <a:off x="5212080" y="1892808"/>
            <a:ext cx="1188720" cy="329184"/>
          </a:xfrm>
          <a:prstGeom prst="rect">
            <a:avLst/>
          </a:prstGeom>
          <a:noFill/>
          <a:ln/>
        </p:spPr>
        <p:txBody>
          <a:bodyPr wrap="square" lIns="0" tIns="0" rIns="0" bIns="0" rtlCol="0" anchor="ctr"/>
          <a:lstStyle/>
          <a:p>
            <a:pPr marL="0" indent="0">
              <a:buNone/>
            </a:pPr>
            <a:r>
              <a:rPr lang="en-US" sz="1500" b="1" dirty="0">
                <a:solidFill>
                  <a:schemeClr val="tx2"/>
                </a:solidFill>
              </a:rPr>
              <a:t>Clean text</a:t>
            </a:r>
            <a:endParaRPr lang="en-US" sz="1500" dirty="0"/>
          </a:p>
        </p:txBody>
      </p:sp>
      <p:sp>
        <p:nvSpPr>
          <p:cNvPr id="22" name="Text 20"/>
          <p:cNvSpPr txBox="1"/>
          <p:nvPr/>
        </p:nvSpPr>
        <p:spPr>
          <a:xfrm>
            <a:off x="4892040" y="2286000"/>
            <a:ext cx="1508760" cy="411480"/>
          </a:xfrm>
          <a:prstGeom prst="rect">
            <a:avLst/>
          </a:prstGeom>
          <a:noFill/>
          <a:ln/>
        </p:spPr>
        <p:txBody>
          <a:bodyPr wrap="square" lIns="0" tIns="0" rIns="0" bIns="0" rtlCol="0" anchor="t"/>
          <a:lstStyle/>
          <a:p>
            <a:pPr marL="0" indent="0">
              <a:buNone/>
            </a:pPr>
            <a:r>
              <a:rPr lang="en-US" sz="1200" i="1" dirty="0">
                <a:solidFill>
                  <a:schemeClr val="accent5"/>
                </a:solidFill>
              </a:rPr>
              <a:t>Same writing style in every label</a:t>
            </a:r>
            <a:endParaRPr lang="en-US" sz="1200" dirty="0"/>
          </a:p>
        </p:txBody>
      </p:sp>
      <p:sp>
        <p:nvSpPr>
          <p:cNvPr id="23" name="Text 21"/>
          <p:cNvSpPr txBox="1"/>
          <p:nvPr/>
        </p:nvSpPr>
        <p:spPr>
          <a:xfrm>
            <a:off x="4892040" y="2743200"/>
            <a:ext cx="1554480" cy="10058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Remove invisible characters</a:t>
            </a:r>
            <a:endParaRPr lang="en-US" sz="1200" dirty="0"/>
          </a:p>
          <a:p>
            <a:pPr marL="152400" indent="-152400">
              <a:spcAft>
                <a:spcPts val="300"/>
              </a:spcAft>
              <a:buSzPct val="100000"/>
              <a:buChar char="•"/>
            </a:pPr>
            <a:r>
              <a:rPr lang="en-US" sz="1200" dirty="0">
                <a:solidFill>
                  <a:schemeClr val="tx1"/>
                </a:solidFill>
              </a:rPr>
              <a:t>One spacing style</a:t>
            </a:r>
            <a:endParaRPr lang="en-US" sz="1200" dirty="0"/>
          </a:p>
          <a:p>
            <a:pPr marL="152400" indent="-152400">
              <a:spcAft>
                <a:spcPts val="300"/>
              </a:spcAft>
              <a:buSzPct val="100000"/>
              <a:buChar char="•"/>
            </a:pPr>
            <a:r>
              <a:rPr lang="en-US" sz="1200" dirty="0">
                <a:solidFill>
                  <a:schemeClr val="tx1"/>
                </a:solidFill>
              </a:rPr>
              <a:t>Max 448 tokens (model limit)</a:t>
            </a:r>
            <a:endParaRPr lang="en-US" sz="1200" dirty="0"/>
          </a:p>
        </p:txBody>
      </p:sp>
      <p:sp>
        <p:nvSpPr>
          <p:cNvPr id="24" name="arrow"/>
          <p:cNvSpPr/>
          <p:nvPr/>
        </p:nvSpPr>
        <p:spPr>
          <a:xfrm>
            <a:off x="6537960" y="2788920"/>
            <a:ext cx="274320" cy="0"/>
          </a:xfrm>
          <a:prstGeom prst="line">
            <a:avLst/>
          </a:prstGeom>
          <a:noFill/>
          <a:ln w="19050">
            <a:solidFill>
              <a:schemeClr val="accent5"/>
            </a:solidFill>
            <a:prstDash val="solid"/>
            <a:tailEnd type="triangle"/>
          </a:ln>
        </p:spPr>
        <p:txBody>
          <a:bodyPr/>
          <a:lstStyle/>
          <a:p>
            <a:endParaRPr lang="en-US"/>
          </a:p>
        </p:txBody>
      </p:sp>
      <p:sp>
        <p:nvSpPr>
          <p:cNvPr id="25" name="Split fairly step"/>
          <p:cNvSpPr/>
          <p:nvPr/>
        </p:nvSpPr>
        <p:spPr>
          <a:xfrm>
            <a:off x="6858000" y="1783080"/>
            <a:ext cx="1737360" cy="2011680"/>
          </a:xfrm>
          <a:prstGeom prst="roundRect">
            <a:avLst>
              <a:gd name="adj" fmla="val 4211"/>
            </a:avLst>
          </a:prstGeom>
          <a:solidFill>
            <a:schemeClr val="bg1"/>
          </a:solidFill>
          <a:ln w="15875">
            <a:solidFill>
              <a:schemeClr val="accent6"/>
            </a:solidFill>
            <a:prstDash val="solid"/>
          </a:ln>
        </p:spPr>
        <p:txBody>
          <a:bodyPr/>
          <a:lstStyle/>
          <a:p>
            <a:endParaRPr lang="en-US"/>
          </a:p>
        </p:txBody>
      </p:sp>
      <p:sp>
        <p:nvSpPr>
          <p:cNvPr id="26" name="Text 24"/>
          <p:cNvSpPr txBox="1"/>
          <p:nvPr/>
        </p:nvSpPr>
        <p:spPr>
          <a:xfrm>
            <a:off x="6995160" y="1874520"/>
            <a:ext cx="365760" cy="365760"/>
          </a:xfrm>
          <a:prstGeom prst="rect">
            <a:avLst/>
          </a:prstGeom>
          <a:noFill/>
          <a:ln/>
        </p:spPr>
        <p:txBody>
          <a:bodyPr wrap="square" lIns="0" tIns="0" rIns="0" bIns="0" rtlCol="0" anchor="t"/>
          <a:lstStyle/>
          <a:p>
            <a:pPr marL="0" indent="0">
              <a:buNone/>
            </a:pPr>
            <a:r>
              <a:rPr lang="en-US" sz="2000" b="1" dirty="0">
                <a:solidFill>
                  <a:schemeClr val="accent2"/>
                </a:solidFill>
              </a:rPr>
              <a:t>4</a:t>
            </a:r>
            <a:endParaRPr lang="en-US" sz="2000" dirty="0"/>
          </a:p>
        </p:txBody>
      </p:sp>
      <p:sp>
        <p:nvSpPr>
          <p:cNvPr id="27" name="Text 25"/>
          <p:cNvSpPr txBox="1"/>
          <p:nvPr/>
        </p:nvSpPr>
        <p:spPr>
          <a:xfrm>
            <a:off x="7315200" y="1892808"/>
            <a:ext cx="1188720" cy="329184"/>
          </a:xfrm>
          <a:prstGeom prst="rect">
            <a:avLst/>
          </a:prstGeom>
          <a:noFill/>
          <a:ln/>
        </p:spPr>
        <p:txBody>
          <a:bodyPr wrap="square" lIns="0" tIns="0" rIns="0" bIns="0" rtlCol="0" anchor="ctr"/>
          <a:lstStyle/>
          <a:p>
            <a:pPr marL="0" indent="0">
              <a:buNone/>
            </a:pPr>
            <a:r>
              <a:rPr lang="en-US" sz="1500" b="1" dirty="0">
                <a:solidFill>
                  <a:schemeClr val="tx2"/>
                </a:solidFill>
              </a:rPr>
              <a:t>Split fairly</a:t>
            </a:r>
            <a:endParaRPr lang="en-US" sz="1500" dirty="0"/>
          </a:p>
        </p:txBody>
      </p:sp>
      <p:sp>
        <p:nvSpPr>
          <p:cNvPr id="28" name="Text 26"/>
          <p:cNvSpPr txBox="1"/>
          <p:nvPr/>
        </p:nvSpPr>
        <p:spPr>
          <a:xfrm>
            <a:off x="6995160" y="2286000"/>
            <a:ext cx="1508760" cy="411480"/>
          </a:xfrm>
          <a:prstGeom prst="rect">
            <a:avLst/>
          </a:prstGeom>
          <a:noFill/>
          <a:ln/>
        </p:spPr>
        <p:txBody>
          <a:bodyPr wrap="square" lIns="0" tIns="0" rIns="0" bIns="0" rtlCol="0" anchor="t"/>
          <a:lstStyle/>
          <a:p>
            <a:pPr marL="0" indent="0">
              <a:buNone/>
            </a:pPr>
            <a:r>
              <a:rPr lang="en-US" sz="1200" i="1" dirty="0">
                <a:solidFill>
                  <a:schemeClr val="accent5"/>
                </a:solidFill>
              </a:rPr>
              <a:t>No sentence leaks into the test</a:t>
            </a:r>
            <a:endParaRPr lang="en-US" sz="1200" dirty="0"/>
          </a:p>
        </p:txBody>
      </p:sp>
      <p:sp>
        <p:nvSpPr>
          <p:cNvPr id="29" name="Text 27"/>
          <p:cNvSpPr txBox="1"/>
          <p:nvPr/>
        </p:nvSpPr>
        <p:spPr>
          <a:xfrm>
            <a:off x="6995160" y="2743200"/>
            <a:ext cx="1554480" cy="10058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Each sentence goes to only one split</a:t>
            </a:r>
            <a:endParaRPr lang="en-US" sz="1200" dirty="0"/>
          </a:p>
        </p:txBody>
      </p:sp>
      <p:sp>
        <p:nvSpPr>
          <p:cNvPr id="30" name="line"/>
          <p:cNvSpPr/>
          <p:nvPr/>
        </p:nvSpPr>
        <p:spPr>
          <a:xfrm>
            <a:off x="7726680" y="3794760"/>
            <a:ext cx="0" cy="210312"/>
          </a:xfrm>
          <a:prstGeom prst="line">
            <a:avLst/>
          </a:prstGeom>
          <a:noFill/>
          <a:ln w="19050">
            <a:solidFill>
              <a:schemeClr val="accent5"/>
            </a:solidFill>
            <a:prstDash val="solid"/>
          </a:ln>
        </p:spPr>
        <p:txBody>
          <a:bodyPr/>
          <a:lstStyle/>
          <a:p>
            <a:endParaRPr lang="en-US"/>
          </a:p>
        </p:txBody>
      </p:sp>
      <p:sp>
        <p:nvSpPr>
          <p:cNvPr id="31" name="line"/>
          <p:cNvSpPr/>
          <p:nvPr/>
        </p:nvSpPr>
        <p:spPr>
          <a:xfrm>
            <a:off x="1783080" y="4005072"/>
            <a:ext cx="5943600" cy="0"/>
          </a:xfrm>
          <a:prstGeom prst="line">
            <a:avLst/>
          </a:prstGeom>
          <a:noFill/>
          <a:ln w="19050">
            <a:solidFill>
              <a:schemeClr val="accent5"/>
            </a:solidFill>
            <a:prstDash val="solid"/>
          </a:ln>
        </p:spPr>
        <p:txBody>
          <a:bodyPr/>
          <a:lstStyle/>
          <a:p>
            <a:endParaRPr lang="en-US"/>
          </a:p>
        </p:txBody>
      </p:sp>
      <p:sp>
        <p:nvSpPr>
          <p:cNvPr id="32" name="arrow"/>
          <p:cNvSpPr/>
          <p:nvPr/>
        </p:nvSpPr>
        <p:spPr>
          <a:xfrm>
            <a:off x="1783080" y="4005072"/>
            <a:ext cx="0" cy="182880"/>
          </a:xfrm>
          <a:prstGeom prst="line">
            <a:avLst/>
          </a:prstGeom>
          <a:noFill/>
          <a:ln w="19050">
            <a:solidFill>
              <a:schemeClr val="accent5"/>
            </a:solidFill>
            <a:prstDash val="solid"/>
            <a:tailEnd type="triangle"/>
          </a:ln>
        </p:spPr>
        <p:txBody>
          <a:bodyPr/>
          <a:lstStyle/>
          <a:p>
            <a:endParaRPr lang="en-US"/>
          </a:p>
        </p:txBody>
      </p:sp>
      <p:sp>
        <p:nvSpPr>
          <p:cNvPr id="33" name="Train split"/>
          <p:cNvSpPr/>
          <p:nvPr/>
        </p:nvSpPr>
        <p:spPr>
          <a:xfrm>
            <a:off x="548640" y="4224528"/>
            <a:ext cx="2468880" cy="868680"/>
          </a:xfrm>
          <a:prstGeom prst="roundRect">
            <a:avLst>
              <a:gd name="adj" fmla="val 8421"/>
            </a:avLst>
          </a:prstGeom>
          <a:solidFill>
            <a:schemeClr val="bg1"/>
          </a:solidFill>
          <a:ln w="19050">
            <a:solidFill>
              <a:schemeClr val="tx2"/>
            </a:solidFill>
            <a:prstDash val="solid"/>
          </a:ln>
        </p:spPr>
        <p:txBody>
          <a:bodyPr/>
          <a:lstStyle/>
          <a:p>
            <a:endParaRPr lang="en-US"/>
          </a:p>
        </p:txBody>
      </p:sp>
      <p:sp>
        <p:nvSpPr>
          <p:cNvPr id="34" name="Train header"/>
          <p:cNvSpPr/>
          <p:nvPr/>
        </p:nvSpPr>
        <p:spPr>
          <a:xfrm>
            <a:off x="557784" y="4233672"/>
            <a:ext cx="2450592" cy="347472"/>
          </a:xfrm>
          <a:prstGeom prst="rect">
            <a:avLst/>
          </a:prstGeom>
          <a:solidFill>
            <a:schemeClr val="tx2"/>
          </a:solidFill>
          <a:ln w="12700">
            <a:solidFill>
              <a:schemeClr val="tx2"/>
            </a:solidFill>
            <a:prstDash val="solid"/>
          </a:ln>
        </p:spPr>
        <p:txBody>
          <a:bodyPr/>
          <a:lstStyle/>
          <a:p>
            <a:endParaRPr lang="en-US"/>
          </a:p>
        </p:txBody>
      </p:sp>
      <p:sp>
        <p:nvSpPr>
          <p:cNvPr id="35" name="Text 33"/>
          <p:cNvSpPr txBox="1"/>
          <p:nvPr/>
        </p:nvSpPr>
        <p:spPr>
          <a:xfrm>
            <a:off x="548640" y="4224528"/>
            <a:ext cx="2468880" cy="365760"/>
          </a:xfrm>
          <a:prstGeom prst="rect">
            <a:avLst/>
          </a:prstGeom>
          <a:noFill/>
          <a:ln/>
        </p:spPr>
        <p:txBody>
          <a:bodyPr wrap="square" lIns="0" tIns="0" rIns="0" bIns="0" rtlCol="0" anchor="ctr"/>
          <a:lstStyle/>
          <a:p>
            <a:pPr marL="0" indent="0" algn="ctr">
              <a:buNone/>
            </a:pPr>
            <a:r>
              <a:rPr lang="en-US" sz="1300" b="1" dirty="0">
                <a:solidFill>
                  <a:schemeClr val="bg1"/>
                </a:solidFill>
              </a:rPr>
              <a:t>TRAIN</a:t>
            </a:r>
            <a:endParaRPr lang="en-US" sz="1300" dirty="0"/>
          </a:p>
        </p:txBody>
      </p:sp>
      <p:sp>
        <p:nvSpPr>
          <p:cNvPr id="36" name="Text 34"/>
          <p:cNvSpPr txBox="1"/>
          <p:nvPr/>
        </p:nvSpPr>
        <p:spPr>
          <a:xfrm>
            <a:off x="548640" y="4608576"/>
            <a:ext cx="2468880" cy="438912"/>
          </a:xfrm>
          <a:prstGeom prst="rect">
            <a:avLst/>
          </a:prstGeom>
          <a:noFill/>
          <a:ln/>
        </p:spPr>
        <p:txBody>
          <a:bodyPr wrap="square" lIns="0" tIns="0" rIns="0" bIns="0" rtlCol="0" anchor="ctr"/>
          <a:lstStyle/>
          <a:p>
            <a:pPr marL="0" indent="0" algn="ctr">
              <a:buNone/>
            </a:pPr>
            <a:r>
              <a:rPr lang="en-US" sz="1600" b="1" dirty="0">
                <a:solidFill>
                  <a:schemeClr val="tx2"/>
                </a:solidFill>
              </a:rPr>
              <a:t>20,758 clips</a:t>
            </a:r>
            <a:r>
              <a:rPr lang="en-US" sz="1600" dirty="0">
                <a:solidFill>
                  <a:schemeClr val="tx2"/>
                </a:solidFill>
              </a:rPr>
              <a:t>   15.99 h</a:t>
            </a:r>
            <a:endParaRPr lang="en-US" sz="1600" dirty="0"/>
          </a:p>
        </p:txBody>
      </p:sp>
      <p:sp>
        <p:nvSpPr>
          <p:cNvPr id="37" name="Text 35"/>
          <p:cNvSpPr txBox="1"/>
          <p:nvPr/>
        </p:nvSpPr>
        <p:spPr>
          <a:xfrm>
            <a:off x="548640" y="5138928"/>
            <a:ext cx="2468880" cy="274320"/>
          </a:xfrm>
          <a:prstGeom prst="rect">
            <a:avLst/>
          </a:prstGeom>
          <a:noFill/>
          <a:ln/>
        </p:spPr>
        <p:txBody>
          <a:bodyPr wrap="square" lIns="0" tIns="0" rIns="0" bIns="0" rtlCol="0" anchor="t"/>
          <a:lstStyle/>
          <a:p>
            <a:pPr marL="0" indent="0" algn="ctr">
              <a:buNone/>
            </a:pPr>
            <a:r>
              <a:rPr lang="en-US" sz="1300" dirty="0">
                <a:solidFill>
                  <a:schemeClr val="accent5"/>
                </a:solidFill>
              </a:rPr>
              <a:t>→ teaches the model</a:t>
            </a:r>
            <a:endParaRPr lang="en-US" sz="1300" dirty="0"/>
          </a:p>
        </p:txBody>
      </p:sp>
      <p:sp>
        <p:nvSpPr>
          <p:cNvPr id="38" name="arrow"/>
          <p:cNvSpPr/>
          <p:nvPr/>
        </p:nvSpPr>
        <p:spPr>
          <a:xfrm>
            <a:off x="4572000" y="4005072"/>
            <a:ext cx="0" cy="182880"/>
          </a:xfrm>
          <a:prstGeom prst="line">
            <a:avLst/>
          </a:prstGeom>
          <a:noFill/>
          <a:ln w="19050">
            <a:solidFill>
              <a:schemeClr val="accent5"/>
            </a:solidFill>
            <a:prstDash val="solid"/>
            <a:tailEnd type="triangle"/>
          </a:ln>
        </p:spPr>
        <p:txBody>
          <a:bodyPr/>
          <a:lstStyle/>
          <a:p>
            <a:endParaRPr lang="en-US"/>
          </a:p>
        </p:txBody>
      </p:sp>
      <p:sp>
        <p:nvSpPr>
          <p:cNvPr id="39" name="Validation split"/>
          <p:cNvSpPr/>
          <p:nvPr/>
        </p:nvSpPr>
        <p:spPr>
          <a:xfrm>
            <a:off x="3337560" y="4224528"/>
            <a:ext cx="2468880" cy="868680"/>
          </a:xfrm>
          <a:prstGeom prst="roundRect">
            <a:avLst>
              <a:gd name="adj" fmla="val 8421"/>
            </a:avLst>
          </a:prstGeom>
          <a:solidFill>
            <a:schemeClr val="bg1"/>
          </a:solidFill>
          <a:ln w="19050">
            <a:solidFill>
              <a:schemeClr val="accent3"/>
            </a:solidFill>
            <a:prstDash val="solid"/>
          </a:ln>
        </p:spPr>
        <p:txBody>
          <a:bodyPr/>
          <a:lstStyle/>
          <a:p>
            <a:endParaRPr lang="en-US"/>
          </a:p>
        </p:txBody>
      </p:sp>
      <p:sp>
        <p:nvSpPr>
          <p:cNvPr id="40" name="Validation header"/>
          <p:cNvSpPr/>
          <p:nvPr/>
        </p:nvSpPr>
        <p:spPr>
          <a:xfrm>
            <a:off x="3346704" y="4233672"/>
            <a:ext cx="2450592" cy="347472"/>
          </a:xfrm>
          <a:prstGeom prst="rect">
            <a:avLst/>
          </a:prstGeom>
          <a:solidFill>
            <a:schemeClr val="accent3"/>
          </a:solidFill>
          <a:ln w="12700">
            <a:solidFill>
              <a:schemeClr val="accent3"/>
            </a:solidFill>
            <a:prstDash val="solid"/>
          </a:ln>
        </p:spPr>
        <p:txBody>
          <a:bodyPr/>
          <a:lstStyle/>
          <a:p>
            <a:endParaRPr lang="en-US"/>
          </a:p>
        </p:txBody>
      </p:sp>
      <p:sp>
        <p:nvSpPr>
          <p:cNvPr id="41" name="Text 39"/>
          <p:cNvSpPr txBox="1"/>
          <p:nvPr/>
        </p:nvSpPr>
        <p:spPr>
          <a:xfrm>
            <a:off x="3337560" y="4224528"/>
            <a:ext cx="2468880" cy="365760"/>
          </a:xfrm>
          <a:prstGeom prst="rect">
            <a:avLst/>
          </a:prstGeom>
          <a:noFill/>
          <a:ln/>
        </p:spPr>
        <p:txBody>
          <a:bodyPr wrap="square" lIns="0" tIns="0" rIns="0" bIns="0" rtlCol="0" anchor="ctr"/>
          <a:lstStyle/>
          <a:p>
            <a:pPr marL="0" indent="0" algn="ctr">
              <a:buNone/>
            </a:pPr>
            <a:r>
              <a:rPr lang="en-US" sz="1300" b="1" dirty="0">
                <a:solidFill>
                  <a:schemeClr val="bg1"/>
                </a:solidFill>
              </a:rPr>
              <a:t>VALIDATION</a:t>
            </a:r>
            <a:endParaRPr lang="en-US" sz="1300" dirty="0"/>
          </a:p>
        </p:txBody>
      </p:sp>
      <p:sp>
        <p:nvSpPr>
          <p:cNvPr id="42" name="Text 40"/>
          <p:cNvSpPr txBox="1"/>
          <p:nvPr/>
        </p:nvSpPr>
        <p:spPr>
          <a:xfrm>
            <a:off x="3337560" y="4608576"/>
            <a:ext cx="2468880" cy="438912"/>
          </a:xfrm>
          <a:prstGeom prst="rect">
            <a:avLst/>
          </a:prstGeom>
          <a:noFill/>
          <a:ln/>
        </p:spPr>
        <p:txBody>
          <a:bodyPr wrap="square" lIns="0" tIns="0" rIns="0" bIns="0" rtlCol="0" anchor="ctr"/>
          <a:lstStyle/>
          <a:p>
            <a:pPr marL="0" indent="0" algn="ctr">
              <a:buNone/>
            </a:pPr>
            <a:r>
              <a:rPr lang="en-US" sz="1600" b="1" dirty="0">
                <a:solidFill>
                  <a:schemeClr val="tx2"/>
                </a:solidFill>
              </a:rPr>
              <a:t>1,150 clips</a:t>
            </a:r>
            <a:r>
              <a:rPr lang="en-US" sz="1600" dirty="0">
                <a:solidFill>
                  <a:schemeClr val="tx2"/>
                </a:solidFill>
              </a:rPr>
              <a:t>   0.93 h</a:t>
            </a:r>
            <a:endParaRPr lang="en-US" sz="1600" dirty="0"/>
          </a:p>
        </p:txBody>
      </p:sp>
      <p:sp>
        <p:nvSpPr>
          <p:cNvPr id="43" name="Text 41"/>
          <p:cNvSpPr txBox="1"/>
          <p:nvPr/>
        </p:nvSpPr>
        <p:spPr>
          <a:xfrm>
            <a:off x="3337560" y="5138928"/>
            <a:ext cx="2468880" cy="274320"/>
          </a:xfrm>
          <a:prstGeom prst="rect">
            <a:avLst/>
          </a:prstGeom>
          <a:noFill/>
          <a:ln/>
        </p:spPr>
        <p:txBody>
          <a:bodyPr wrap="square" lIns="0" tIns="0" rIns="0" bIns="0" rtlCol="0" anchor="t"/>
          <a:lstStyle/>
          <a:p>
            <a:pPr marL="0" indent="0" algn="ctr">
              <a:buNone/>
            </a:pPr>
            <a:r>
              <a:rPr lang="en-US" sz="1300" dirty="0">
                <a:solidFill>
                  <a:schemeClr val="accent5"/>
                </a:solidFill>
              </a:rPr>
              <a:t>→ picks the best checkpoint</a:t>
            </a:r>
            <a:endParaRPr lang="en-US" sz="1300" dirty="0"/>
          </a:p>
        </p:txBody>
      </p:sp>
      <p:sp>
        <p:nvSpPr>
          <p:cNvPr id="44" name="arrow"/>
          <p:cNvSpPr/>
          <p:nvPr/>
        </p:nvSpPr>
        <p:spPr>
          <a:xfrm>
            <a:off x="7360920" y="4005072"/>
            <a:ext cx="0" cy="182880"/>
          </a:xfrm>
          <a:prstGeom prst="line">
            <a:avLst/>
          </a:prstGeom>
          <a:noFill/>
          <a:ln w="19050">
            <a:solidFill>
              <a:schemeClr val="accent5"/>
            </a:solidFill>
            <a:prstDash val="solid"/>
            <a:tailEnd type="triangle"/>
          </a:ln>
        </p:spPr>
        <p:txBody>
          <a:bodyPr/>
          <a:lstStyle/>
          <a:p>
            <a:endParaRPr lang="en-US"/>
          </a:p>
        </p:txBody>
      </p:sp>
      <p:sp>
        <p:nvSpPr>
          <p:cNvPr id="45" name="Test split"/>
          <p:cNvSpPr/>
          <p:nvPr/>
        </p:nvSpPr>
        <p:spPr>
          <a:xfrm>
            <a:off x="6126480" y="4224528"/>
            <a:ext cx="2468880" cy="868680"/>
          </a:xfrm>
          <a:prstGeom prst="roundRect">
            <a:avLst>
              <a:gd name="adj" fmla="val 8421"/>
            </a:avLst>
          </a:prstGeom>
          <a:solidFill>
            <a:schemeClr val="bg1"/>
          </a:solidFill>
          <a:ln w="19050">
            <a:solidFill>
              <a:schemeClr val="accent5"/>
            </a:solidFill>
            <a:prstDash val="solid"/>
          </a:ln>
        </p:spPr>
        <p:txBody>
          <a:bodyPr/>
          <a:lstStyle/>
          <a:p>
            <a:endParaRPr lang="en-US"/>
          </a:p>
        </p:txBody>
      </p:sp>
      <p:sp>
        <p:nvSpPr>
          <p:cNvPr id="46" name="Test header"/>
          <p:cNvSpPr/>
          <p:nvPr/>
        </p:nvSpPr>
        <p:spPr>
          <a:xfrm>
            <a:off x="6135624" y="4233672"/>
            <a:ext cx="2450592" cy="347472"/>
          </a:xfrm>
          <a:prstGeom prst="rect">
            <a:avLst/>
          </a:prstGeom>
          <a:solidFill>
            <a:schemeClr val="accent5"/>
          </a:solidFill>
          <a:ln w="12700">
            <a:solidFill>
              <a:schemeClr val="accent5"/>
            </a:solidFill>
            <a:prstDash val="solid"/>
          </a:ln>
        </p:spPr>
        <p:txBody>
          <a:bodyPr/>
          <a:lstStyle/>
          <a:p>
            <a:endParaRPr lang="en-US"/>
          </a:p>
        </p:txBody>
      </p:sp>
      <p:sp>
        <p:nvSpPr>
          <p:cNvPr id="47" name="Text 45"/>
          <p:cNvSpPr txBox="1"/>
          <p:nvPr/>
        </p:nvSpPr>
        <p:spPr>
          <a:xfrm>
            <a:off x="6126480" y="4224528"/>
            <a:ext cx="2468880" cy="365760"/>
          </a:xfrm>
          <a:prstGeom prst="rect">
            <a:avLst/>
          </a:prstGeom>
          <a:noFill/>
          <a:ln/>
        </p:spPr>
        <p:txBody>
          <a:bodyPr wrap="square" lIns="0" tIns="0" rIns="0" bIns="0" rtlCol="0" anchor="ctr"/>
          <a:lstStyle/>
          <a:p>
            <a:pPr marL="0" indent="0" algn="ctr">
              <a:buNone/>
            </a:pPr>
            <a:r>
              <a:rPr lang="en-US" sz="1300" b="1" dirty="0">
                <a:solidFill>
                  <a:schemeClr val="bg1"/>
                </a:solidFill>
              </a:rPr>
              <a:t>TEST</a:t>
            </a:r>
            <a:endParaRPr lang="en-US" sz="1300" dirty="0"/>
          </a:p>
        </p:txBody>
      </p:sp>
      <p:sp>
        <p:nvSpPr>
          <p:cNvPr id="48" name="Text 46"/>
          <p:cNvSpPr txBox="1"/>
          <p:nvPr/>
        </p:nvSpPr>
        <p:spPr>
          <a:xfrm>
            <a:off x="6126480" y="4608576"/>
            <a:ext cx="2468880" cy="438912"/>
          </a:xfrm>
          <a:prstGeom prst="rect">
            <a:avLst/>
          </a:prstGeom>
          <a:noFill/>
          <a:ln/>
        </p:spPr>
        <p:txBody>
          <a:bodyPr wrap="square" lIns="0" tIns="0" rIns="0" bIns="0" rtlCol="0" anchor="ctr"/>
          <a:lstStyle/>
          <a:p>
            <a:pPr marL="0" indent="0" algn="ctr">
              <a:buNone/>
            </a:pPr>
            <a:r>
              <a:rPr lang="en-US" sz="1600" b="1" dirty="0">
                <a:solidFill>
                  <a:schemeClr val="tx2"/>
                </a:solidFill>
              </a:rPr>
              <a:t>1,179 clips</a:t>
            </a:r>
            <a:r>
              <a:rPr lang="en-US" sz="1600" dirty="0">
                <a:solidFill>
                  <a:schemeClr val="tx2"/>
                </a:solidFill>
              </a:rPr>
              <a:t>   0.92 h</a:t>
            </a:r>
            <a:endParaRPr lang="en-US" sz="1600" dirty="0"/>
          </a:p>
        </p:txBody>
      </p:sp>
      <p:sp>
        <p:nvSpPr>
          <p:cNvPr id="49" name="Text 47"/>
          <p:cNvSpPr txBox="1"/>
          <p:nvPr/>
        </p:nvSpPr>
        <p:spPr>
          <a:xfrm>
            <a:off x="6126480" y="5138928"/>
            <a:ext cx="2468880" cy="274320"/>
          </a:xfrm>
          <a:prstGeom prst="rect">
            <a:avLst/>
          </a:prstGeom>
          <a:noFill/>
          <a:ln/>
        </p:spPr>
        <p:txBody>
          <a:bodyPr wrap="square" lIns="0" tIns="0" rIns="0" bIns="0" rtlCol="0" anchor="t"/>
          <a:lstStyle/>
          <a:p>
            <a:pPr marL="0" indent="0" algn="ctr">
              <a:buNone/>
            </a:pPr>
            <a:r>
              <a:rPr lang="en-US" sz="1300" dirty="0">
                <a:solidFill>
                  <a:schemeClr val="accent5"/>
                </a:solidFill>
              </a:rPr>
              <a:t>→ final in-domain score</a:t>
            </a:r>
            <a:endParaRPr lang="en-US" sz="1300" dirty="0"/>
          </a:p>
        </p:txBody>
      </p:sp>
      <p:sp>
        <p:nvSpPr>
          <p:cNvPr id="50" name="why split by sentence"/>
          <p:cNvSpPr/>
          <p:nvPr/>
        </p:nvSpPr>
        <p:spPr>
          <a:xfrm>
            <a:off x="548640" y="5486400"/>
            <a:ext cx="8046720" cy="713232"/>
          </a:xfrm>
          <a:prstGeom prst="roundRect">
            <a:avLst>
              <a:gd name="adj" fmla="val 10256"/>
            </a:avLst>
          </a:prstGeom>
          <a:solidFill>
            <a:schemeClr val="bg2"/>
          </a:solidFill>
          <a:ln w="12700">
            <a:solidFill>
              <a:schemeClr val="bg2"/>
            </a:solidFill>
            <a:prstDash val="solid"/>
          </a:ln>
        </p:spPr>
        <p:txBody>
          <a:bodyPr/>
          <a:lstStyle/>
          <a:p>
            <a:endParaRPr lang="en-US"/>
          </a:p>
        </p:txBody>
      </p:sp>
      <p:sp>
        <p:nvSpPr>
          <p:cNvPr id="51" name="Text 49"/>
          <p:cNvSpPr txBox="1"/>
          <p:nvPr/>
        </p:nvSpPr>
        <p:spPr>
          <a:xfrm>
            <a:off x="731520" y="5486400"/>
            <a:ext cx="7726680" cy="713232"/>
          </a:xfrm>
          <a:prstGeom prst="rect">
            <a:avLst/>
          </a:prstGeom>
          <a:noFill/>
          <a:ln/>
        </p:spPr>
        <p:txBody>
          <a:bodyPr wrap="square" lIns="0" tIns="0" rIns="0" bIns="0" rtlCol="0" anchor="ctr"/>
          <a:lstStyle/>
          <a:p>
            <a:pPr marL="0" indent="0">
              <a:buNone/>
            </a:pPr>
            <a:r>
              <a:rPr lang="en-US" sz="1200" b="1" dirty="0">
                <a:solidFill>
                  <a:schemeClr val="tx2"/>
                </a:solidFill>
              </a:rPr>
              <a:t>Why split by sentence? </a:t>
            </a:r>
            <a:r>
              <a:rPr lang="en-US" sz="1200" dirty="0">
                <a:solidFill>
                  <a:schemeClr val="tx1"/>
                </a:solidFill>
              </a:rPr>
              <a:t>Many speakers read the same sentence. A random split could put that sentence in both training and test, and the scores would look better than they really are.</a:t>
            </a:r>
            <a:endParaRPr lang="en-US" sz="1200" dirty="0"/>
          </a:p>
        </p:txBody>
      </p:sp>
      <p:sp>
        <p:nvSpPr>
          <p:cNvPr id="52" name="line"/>
          <p:cNvSpPr/>
          <p:nvPr/>
        </p:nvSpPr>
        <p:spPr>
          <a:xfrm>
            <a:off x="8823960" y="1783080"/>
            <a:ext cx="0" cy="4416552"/>
          </a:xfrm>
          <a:prstGeom prst="line">
            <a:avLst/>
          </a:prstGeom>
          <a:noFill/>
          <a:ln w="12700">
            <a:solidFill>
              <a:schemeClr val="accent6"/>
            </a:solidFill>
            <a:prstDash val="solid"/>
          </a:ln>
        </p:spPr>
        <p:txBody>
          <a:bodyPr/>
          <a:lstStyle/>
          <a:p>
            <a:endParaRPr lang="en-US"/>
          </a:p>
        </p:txBody>
      </p:sp>
      <p:sp>
        <p:nvSpPr>
          <p:cNvPr id="53" name="extra test panel"/>
          <p:cNvSpPr/>
          <p:nvPr/>
        </p:nvSpPr>
        <p:spPr>
          <a:xfrm>
            <a:off x="9052560" y="1783080"/>
            <a:ext cx="2587752" cy="4416552"/>
          </a:xfrm>
          <a:prstGeom prst="roundRect">
            <a:avLst>
              <a:gd name="adj" fmla="val 2827"/>
            </a:avLst>
          </a:prstGeom>
          <a:solidFill>
            <a:schemeClr val="bg1"/>
          </a:solidFill>
          <a:ln w="25400">
            <a:solidFill>
              <a:schemeClr val="accent2"/>
            </a:solidFill>
            <a:prstDash val="solid"/>
          </a:ln>
        </p:spPr>
        <p:txBody>
          <a:bodyPr/>
          <a:lstStyle/>
          <a:p>
            <a:endParaRPr lang="en-US"/>
          </a:p>
        </p:txBody>
      </p:sp>
      <p:sp>
        <p:nvSpPr>
          <p:cNvPr id="54" name="Text 52"/>
          <p:cNvSpPr txBox="1"/>
          <p:nvPr/>
        </p:nvSpPr>
        <p:spPr>
          <a:xfrm>
            <a:off x="9235440" y="1892808"/>
            <a:ext cx="2286000" cy="292608"/>
          </a:xfrm>
          <a:prstGeom prst="rect">
            <a:avLst/>
          </a:prstGeom>
          <a:noFill/>
          <a:ln/>
        </p:spPr>
        <p:txBody>
          <a:bodyPr wrap="square" lIns="0" tIns="0" rIns="0" bIns="0" rtlCol="0" anchor="t"/>
          <a:lstStyle/>
          <a:p>
            <a:pPr marL="0" indent="0">
              <a:buNone/>
            </a:pPr>
            <a:r>
              <a:rPr lang="en-US" sz="1400" b="1" dirty="0">
                <a:solidFill>
                  <a:schemeClr val="tx2"/>
                </a:solidFill>
              </a:rPr>
              <a:t>Extra test: new voices</a:t>
            </a:r>
            <a:endParaRPr lang="en-US" sz="1400" dirty="0"/>
          </a:p>
        </p:txBody>
      </p:sp>
      <p:sp>
        <p:nvSpPr>
          <p:cNvPr id="55" name="DDD source"/>
          <p:cNvSpPr/>
          <p:nvPr/>
        </p:nvSpPr>
        <p:spPr>
          <a:xfrm>
            <a:off x="9281160" y="2331720"/>
            <a:ext cx="2130552" cy="566928"/>
          </a:xfrm>
          <a:prstGeom prst="roundRect">
            <a:avLst>
              <a:gd name="adj" fmla="val 12903"/>
            </a:avLst>
          </a:prstGeom>
          <a:solidFill>
            <a:schemeClr val="bg2"/>
          </a:solidFill>
          <a:ln w="12700">
            <a:solidFill>
              <a:schemeClr val="bg2"/>
            </a:solidFill>
            <a:prstDash val="solid"/>
          </a:ln>
        </p:spPr>
        <p:txBody>
          <a:bodyPr/>
          <a:lstStyle/>
          <a:p>
            <a:endParaRPr lang="en-US"/>
          </a:p>
        </p:txBody>
      </p:sp>
      <p:sp>
        <p:nvSpPr>
          <p:cNvPr id="56" name="Text 54"/>
          <p:cNvSpPr txBox="1"/>
          <p:nvPr/>
        </p:nvSpPr>
        <p:spPr>
          <a:xfrm>
            <a:off x="9281160" y="2331720"/>
            <a:ext cx="2130552" cy="566928"/>
          </a:xfrm>
          <a:prstGeom prst="rect">
            <a:avLst/>
          </a:prstGeom>
          <a:noFill/>
          <a:ln/>
        </p:spPr>
        <p:txBody>
          <a:bodyPr wrap="square" lIns="0" tIns="0" rIns="0" bIns="0" rtlCol="0" anchor="ctr"/>
          <a:lstStyle/>
          <a:p>
            <a:pPr marL="0" indent="0" algn="ctr">
              <a:buNone/>
            </a:pPr>
            <a:r>
              <a:rPr lang="en-US" sz="1400" b="1" u="sng" dirty="0">
                <a:solidFill>
                  <a:schemeClr val="tx2"/>
                </a:solidFill>
                <a:hlinkClick r:id="rId3" tooltip="Digital Divide Data Khmer ASR dataset">
                  <a:extLst>
                    <a:ext uri="{A12FA001-AC4F-418D-AE19-62706E023703}">
                      <ahyp:hlinkClr xmlns:ahyp="http://schemas.microsoft.com/office/drawing/2018/hyperlinkcolor" val="tx"/>
                    </a:ext>
                  </a:extLst>
                </a:hlinkClick>
              </a:rPr>
              <a:t>Digital Divide Data</a:t>
            </a:r>
            <a:endParaRPr lang="en-US" sz="1400" dirty="0"/>
          </a:p>
        </p:txBody>
      </p:sp>
      <p:sp>
        <p:nvSpPr>
          <p:cNvPr id="57" name="arrow"/>
          <p:cNvSpPr/>
          <p:nvPr/>
        </p:nvSpPr>
        <p:spPr>
          <a:xfrm>
            <a:off x="10346436" y="2926080"/>
            <a:ext cx="0" cy="274320"/>
          </a:xfrm>
          <a:prstGeom prst="line">
            <a:avLst/>
          </a:prstGeom>
          <a:noFill/>
          <a:ln w="19050">
            <a:solidFill>
              <a:schemeClr val="accent2"/>
            </a:solidFill>
            <a:prstDash val="solid"/>
            <a:tailEnd type="triangle"/>
          </a:ln>
        </p:spPr>
        <p:txBody>
          <a:bodyPr/>
          <a:lstStyle/>
          <a:p>
            <a:endParaRPr lang="en-US"/>
          </a:p>
        </p:txBody>
      </p:sp>
      <p:sp>
        <p:nvSpPr>
          <p:cNvPr id="58" name="DDD_TEST box"/>
          <p:cNvSpPr/>
          <p:nvPr/>
        </p:nvSpPr>
        <p:spPr>
          <a:xfrm>
            <a:off x="9281160" y="3246120"/>
            <a:ext cx="2130552" cy="914400"/>
          </a:xfrm>
          <a:prstGeom prst="roundRect">
            <a:avLst>
              <a:gd name="adj" fmla="val 8000"/>
            </a:avLst>
          </a:prstGeom>
          <a:solidFill>
            <a:schemeClr val="accent2"/>
          </a:solidFill>
          <a:ln w="12700">
            <a:solidFill>
              <a:schemeClr val="accent2"/>
            </a:solidFill>
            <a:prstDash val="solid"/>
          </a:ln>
        </p:spPr>
        <p:txBody>
          <a:bodyPr/>
          <a:lstStyle/>
          <a:p>
            <a:endParaRPr lang="en-US"/>
          </a:p>
        </p:txBody>
      </p:sp>
      <p:sp>
        <p:nvSpPr>
          <p:cNvPr id="59" name="Text 57"/>
          <p:cNvSpPr txBox="1"/>
          <p:nvPr/>
        </p:nvSpPr>
        <p:spPr>
          <a:xfrm>
            <a:off x="9281160" y="3291840"/>
            <a:ext cx="2130552" cy="365760"/>
          </a:xfrm>
          <a:prstGeom prst="rect">
            <a:avLst/>
          </a:prstGeom>
          <a:noFill/>
          <a:ln/>
        </p:spPr>
        <p:txBody>
          <a:bodyPr wrap="square" lIns="0" tIns="0" rIns="0" bIns="0" rtlCol="0" anchor="t"/>
          <a:lstStyle/>
          <a:p>
            <a:pPr marL="0" indent="0" algn="ctr">
              <a:buNone/>
            </a:pPr>
            <a:r>
              <a:rPr lang="en-US" sz="1700" b="1" dirty="0">
                <a:solidFill>
                  <a:schemeClr val="tx2"/>
                </a:solidFill>
              </a:rPr>
              <a:t>DDD_TEST</a:t>
            </a:r>
            <a:endParaRPr lang="en-US" sz="1700" dirty="0"/>
          </a:p>
        </p:txBody>
      </p:sp>
      <p:sp>
        <p:nvSpPr>
          <p:cNvPr id="60" name="Text 58"/>
          <p:cNvSpPr txBox="1"/>
          <p:nvPr/>
        </p:nvSpPr>
        <p:spPr>
          <a:xfrm>
            <a:off x="9281160" y="3675888"/>
            <a:ext cx="2130552" cy="365760"/>
          </a:xfrm>
          <a:prstGeom prst="rect">
            <a:avLst/>
          </a:prstGeom>
          <a:noFill/>
          <a:ln/>
        </p:spPr>
        <p:txBody>
          <a:bodyPr wrap="square" lIns="0" tIns="0" rIns="0" bIns="0" rtlCol="0" anchor="t"/>
          <a:lstStyle/>
          <a:p>
            <a:pPr marL="0" indent="0" algn="ctr">
              <a:buNone/>
            </a:pPr>
            <a:r>
              <a:rPr lang="en-US" sz="1400" dirty="0">
                <a:solidFill>
                  <a:schemeClr val="tx2"/>
                </a:solidFill>
              </a:rPr>
              <a:t>2,034 clips   4.66 h</a:t>
            </a:r>
            <a:endParaRPr lang="en-US" sz="1400" dirty="0"/>
          </a:p>
        </p:txBody>
      </p:sp>
      <p:sp>
        <p:nvSpPr>
          <p:cNvPr id="61" name="Text 59"/>
          <p:cNvSpPr txBox="1"/>
          <p:nvPr/>
        </p:nvSpPr>
        <p:spPr>
          <a:xfrm>
            <a:off x="9235440" y="4343400"/>
            <a:ext cx="2240280" cy="685800"/>
          </a:xfrm>
          <a:prstGeom prst="rect">
            <a:avLst/>
          </a:prstGeom>
          <a:noFill/>
          <a:ln/>
        </p:spPr>
        <p:txBody>
          <a:bodyPr wrap="square" lIns="0" tIns="0" rIns="0" bIns="0" rtlCol="0" anchor="t"/>
          <a:lstStyle/>
          <a:p>
            <a:pPr marL="0" indent="0" algn="ctr">
              <a:buNone/>
            </a:pPr>
            <a:r>
              <a:rPr lang="en-US" sz="1300" b="1" dirty="0">
                <a:solidFill>
                  <a:schemeClr val="tx2"/>
                </a:solidFill>
              </a:rPr>
              <a:t>2 speakers and sentences the model has never heard.</a:t>
            </a:r>
            <a:endParaRPr lang="en-US" sz="1300" dirty="0"/>
          </a:p>
        </p:txBody>
      </p:sp>
      <p:sp>
        <p:nvSpPr>
          <p:cNvPr id="62" name="Text 60"/>
          <p:cNvSpPr txBox="1"/>
          <p:nvPr/>
        </p:nvSpPr>
        <p:spPr>
          <a:xfrm>
            <a:off x="9235440" y="5074920"/>
            <a:ext cx="2240280" cy="822960"/>
          </a:xfrm>
          <a:prstGeom prst="rect">
            <a:avLst/>
          </a:prstGeom>
          <a:noFill/>
          <a:ln/>
        </p:spPr>
        <p:txBody>
          <a:bodyPr wrap="square" lIns="0" tIns="0" rIns="0" bIns="0" rtlCol="0" anchor="t"/>
          <a:lstStyle/>
          <a:p>
            <a:pPr marL="0" indent="0" algn="ctr">
              <a:buNone/>
            </a:pPr>
            <a:r>
              <a:rPr lang="en-US" sz="1200" i="1" dirty="0">
                <a:solidFill>
                  <a:schemeClr val="accent5"/>
                </a:solidFill>
              </a:rPr>
              <a:t>Never used for training. It shows how the model does on new voices.</a:t>
            </a:r>
            <a:endParaRPr lang="en-US" sz="1200" dirty="0"/>
          </a:p>
        </p:txBody>
      </p:sp>
      <p:sp>
        <p:nvSpPr>
          <p:cNvPr id="63"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b="1" dirty="0">
                <a:solidFill>
                  <a:schemeClr val="accent3"/>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inside each Transformer layer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06</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6. Model architecture</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Whisper-small </a:t>
            </a:r>
            <a:r>
              <a:rPr lang="en-US" sz="3200" b="1" dirty="0">
                <a:solidFill>
                  <a:schemeClr val="accent3"/>
                </a:solidFill>
                <a:latin typeface="Calibri" pitchFamily="34" charset="0"/>
                <a:ea typeface="Calibri" pitchFamily="34" charset="-122"/>
                <a:cs typeface="Calibri" pitchFamily="34" charset="-120"/>
              </a:rPr>
              <a:t>Transformer</a:t>
            </a:r>
            <a:r>
              <a:rPr lang="en-US" sz="3200" b="1" dirty="0">
                <a:solidFill>
                  <a:schemeClr val="tx2"/>
                </a:solidFill>
                <a:latin typeface="Calibri" pitchFamily="34" charset="0"/>
                <a:ea typeface="Calibri" pitchFamily="34" charset="-122"/>
                <a:cs typeface="Calibri" pitchFamily="34" charset="-120"/>
              </a:rPr>
              <a:t> Architecture</a:t>
            </a:r>
            <a:endParaRPr lang="en-US" sz="3200" dirty="0"/>
          </a:p>
        </p:txBody>
      </p:sp>
      <p:sp>
        <p:nvSpPr>
          <p:cNvPr id="7" name="parameter tag"/>
          <p:cNvSpPr/>
          <p:nvPr/>
        </p:nvSpPr>
        <p:spPr>
          <a:xfrm>
            <a:off x="9400032" y="1335024"/>
            <a:ext cx="2240280" cy="384048"/>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8" name="Text 6"/>
          <p:cNvSpPr txBox="1"/>
          <p:nvPr/>
        </p:nvSpPr>
        <p:spPr>
          <a:xfrm>
            <a:off x="9400032" y="1335024"/>
            <a:ext cx="2240280" cy="384048"/>
          </a:xfrm>
          <a:prstGeom prst="rect">
            <a:avLst/>
          </a:prstGeom>
          <a:noFill/>
          <a:ln/>
        </p:spPr>
        <p:txBody>
          <a:bodyPr wrap="square" lIns="0" tIns="0" rIns="0" bIns="0" rtlCol="0" anchor="ctr"/>
          <a:lstStyle/>
          <a:p>
            <a:pPr marL="0" indent="0" algn="ctr">
              <a:buNone/>
            </a:pPr>
            <a:r>
              <a:rPr lang="en-US" sz="1400" b="1" dirty="0">
                <a:solidFill>
                  <a:schemeClr val="tx2"/>
                </a:solidFill>
              </a:rPr>
              <a:t>Model parameters: ~241M</a:t>
            </a:r>
            <a:endParaRPr lang="en-US" sz="1400" dirty="0"/>
          </a:p>
        </p:txBody>
      </p:sp>
      <p:sp>
        <p:nvSpPr>
          <p:cNvPr id="9" name="Text 7"/>
          <p:cNvSpPr txBox="1"/>
          <p:nvPr/>
        </p:nvSpPr>
        <p:spPr>
          <a:xfrm>
            <a:off x="548640" y="1371600"/>
            <a:ext cx="8686800" cy="329184"/>
          </a:xfrm>
          <a:prstGeom prst="rect">
            <a:avLst/>
          </a:prstGeom>
          <a:noFill/>
          <a:ln/>
        </p:spPr>
        <p:txBody>
          <a:bodyPr wrap="square" lIns="0" tIns="0" rIns="0" bIns="0" rtlCol="0" anchor="t"/>
          <a:lstStyle/>
          <a:p>
            <a:pPr marL="0" indent="0">
              <a:buNone/>
            </a:pPr>
            <a:r>
              <a:rPr lang="en-US" sz="1600" dirty="0">
                <a:solidFill>
                  <a:schemeClr val="accent5"/>
                </a:solidFill>
              </a:rPr>
              <a:t>A Transformer encoder-decoder, pre-trained on 680,000 h of audio (very little Khmer).</a:t>
            </a:r>
            <a:endParaRPr lang="en-US" sz="1600" dirty="0"/>
          </a:p>
        </p:txBody>
      </p:sp>
      <p:sp>
        <p:nvSpPr>
          <p:cNvPr id="10" name="audio input"/>
          <p:cNvSpPr/>
          <p:nvPr/>
        </p:nvSpPr>
        <p:spPr>
          <a:xfrm>
            <a:off x="548640" y="2331720"/>
            <a:ext cx="1463040" cy="1463040"/>
          </a:xfrm>
          <a:prstGeom prst="roundRect">
            <a:avLst>
              <a:gd name="adj" fmla="val 5000"/>
            </a:avLst>
          </a:prstGeom>
          <a:solidFill>
            <a:schemeClr val="bg2"/>
          </a:solidFill>
          <a:ln w="12700">
            <a:solidFill>
              <a:schemeClr val="bg2"/>
            </a:solidFill>
            <a:prstDash val="solid"/>
          </a:ln>
        </p:spPr>
        <p:txBody>
          <a:bodyPr/>
          <a:lstStyle/>
          <a:p>
            <a:endParaRPr lang="en-US"/>
          </a:p>
        </p:txBody>
      </p:sp>
      <p:pic>
        <p:nvPicPr>
          <p:cNvPr id="11" name="Image 0" descr="audio icon"/>
          <p:cNvPicPr>
            <a:picLocks noChangeAspect="1"/>
          </p:cNvPicPr>
          <p:nvPr/>
        </p:nvPicPr>
        <p:blipFill>
          <a:blip r:embed="rId3"/>
          <a:stretch>
            <a:fillRect/>
          </a:stretch>
        </p:blipFill>
        <p:spPr>
          <a:xfrm>
            <a:off x="1069848" y="2514600"/>
            <a:ext cx="420624" cy="420624"/>
          </a:xfrm>
          <a:prstGeom prst="rect">
            <a:avLst/>
          </a:prstGeom>
        </p:spPr>
      </p:pic>
      <p:sp>
        <p:nvSpPr>
          <p:cNvPr id="12" name="Text 9"/>
          <p:cNvSpPr txBox="1"/>
          <p:nvPr/>
        </p:nvSpPr>
        <p:spPr>
          <a:xfrm>
            <a:off x="548640" y="2971800"/>
            <a:ext cx="1463040" cy="320040"/>
          </a:xfrm>
          <a:prstGeom prst="rect">
            <a:avLst/>
          </a:prstGeom>
          <a:noFill/>
          <a:ln/>
        </p:spPr>
        <p:txBody>
          <a:bodyPr wrap="square" lIns="0" tIns="0" rIns="0" bIns="0" rtlCol="0" anchor="t"/>
          <a:lstStyle/>
          <a:p>
            <a:pPr marL="0" indent="0" algn="ctr">
              <a:buNone/>
            </a:pPr>
            <a:r>
              <a:rPr lang="en-US" sz="1500" b="1" dirty="0">
                <a:solidFill>
                  <a:schemeClr val="tx2"/>
                </a:solidFill>
              </a:rPr>
              <a:t>Khmer audio</a:t>
            </a:r>
            <a:endParaRPr lang="en-US" sz="1500" dirty="0"/>
          </a:p>
        </p:txBody>
      </p:sp>
      <p:sp>
        <p:nvSpPr>
          <p:cNvPr id="13" name="Text 10"/>
          <p:cNvSpPr txBox="1"/>
          <p:nvPr/>
        </p:nvSpPr>
        <p:spPr>
          <a:xfrm>
            <a:off x="594360" y="3291840"/>
            <a:ext cx="1371600" cy="457200"/>
          </a:xfrm>
          <a:prstGeom prst="rect">
            <a:avLst/>
          </a:prstGeom>
          <a:noFill/>
          <a:ln/>
        </p:spPr>
        <p:txBody>
          <a:bodyPr wrap="square" lIns="0" tIns="0" rIns="0" bIns="0" rtlCol="0" anchor="t"/>
          <a:lstStyle/>
          <a:p>
            <a:pPr marL="0" indent="0" algn="ctr">
              <a:buNone/>
            </a:pPr>
            <a:r>
              <a:rPr lang="en-US" sz="1200" dirty="0">
                <a:solidFill>
                  <a:schemeClr val="accent5"/>
                </a:solidFill>
              </a:rPr>
              <a:t>16 kHz mono, up to 30 s</a:t>
            </a:r>
            <a:endParaRPr lang="en-US" sz="1200" dirty="0"/>
          </a:p>
        </p:txBody>
      </p:sp>
      <p:sp>
        <p:nvSpPr>
          <p:cNvPr id="14" name="arrow"/>
          <p:cNvSpPr/>
          <p:nvPr/>
        </p:nvSpPr>
        <p:spPr>
          <a:xfrm>
            <a:off x="2057400" y="3063240"/>
            <a:ext cx="274320" cy="0"/>
          </a:xfrm>
          <a:prstGeom prst="line">
            <a:avLst/>
          </a:prstGeom>
          <a:noFill/>
          <a:ln w="19050">
            <a:solidFill>
              <a:schemeClr val="accent5"/>
            </a:solidFill>
            <a:prstDash val="solid"/>
            <a:tailEnd type="triangle"/>
          </a:ln>
        </p:spPr>
        <p:txBody>
          <a:bodyPr/>
          <a:lstStyle/>
          <a:p>
            <a:endParaRPr lang="en-US"/>
          </a:p>
        </p:txBody>
      </p:sp>
      <p:sp>
        <p:nvSpPr>
          <p:cNvPr id="15" name="log-mel box"/>
          <p:cNvSpPr/>
          <p:nvPr/>
        </p:nvSpPr>
        <p:spPr>
          <a:xfrm>
            <a:off x="2377440" y="2103120"/>
            <a:ext cx="1783080" cy="1920240"/>
          </a:xfrm>
          <a:prstGeom prst="roundRect">
            <a:avLst>
              <a:gd name="adj" fmla="val 4103"/>
            </a:avLst>
          </a:prstGeom>
          <a:solidFill>
            <a:schemeClr val="bg2"/>
          </a:solidFill>
          <a:ln w="12700">
            <a:solidFill>
              <a:schemeClr val="bg2"/>
            </a:solidFill>
            <a:prstDash val="solid"/>
          </a:ln>
        </p:spPr>
        <p:txBody>
          <a:bodyPr/>
          <a:lstStyle/>
          <a:p>
            <a:endParaRPr lang="en-US"/>
          </a:p>
        </p:txBody>
      </p:sp>
      <p:sp>
        <p:nvSpPr>
          <p:cNvPr id="16" name="Text 13"/>
          <p:cNvSpPr txBox="1"/>
          <p:nvPr/>
        </p:nvSpPr>
        <p:spPr>
          <a:xfrm>
            <a:off x="2468880" y="2194560"/>
            <a:ext cx="1600200" cy="502920"/>
          </a:xfrm>
          <a:prstGeom prst="rect">
            <a:avLst/>
          </a:prstGeom>
          <a:noFill/>
          <a:ln/>
        </p:spPr>
        <p:txBody>
          <a:bodyPr wrap="square" lIns="0" tIns="0" rIns="0" bIns="0" rtlCol="0" anchor="t"/>
          <a:lstStyle/>
          <a:p>
            <a:pPr marL="0" indent="0" algn="ctr">
              <a:buNone/>
            </a:pPr>
            <a:r>
              <a:rPr lang="en-US" sz="1400" b="1" dirty="0">
                <a:solidFill>
                  <a:schemeClr val="tx2"/>
                </a:solidFill>
              </a:rPr>
              <a:t>80-band Log-Mel Spectrogram</a:t>
            </a:r>
            <a:endParaRPr lang="en-US" sz="1400" dirty="0"/>
          </a:p>
        </p:txBody>
      </p:sp>
      <p:pic>
        <p:nvPicPr>
          <p:cNvPr id="17" name="Image 1" descr="Stylized log-Mel spectrogram"/>
          <p:cNvPicPr>
            <a:picLocks noChangeAspect="1"/>
          </p:cNvPicPr>
          <p:nvPr/>
        </p:nvPicPr>
        <p:blipFill>
          <a:blip r:embed="rId4"/>
          <a:stretch>
            <a:fillRect/>
          </a:stretch>
        </p:blipFill>
        <p:spPr>
          <a:xfrm>
            <a:off x="2514600" y="2761488"/>
            <a:ext cx="1508760" cy="548640"/>
          </a:xfrm>
          <a:prstGeom prst="rect">
            <a:avLst/>
          </a:prstGeom>
        </p:spPr>
      </p:pic>
      <p:sp>
        <p:nvSpPr>
          <p:cNvPr id="18" name="Text 14"/>
          <p:cNvSpPr txBox="1"/>
          <p:nvPr/>
        </p:nvSpPr>
        <p:spPr>
          <a:xfrm>
            <a:off x="2468880" y="3383280"/>
            <a:ext cx="1600200" cy="502920"/>
          </a:xfrm>
          <a:prstGeom prst="rect">
            <a:avLst/>
          </a:prstGeom>
          <a:noFill/>
          <a:ln/>
        </p:spPr>
        <p:txBody>
          <a:bodyPr wrap="square" lIns="0" tIns="0" rIns="0" bIns="0" rtlCol="0" anchor="t"/>
          <a:lstStyle/>
          <a:p>
            <a:pPr marL="0" indent="0" algn="ctr">
              <a:buNone/>
            </a:pPr>
            <a:r>
              <a:rPr lang="en-US" sz="1200" dirty="0">
                <a:solidFill>
                  <a:schemeClr val="accent5"/>
                </a:solidFill>
              </a:rPr>
              <a:t>80 × 3,000 features over time</a:t>
            </a:r>
            <a:endParaRPr lang="en-US" sz="1200" dirty="0"/>
          </a:p>
        </p:txBody>
      </p:sp>
      <p:sp>
        <p:nvSpPr>
          <p:cNvPr id="19" name="arrow"/>
          <p:cNvSpPr/>
          <p:nvPr/>
        </p:nvSpPr>
        <p:spPr>
          <a:xfrm>
            <a:off x="4206240" y="3063240"/>
            <a:ext cx="274320" cy="0"/>
          </a:xfrm>
          <a:prstGeom prst="line">
            <a:avLst/>
          </a:prstGeom>
          <a:noFill/>
          <a:ln w="19050">
            <a:solidFill>
              <a:schemeClr val="accent5"/>
            </a:solidFill>
            <a:prstDash val="solid"/>
            <a:tailEnd type="triangle"/>
          </a:ln>
        </p:spPr>
        <p:txBody>
          <a:bodyPr/>
          <a:lstStyle/>
          <a:p>
            <a:endParaRPr lang="en-US"/>
          </a:p>
        </p:txBody>
      </p:sp>
      <p:sp>
        <p:nvSpPr>
          <p:cNvPr id="20" name="Whisper-small container"/>
          <p:cNvSpPr/>
          <p:nvPr/>
        </p:nvSpPr>
        <p:spPr>
          <a:xfrm>
            <a:off x="4526280" y="1810512"/>
            <a:ext cx="5440680" cy="2212848"/>
          </a:xfrm>
          <a:prstGeom prst="roundRect">
            <a:avLst>
              <a:gd name="adj" fmla="val 3306"/>
            </a:avLst>
          </a:prstGeom>
          <a:solidFill>
            <a:schemeClr val="bg1"/>
          </a:solidFill>
          <a:ln w="25400">
            <a:solidFill>
              <a:schemeClr val="tx2"/>
            </a:solidFill>
            <a:prstDash val="solid"/>
          </a:ln>
        </p:spPr>
        <p:txBody>
          <a:bodyPr/>
          <a:lstStyle/>
          <a:p>
            <a:endParaRPr lang="en-US"/>
          </a:p>
        </p:txBody>
      </p:sp>
      <p:sp>
        <p:nvSpPr>
          <p:cNvPr id="21" name="Text 17"/>
          <p:cNvSpPr txBox="1"/>
          <p:nvPr/>
        </p:nvSpPr>
        <p:spPr>
          <a:xfrm>
            <a:off x="4709160" y="1892808"/>
            <a:ext cx="5120640" cy="320040"/>
          </a:xfrm>
          <a:prstGeom prst="rect">
            <a:avLst/>
          </a:prstGeom>
          <a:noFill/>
          <a:ln/>
        </p:spPr>
        <p:txBody>
          <a:bodyPr wrap="square" lIns="0" tIns="0" rIns="0" bIns="0" rtlCol="0" anchor="t"/>
          <a:lstStyle/>
          <a:p>
            <a:pPr marL="0" indent="0">
              <a:buNone/>
            </a:pPr>
            <a:r>
              <a:rPr lang="en-US" sz="1300" b="1" dirty="0">
                <a:solidFill>
                  <a:schemeClr val="tx2"/>
                </a:solidFill>
              </a:rPr>
              <a:t>WHISPER-SMALL</a:t>
            </a:r>
            <a:r>
              <a:rPr lang="en-US" sz="1300" dirty="0">
                <a:solidFill>
                  <a:schemeClr val="accent5"/>
                </a:solidFill>
              </a:rPr>
              <a:t>   Transformer encoder-decoder</a:t>
            </a:r>
            <a:endParaRPr lang="en-US" sz="1300" dirty="0"/>
          </a:p>
        </p:txBody>
      </p:sp>
      <p:sp>
        <p:nvSpPr>
          <p:cNvPr id="22" name="encoder block"/>
          <p:cNvSpPr/>
          <p:nvPr/>
        </p:nvSpPr>
        <p:spPr>
          <a:xfrm>
            <a:off x="4709160" y="2286000"/>
            <a:ext cx="1874520" cy="1600200"/>
          </a:xfrm>
          <a:prstGeom prst="roundRect">
            <a:avLst>
              <a:gd name="adj" fmla="val 4571"/>
            </a:avLst>
          </a:prstGeom>
          <a:solidFill>
            <a:schemeClr val="tx2"/>
          </a:solidFill>
          <a:ln w="12700">
            <a:solidFill>
              <a:schemeClr val="tx2"/>
            </a:solidFill>
            <a:prstDash val="solid"/>
          </a:ln>
        </p:spPr>
        <p:txBody>
          <a:bodyPr/>
          <a:lstStyle/>
          <a:p>
            <a:endParaRPr lang="en-US"/>
          </a:p>
        </p:txBody>
      </p:sp>
      <p:sp>
        <p:nvSpPr>
          <p:cNvPr id="23" name="Text 19"/>
          <p:cNvSpPr txBox="1"/>
          <p:nvPr/>
        </p:nvSpPr>
        <p:spPr>
          <a:xfrm>
            <a:off x="4800600" y="2331720"/>
            <a:ext cx="1691640" cy="594360"/>
          </a:xfrm>
          <a:prstGeom prst="rect">
            <a:avLst/>
          </a:prstGeom>
          <a:noFill/>
          <a:ln/>
        </p:spPr>
        <p:txBody>
          <a:bodyPr wrap="square" lIns="0" tIns="0" rIns="0" bIns="0" rtlCol="0" anchor="ctr"/>
          <a:lstStyle/>
          <a:p>
            <a:pPr marL="0" indent="0" algn="ctr">
              <a:buNone/>
            </a:pPr>
            <a:r>
              <a:rPr lang="en-US" sz="1600" b="1" dirty="0">
                <a:solidFill>
                  <a:schemeClr val="bg1"/>
                </a:solidFill>
              </a:rPr>
              <a:t>Transformer</a:t>
            </a:r>
            <a:endParaRPr lang="en-US" sz="1600" dirty="0"/>
          </a:p>
          <a:p>
            <a:pPr marL="0" indent="0" algn="ctr">
              <a:buNone/>
            </a:pPr>
            <a:r>
              <a:rPr lang="en-US" sz="1600" b="1" dirty="0">
                <a:solidFill>
                  <a:schemeClr val="bg1"/>
                </a:solidFill>
              </a:rPr>
              <a:t>encoder</a:t>
            </a:r>
            <a:endParaRPr lang="en-US" sz="1600" dirty="0"/>
          </a:p>
        </p:txBody>
      </p:sp>
      <p:sp>
        <p:nvSpPr>
          <p:cNvPr id="24" name="Text 20"/>
          <p:cNvSpPr txBox="1"/>
          <p:nvPr/>
        </p:nvSpPr>
        <p:spPr>
          <a:xfrm>
            <a:off x="4800600" y="2907792"/>
            <a:ext cx="1691640" cy="237744"/>
          </a:xfrm>
          <a:prstGeom prst="rect">
            <a:avLst/>
          </a:prstGeom>
          <a:noFill/>
          <a:ln/>
        </p:spPr>
        <p:txBody>
          <a:bodyPr wrap="square" lIns="0" tIns="0" rIns="0" bIns="0" rtlCol="0" anchor="t"/>
          <a:lstStyle/>
          <a:p>
            <a:pPr marL="0" indent="0" algn="ctr">
              <a:buNone/>
            </a:pPr>
            <a:r>
              <a:rPr lang="en-US" sz="1200" b="1" dirty="0">
                <a:solidFill>
                  <a:schemeClr val="accent2"/>
                </a:solidFill>
              </a:rPr>
              <a:t>12 layers</a:t>
            </a:r>
            <a:endParaRPr lang="en-US" sz="1200" dirty="0"/>
          </a:p>
        </p:txBody>
      </p:sp>
      <p:sp>
        <p:nvSpPr>
          <p:cNvPr id="25" name="Text 21"/>
          <p:cNvSpPr txBox="1"/>
          <p:nvPr/>
        </p:nvSpPr>
        <p:spPr>
          <a:xfrm>
            <a:off x="4818888" y="3154680"/>
            <a:ext cx="1655064" cy="685800"/>
          </a:xfrm>
          <a:prstGeom prst="rect">
            <a:avLst/>
          </a:prstGeom>
          <a:noFill/>
          <a:ln/>
        </p:spPr>
        <p:txBody>
          <a:bodyPr wrap="square" lIns="0" tIns="0" rIns="0" bIns="0" rtlCol="0" anchor="t"/>
          <a:lstStyle/>
          <a:p>
            <a:pPr marL="0" indent="0" algn="ctr">
              <a:buNone/>
            </a:pPr>
            <a:r>
              <a:rPr lang="en-US" sz="1300" dirty="0">
                <a:solidFill>
                  <a:schemeClr val="accent6"/>
                </a:solidFill>
              </a:rPr>
              <a:t>Processes audio features and context</a:t>
            </a:r>
            <a:endParaRPr lang="en-US" sz="1300" dirty="0"/>
          </a:p>
        </p:txBody>
      </p:sp>
      <p:sp>
        <p:nvSpPr>
          <p:cNvPr id="26" name="decoder block"/>
          <p:cNvSpPr/>
          <p:nvPr/>
        </p:nvSpPr>
        <p:spPr>
          <a:xfrm>
            <a:off x="7909560" y="2286000"/>
            <a:ext cx="1874520" cy="1600200"/>
          </a:xfrm>
          <a:prstGeom prst="roundRect">
            <a:avLst>
              <a:gd name="adj" fmla="val 4571"/>
            </a:avLst>
          </a:prstGeom>
          <a:solidFill>
            <a:schemeClr val="tx2"/>
          </a:solidFill>
          <a:ln w="12700">
            <a:solidFill>
              <a:schemeClr val="tx2"/>
            </a:solidFill>
            <a:prstDash val="solid"/>
          </a:ln>
        </p:spPr>
        <p:txBody>
          <a:bodyPr/>
          <a:lstStyle/>
          <a:p>
            <a:endParaRPr lang="en-US"/>
          </a:p>
        </p:txBody>
      </p:sp>
      <p:sp>
        <p:nvSpPr>
          <p:cNvPr id="27" name="Text 23"/>
          <p:cNvSpPr txBox="1"/>
          <p:nvPr/>
        </p:nvSpPr>
        <p:spPr>
          <a:xfrm>
            <a:off x="8001000" y="2331720"/>
            <a:ext cx="1691640" cy="594360"/>
          </a:xfrm>
          <a:prstGeom prst="rect">
            <a:avLst/>
          </a:prstGeom>
          <a:noFill/>
          <a:ln/>
        </p:spPr>
        <p:txBody>
          <a:bodyPr wrap="square" lIns="0" tIns="0" rIns="0" bIns="0" rtlCol="0" anchor="ctr"/>
          <a:lstStyle/>
          <a:p>
            <a:pPr marL="0" indent="0" algn="ctr">
              <a:buNone/>
            </a:pPr>
            <a:r>
              <a:rPr lang="en-US" sz="1600" b="1" dirty="0">
                <a:solidFill>
                  <a:schemeClr val="bg1"/>
                </a:solidFill>
              </a:rPr>
              <a:t>Transformer</a:t>
            </a:r>
            <a:endParaRPr lang="en-US" sz="1600" dirty="0"/>
          </a:p>
          <a:p>
            <a:pPr marL="0" indent="0" algn="ctr">
              <a:buNone/>
            </a:pPr>
            <a:r>
              <a:rPr lang="en-US" sz="1600" b="1" dirty="0">
                <a:solidFill>
                  <a:schemeClr val="bg1"/>
                </a:solidFill>
              </a:rPr>
              <a:t>decoder</a:t>
            </a:r>
            <a:endParaRPr lang="en-US" sz="1600" dirty="0"/>
          </a:p>
        </p:txBody>
      </p:sp>
      <p:sp>
        <p:nvSpPr>
          <p:cNvPr id="28" name="Text 24"/>
          <p:cNvSpPr txBox="1"/>
          <p:nvPr/>
        </p:nvSpPr>
        <p:spPr>
          <a:xfrm>
            <a:off x="8001000" y="2907792"/>
            <a:ext cx="1691640" cy="237744"/>
          </a:xfrm>
          <a:prstGeom prst="rect">
            <a:avLst/>
          </a:prstGeom>
          <a:noFill/>
          <a:ln/>
        </p:spPr>
        <p:txBody>
          <a:bodyPr wrap="square" lIns="0" tIns="0" rIns="0" bIns="0" rtlCol="0" anchor="t"/>
          <a:lstStyle/>
          <a:p>
            <a:pPr marL="0" indent="0" algn="ctr">
              <a:buNone/>
            </a:pPr>
            <a:r>
              <a:rPr lang="en-US" sz="1200" b="1" dirty="0">
                <a:solidFill>
                  <a:schemeClr val="accent2"/>
                </a:solidFill>
              </a:rPr>
              <a:t>12 layers</a:t>
            </a:r>
            <a:endParaRPr lang="en-US" sz="1200" dirty="0"/>
          </a:p>
        </p:txBody>
      </p:sp>
      <p:sp>
        <p:nvSpPr>
          <p:cNvPr id="29" name="Text 25"/>
          <p:cNvSpPr txBox="1"/>
          <p:nvPr/>
        </p:nvSpPr>
        <p:spPr>
          <a:xfrm>
            <a:off x="8019288" y="3154680"/>
            <a:ext cx="1655064" cy="685800"/>
          </a:xfrm>
          <a:prstGeom prst="rect">
            <a:avLst/>
          </a:prstGeom>
          <a:noFill/>
          <a:ln/>
        </p:spPr>
        <p:txBody>
          <a:bodyPr wrap="square" lIns="0" tIns="0" rIns="0" bIns="0" rtlCol="0" anchor="t"/>
          <a:lstStyle/>
          <a:p>
            <a:pPr marL="0" indent="0" algn="ctr">
              <a:buNone/>
            </a:pPr>
            <a:r>
              <a:rPr lang="en-US" sz="1300" dirty="0">
                <a:solidFill>
                  <a:schemeClr val="accent6"/>
                </a:solidFill>
              </a:rPr>
              <a:t>Attends to the encoder and generates tokens</a:t>
            </a:r>
            <a:endParaRPr lang="en-US" sz="1300" dirty="0"/>
          </a:p>
        </p:txBody>
      </p:sp>
      <p:sp>
        <p:nvSpPr>
          <p:cNvPr id="30" name="hidden states"/>
          <p:cNvSpPr/>
          <p:nvPr/>
        </p:nvSpPr>
        <p:spPr>
          <a:xfrm>
            <a:off x="6675120" y="2633472"/>
            <a:ext cx="1143000" cy="365760"/>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31" name="Text 27"/>
          <p:cNvSpPr txBox="1"/>
          <p:nvPr/>
        </p:nvSpPr>
        <p:spPr>
          <a:xfrm>
            <a:off x="6675120" y="2633472"/>
            <a:ext cx="1143000" cy="365760"/>
          </a:xfrm>
          <a:prstGeom prst="rect">
            <a:avLst/>
          </a:prstGeom>
          <a:noFill/>
          <a:ln/>
        </p:spPr>
        <p:txBody>
          <a:bodyPr wrap="square" lIns="0" tIns="0" rIns="0" bIns="0" rtlCol="0" anchor="ctr"/>
          <a:lstStyle/>
          <a:p>
            <a:pPr marL="0" indent="0" algn="ctr">
              <a:buNone/>
            </a:pPr>
            <a:r>
              <a:rPr lang="en-US" sz="1200" b="1" dirty="0">
                <a:solidFill>
                  <a:schemeClr val="tx2"/>
                </a:solidFill>
              </a:rPr>
              <a:t>Hidden states</a:t>
            </a:r>
            <a:endParaRPr lang="en-US" sz="1200" dirty="0"/>
          </a:p>
        </p:txBody>
      </p:sp>
      <p:sp>
        <p:nvSpPr>
          <p:cNvPr id="32" name="arrow"/>
          <p:cNvSpPr/>
          <p:nvPr/>
        </p:nvSpPr>
        <p:spPr>
          <a:xfrm>
            <a:off x="6601968" y="3090672"/>
            <a:ext cx="1261872" cy="0"/>
          </a:xfrm>
          <a:prstGeom prst="line">
            <a:avLst/>
          </a:prstGeom>
          <a:noFill/>
          <a:ln w="19050">
            <a:solidFill>
              <a:schemeClr val="tx2"/>
            </a:solidFill>
            <a:prstDash val="solid"/>
            <a:tailEnd type="triangle"/>
          </a:ln>
        </p:spPr>
        <p:txBody>
          <a:bodyPr/>
          <a:lstStyle/>
          <a:p>
            <a:endParaRPr lang="en-US"/>
          </a:p>
        </p:txBody>
      </p:sp>
      <p:sp>
        <p:nvSpPr>
          <p:cNvPr id="33" name="Text 29"/>
          <p:cNvSpPr txBox="1"/>
          <p:nvPr/>
        </p:nvSpPr>
        <p:spPr>
          <a:xfrm>
            <a:off x="6583680" y="3154680"/>
            <a:ext cx="1325880" cy="274320"/>
          </a:xfrm>
          <a:prstGeom prst="rect">
            <a:avLst/>
          </a:prstGeom>
          <a:noFill/>
          <a:ln/>
        </p:spPr>
        <p:txBody>
          <a:bodyPr wrap="square" lIns="0" tIns="0" rIns="0" bIns="0" rtlCol="0" anchor="t"/>
          <a:lstStyle/>
          <a:p>
            <a:pPr marL="0" indent="0" algn="ctr">
              <a:buNone/>
            </a:pPr>
            <a:r>
              <a:rPr lang="en-US" sz="1200" i="1" dirty="0">
                <a:solidFill>
                  <a:schemeClr val="accent5"/>
                </a:solidFill>
              </a:rPr>
              <a:t>cross-attention</a:t>
            </a:r>
            <a:endParaRPr lang="en-US" sz="1200" dirty="0"/>
          </a:p>
        </p:txBody>
      </p:sp>
      <p:sp>
        <p:nvSpPr>
          <p:cNvPr id="34" name="arrow"/>
          <p:cNvSpPr/>
          <p:nvPr/>
        </p:nvSpPr>
        <p:spPr>
          <a:xfrm>
            <a:off x="9802368" y="3063240"/>
            <a:ext cx="438912" cy="0"/>
          </a:xfrm>
          <a:prstGeom prst="line">
            <a:avLst/>
          </a:prstGeom>
          <a:noFill/>
          <a:ln w="19050">
            <a:solidFill>
              <a:schemeClr val="tx2"/>
            </a:solidFill>
            <a:prstDash val="solid"/>
            <a:tailEnd type="triangle"/>
          </a:ln>
        </p:spPr>
        <p:txBody>
          <a:bodyPr/>
          <a:lstStyle/>
          <a:p>
            <a:endParaRPr lang="en-US"/>
          </a:p>
        </p:txBody>
      </p:sp>
      <p:sp>
        <p:nvSpPr>
          <p:cNvPr id="35" name="output box"/>
          <p:cNvSpPr/>
          <p:nvPr/>
        </p:nvSpPr>
        <p:spPr>
          <a:xfrm>
            <a:off x="10287000" y="2331720"/>
            <a:ext cx="1353312" cy="1463040"/>
          </a:xfrm>
          <a:prstGeom prst="roundRect">
            <a:avLst>
              <a:gd name="adj" fmla="val 5405"/>
            </a:avLst>
          </a:prstGeom>
          <a:solidFill>
            <a:schemeClr val="accent3"/>
          </a:solidFill>
          <a:ln w="12700">
            <a:solidFill>
              <a:schemeClr val="accent3"/>
            </a:solidFill>
            <a:prstDash val="solid"/>
          </a:ln>
        </p:spPr>
        <p:txBody>
          <a:bodyPr/>
          <a:lstStyle/>
          <a:p>
            <a:endParaRPr lang="en-US"/>
          </a:p>
        </p:txBody>
      </p:sp>
      <p:sp>
        <p:nvSpPr>
          <p:cNvPr id="36" name="Text 32"/>
          <p:cNvSpPr txBox="1"/>
          <p:nvPr/>
        </p:nvSpPr>
        <p:spPr>
          <a:xfrm>
            <a:off x="10332720" y="2377440"/>
            <a:ext cx="1261872" cy="1371600"/>
          </a:xfrm>
          <a:prstGeom prst="rect">
            <a:avLst/>
          </a:prstGeom>
          <a:noFill/>
          <a:ln/>
        </p:spPr>
        <p:txBody>
          <a:bodyPr wrap="square" lIns="0" tIns="0" rIns="0" bIns="0" rtlCol="0" anchor="ctr"/>
          <a:lstStyle/>
          <a:p>
            <a:pPr marL="0" indent="0" algn="ctr">
              <a:buNone/>
            </a:pPr>
            <a:r>
              <a:rPr lang="en-US" sz="1400" b="1" dirty="0">
                <a:solidFill>
                  <a:schemeClr val="bg1"/>
                </a:solidFill>
              </a:rPr>
              <a:t>Khmer text + timestamp tokens</a:t>
            </a:r>
            <a:endParaRPr lang="en-US" sz="1400" dirty="0"/>
          </a:p>
        </p:txBody>
      </p:sp>
      <p:sp>
        <p:nvSpPr>
          <p:cNvPr id="37" name="Text 33"/>
          <p:cNvSpPr txBox="1"/>
          <p:nvPr/>
        </p:nvSpPr>
        <p:spPr>
          <a:xfrm>
            <a:off x="548640" y="4343400"/>
            <a:ext cx="11091672" cy="365760"/>
          </a:xfrm>
          <a:prstGeom prst="rect">
            <a:avLst/>
          </a:prstGeom>
          <a:noFill/>
          <a:ln/>
        </p:spPr>
        <p:txBody>
          <a:bodyPr wrap="square" lIns="0" tIns="0" rIns="0" bIns="0" rtlCol="0" anchor="t"/>
          <a:lstStyle/>
          <a:p>
            <a:pPr marL="0" indent="0">
              <a:buNone/>
            </a:pPr>
            <a:r>
              <a:rPr lang="en-US" sz="1500" b="1" dirty="0">
                <a:solidFill>
                  <a:schemeClr val="tx2"/>
                </a:solidFill>
              </a:rPr>
              <a:t>Transformer: </a:t>
            </a:r>
            <a:r>
              <a:rPr lang="en-US" sz="1500" dirty="0">
                <a:solidFill>
                  <a:schemeClr val="tx1"/>
                </a:solidFill>
              </a:rPr>
              <a:t>a neural network architecture that uses attention to model relationships in the input.</a:t>
            </a:r>
            <a:endParaRPr lang="en-US" sz="1500" dirty="0"/>
          </a:p>
        </p:txBody>
      </p:sp>
      <p:sp>
        <p:nvSpPr>
          <p:cNvPr id="39" name="Text 34"/>
          <p:cNvSpPr txBox="1"/>
          <p:nvPr/>
        </p:nvSpPr>
        <p:spPr>
          <a:xfrm>
            <a:off x="548640" y="5989320"/>
            <a:ext cx="7315200" cy="274320"/>
          </a:xfrm>
          <a:prstGeom prst="rect">
            <a:avLst/>
          </a:prstGeom>
          <a:noFill/>
          <a:ln/>
        </p:spPr>
        <p:txBody>
          <a:bodyPr wrap="square" lIns="0" tIns="0" rIns="0" bIns="0" rtlCol="0" anchor="t"/>
          <a:lstStyle/>
          <a:p>
            <a:pPr marL="0" indent="0">
              <a:buNone/>
            </a:pPr>
            <a:r>
              <a:rPr lang="en-US" sz="1200" i="1" dirty="0">
                <a:solidFill>
                  <a:schemeClr val="accent5"/>
                </a:solidFill>
              </a:rPr>
              <a:t>Source: openai/whisper-small (Radford et al., 2023)</a:t>
            </a:r>
            <a:endParaRPr lang="en-US" sz="1200" dirty="0"/>
          </a:p>
        </p:txBody>
      </p:sp>
      <p:sp>
        <p:nvSpPr>
          <p:cNvPr id="40" name="Encoder note"/>
          <p:cNvSpPr/>
          <p:nvPr/>
        </p:nvSpPr>
        <p:spPr>
          <a:xfrm>
            <a:off x="548640" y="4846320"/>
            <a:ext cx="3502152" cy="1051560"/>
          </a:xfrm>
          <a:prstGeom prst="roundRect">
            <a:avLst>
              <a:gd name="adj" fmla="val 6957"/>
            </a:avLst>
          </a:prstGeom>
          <a:solidFill>
            <a:schemeClr val="bg2"/>
          </a:solidFill>
          <a:ln w="12700">
            <a:solidFill>
              <a:schemeClr val="bg2"/>
            </a:solidFill>
            <a:prstDash val="solid"/>
          </a:ln>
        </p:spPr>
        <p:txBody>
          <a:bodyPr/>
          <a:lstStyle/>
          <a:p>
            <a:endParaRPr lang="en-US"/>
          </a:p>
        </p:txBody>
      </p:sp>
      <p:sp>
        <p:nvSpPr>
          <p:cNvPr id="41" name="Text 36"/>
          <p:cNvSpPr txBox="1"/>
          <p:nvPr/>
        </p:nvSpPr>
        <p:spPr>
          <a:xfrm>
            <a:off x="777240" y="4956048"/>
            <a:ext cx="3108960" cy="292608"/>
          </a:xfrm>
          <a:prstGeom prst="rect">
            <a:avLst/>
          </a:prstGeom>
          <a:noFill/>
          <a:ln/>
        </p:spPr>
        <p:txBody>
          <a:bodyPr wrap="square" lIns="0" tIns="0" rIns="0" bIns="0" rtlCol="0" anchor="t"/>
          <a:lstStyle/>
          <a:p>
            <a:pPr marL="0" indent="0">
              <a:buNone/>
            </a:pPr>
            <a:r>
              <a:rPr lang="en-US" sz="1500" b="1" dirty="0">
                <a:solidFill>
                  <a:schemeClr val="tx2"/>
                </a:solidFill>
              </a:rPr>
              <a:t>Encoder</a:t>
            </a:r>
            <a:endParaRPr lang="en-US" sz="1500" dirty="0"/>
          </a:p>
        </p:txBody>
      </p:sp>
      <p:sp>
        <p:nvSpPr>
          <p:cNvPr id="42" name="Text 37"/>
          <p:cNvSpPr txBox="1"/>
          <p:nvPr/>
        </p:nvSpPr>
        <p:spPr>
          <a:xfrm>
            <a:off x="777240" y="5303520"/>
            <a:ext cx="3154680" cy="457200"/>
          </a:xfrm>
          <a:prstGeom prst="rect">
            <a:avLst/>
          </a:prstGeom>
          <a:noFill/>
          <a:ln/>
        </p:spPr>
        <p:txBody>
          <a:bodyPr wrap="square" lIns="0" tIns="0" rIns="0" bIns="0" rtlCol="0" anchor="t"/>
          <a:lstStyle/>
          <a:p>
            <a:pPr marL="0" indent="0">
              <a:buNone/>
            </a:pPr>
            <a:r>
              <a:rPr lang="en-US" sz="1400" dirty="0">
                <a:solidFill>
                  <a:schemeClr val="tx1"/>
                </a:solidFill>
              </a:rPr>
              <a:t>→ Understands the audio representation and context</a:t>
            </a:r>
            <a:endParaRPr lang="en-US" sz="1400" dirty="0"/>
          </a:p>
        </p:txBody>
      </p:sp>
      <p:sp>
        <p:nvSpPr>
          <p:cNvPr id="43" name="Hidden states note"/>
          <p:cNvSpPr/>
          <p:nvPr/>
        </p:nvSpPr>
        <p:spPr>
          <a:xfrm>
            <a:off x="4343400" y="4846320"/>
            <a:ext cx="3502152" cy="1051560"/>
          </a:xfrm>
          <a:prstGeom prst="roundRect">
            <a:avLst>
              <a:gd name="adj" fmla="val 6957"/>
            </a:avLst>
          </a:prstGeom>
          <a:solidFill>
            <a:schemeClr val="bg2"/>
          </a:solidFill>
          <a:ln w="12700">
            <a:solidFill>
              <a:schemeClr val="bg2"/>
            </a:solidFill>
            <a:prstDash val="solid"/>
          </a:ln>
        </p:spPr>
        <p:txBody>
          <a:bodyPr/>
          <a:lstStyle/>
          <a:p>
            <a:endParaRPr lang="en-US"/>
          </a:p>
        </p:txBody>
      </p:sp>
      <p:sp>
        <p:nvSpPr>
          <p:cNvPr id="44" name="Text 39"/>
          <p:cNvSpPr txBox="1"/>
          <p:nvPr/>
        </p:nvSpPr>
        <p:spPr>
          <a:xfrm>
            <a:off x="4572000" y="4956048"/>
            <a:ext cx="3108960" cy="292608"/>
          </a:xfrm>
          <a:prstGeom prst="rect">
            <a:avLst/>
          </a:prstGeom>
          <a:noFill/>
          <a:ln/>
        </p:spPr>
        <p:txBody>
          <a:bodyPr wrap="square" lIns="0" tIns="0" rIns="0" bIns="0" rtlCol="0" anchor="t"/>
          <a:lstStyle/>
          <a:p>
            <a:pPr marL="0" indent="0">
              <a:buNone/>
            </a:pPr>
            <a:r>
              <a:rPr lang="en-US" sz="1500" b="1" dirty="0">
                <a:solidFill>
                  <a:schemeClr val="accent2"/>
                </a:solidFill>
              </a:rPr>
              <a:t>Hidden states</a:t>
            </a:r>
            <a:endParaRPr lang="en-US" sz="1500" dirty="0"/>
          </a:p>
        </p:txBody>
      </p:sp>
      <p:sp>
        <p:nvSpPr>
          <p:cNvPr id="45" name="Text 40"/>
          <p:cNvSpPr txBox="1"/>
          <p:nvPr/>
        </p:nvSpPr>
        <p:spPr>
          <a:xfrm>
            <a:off x="4572000" y="5303520"/>
            <a:ext cx="3154680" cy="457200"/>
          </a:xfrm>
          <a:prstGeom prst="rect">
            <a:avLst/>
          </a:prstGeom>
          <a:noFill/>
          <a:ln/>
        </p:spPr>
        <p:txBody>
          <a:bodyPr wrap="square" lIns="0" tIns="0" rIns="0" bIns="0" rtlCol="0" anchor="t"/>
          <a:lstStyle/>
          <a:p>
            <a:pPr marL="0" indent="0">
              <a:buNone/>
            </a:pPr>
            <a:r>
              <a:rPr lang="en-US" sz="1400" dirty="0">
                <a:solidFill>
                  <a:schemeClr val="tx1"/>
                </a:solidFill>
              </a:rPr>
              <a:t>→ Internal numerical representation of the audio</a:t>
            </a:r>
            <a:endParaRPr lang="en-US" sz="1400" dirty="0"/>
          </a:p>
        </p:txBody>
      </p:sp>
      <p:sp>
        <p:nvSpPr>
          <p:cNvPr id="46" name="Decoder note"/>
          <p:cNvSpPr/>
          <p:nvPr/>
        </p:nvSpPr>
        <p:spPr>
          <a:xfrm>
            <a:off x="8138160" y="4846320"/>
            <a:ext cx="3502152" cy="1051560"/>
          </a:xfrm>
          <a:prstGeom prst="roundRect">
            <a:avLst>
              <a:gd name="adj" fmla="val 6957"/>
            </a:avLst>
          </a:prstGeom>
          <a:solidFill>
            <a:schemeClr val="bg2"/>
          </a:solidFill>
          <a:ln w="12700">
            <a:solidFill>
              <a:schemeClr val="bg2"/>
            </a:solidFill>
            <a:prstDash val="solid"/>
          </a:ln>
        </p:spPr>
        <p:txBody>
          <a:bodyPr/>
          <a:lstStyle/>
          <a:p>
            <a:endParaRPr lang="en-US"/>
          </a:p>
        </p:txBody>
      </p:sp>
      <p:sp>
        <p:nvSpPr>
          <p:cNvPr id="47" name="Text 42"/>
          <p:cNvSpPr txBox="1"/>
          <p:nvPr/>
        </p:nvSpPr>
        <p:spPr>
          <a:xfrm>
            <a:off x="8366760" y="4956048"/>
            <a:ext cx="3108960" cy="292608"/>
          </a:xfrm>
          <a:prstGeom prst="rect">
            <a:avLst/>
          </a:prstGeom>
          <a:noFill/>
          <a:ln/>
        </p:spPr>
        <p:txBody>
          <a:bodyPr wrap="square" lIns="0" tIns="0" rIns="0" bIns="0" rtlCol="0" anchor="t"/>
          <a:lstStyle/>
          <a:p>
            <a:pPr marL="0" indent="0">
              <a:buNone/>
            </a:pPr>
            <a:r>
              <a:rPr lang="en-US" sz="1500" b="1" dirty="0">
                <a:solidFill>
                  <a:schemeClr val="tx2"/>
                </a:solidFill>
              </a:rPr>
              <a:t>Decoder</a:t>
            </a:r>
            <a:endParaRPr lang="en-US" sz="1500" dirty="0"/>
          </a:p>
        </p:txBody>
      </p:sp>
      <p:sp>
        <p:nvSpPr>
          <p:cNvPr id="48" name="Text 43"/>
          <p:cNvSpPr txBox="1"/>
          <p:nvPr/>
        </p:nvSpPr>
        <p:spPr>
          <a:xfrm>
            <a:off x="8366760" y="5303520"/>
            <a:ext cx="3154680" cy="457200"/>
          </a:xfrm>
          <a:prstGeom prst="rect">
            <a:avLst/>
          </a:prstGeom>
          <a:noFill/>
          <a:ln/>
        </p:spPr>
        <p:txBody>
          <a:bodyPr wrap="square" lIns="0" tIns="0" rIns="0" bIns="0" rtlCol="0" anchor="t"/>
          <a:lstStyle/>
          <a:p>
            <a:pPr marL="0" indent="0">
              <a:buNone/>
            </a:pPr>
            <a:r>
              <a:rPr lang="en-US" sz="1400" dirty="0">
                <a:solidFill>
                  <a:schemeClr val="tx1"/>
                </a:solidFill>
              </a:rPr>
              <a:t>→ Generates the Khmer transcription token by token</a:t>
            </a:r>
            <a:endParaRPr lang="en-US" sz="1400" dirty="0"/>
          </a:p>
        </p:txBody>
      </p:sp>
      <p:sp>
        <p:nvSpPr>
          <p:cNvPr id="38"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b="1" dirty="0">
                <a:solidFill>
                  <a:schemeClr val="accent3"/>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how we adapt Whisper-small to Khmer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06</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6. Model architecture</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Inside each </a:t>
            </a:r>
            <a:r>
              <a:rPr lang="en-US" sz="3200" b="1" dirty="0">
                <a:solidFill>
                  <a:schemeClr val="accent3"/>
                </a:solidFill>
                <a:latin typeface="Calibri" pitchFamily="34" charset="0"/>
                <a:ea typeface="Calibri" pitchFamily="34" charset="-122"/>
                <a:cs typeface="Calibri" pitchFamily="34" charset="-120"/>
              </a:rPr>
              <a:t>Transformer</a:t>
            </a:r>
            <a:r>
              <a:rPr lang="en-US" sz="3200" b="1" dirty="0">
                <a:solidFill>
                  <a:schemeClr val="tx2"/>
                </a:solidFill>
                <a:latin typeface="Calibri" pitchFamily="34" charset="0"/>
                <a:ea typeface="Calibri" pitchFamily="34" charset="-122"/>
                <a:cs typeface="Calibri" pitchFamily="34" charset="-120"/>
              </a:rPr>
              <a:t> layer</a:t>
            </a:r>
            <a:endParaRPr lang="en-US" sz="3200" dirty="0"/>
          </a:p>
        </p:txBody>
      </p:sp>
      <p:sp>
        <p:nvSpPr>
          <p:cNvPr id="7" name="encoder input"/>
          <p:cNvSpPr/>
          <p:nvPr/>
        </p:nvSpPr>
        <p:spPr>
          <a:xfrm>
            <a:off x="548640" y="1783080"/>
            <a:ext cx="3246120" cy="530352"/>
          </a:xfrm>
          <a:prstGeom prst="roundRect">
            <a:avLst>
              <a:gd name="adj" fmla="val 13793"/>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658368" y="1783080"/>
            <a:ext cx="3026664" cy="530352"/>
          </a:xfrm>
          <a:prstGeom prst="rect">
            <a:avLst/>
          </a:prstGeom>
          <a:noFill/>
          <a:ln/>
        </p:spPr>
        <p:txBody>
          <a:bodyPr wrap="square" lIns="0" tIns="0" rIns="0" bIns="0" rtlCol="0" anchor="ctr"/>
          <a:lstStyle/>
          <a:p>
            <a:pPr marL="0" indent="0" algn="ctr">
              <a:buNone/>
            </a:pPr>
            <a:r>
              <a:rPr lang="en-US" sz="1200" dirty="0">
                <a:solidFill>
                  <a:schemeClr val="tx1"/>
                </a:solidFill>
              </a:rPr>
              <a:t>Log-Mel 80 × 3,000 → conv stem (2 × Conv1D, GELU) + sinusoidal positions</a:t>
            </a:r>
            <a:endParaRPr lang="en-US" sz="1200" dirty="0"/>
          </a:p>
        </p:txBody>
      </p:sp>
      <p:sp>
        <p:nvSpPr>
          <p:cNvPr id="9" name="arrow"/>
          <p:cNvSpPr/>
          <p:nvPr/>
        </p:nvSpPr>
        <p:spPr>
          <a:xfrm>
            <a:off x="2171700" y="2331720"/>
            <a:ext cx="0" cy="118872"/>
          </a:xfrm>
          <a:prstGeom prst="line">
            <a:avLst/>
          </a:prstGeom>
          <a:noFill/>
          <a:ln w="19050">
            <a:solidFill>
              <a:schemeClr val="accent5"/>
            </a:solidFill>
            <a:prstDash val="solid"/>
            <a:tailEnd type="triangle"/>
          </a:ln>
        </p:spPr>
        <p:txBody>
          <a:bodyPr/>
          <a:lstStyle/>
          <a:p>
            <a:endParaRPr lang="en-US"/>
          </a:p>
        </p:txBody>
      </p:sp>
      <p:sp>
        <p:nvSpPr>
          <p:cNvPr id="10" name="encoder layer"/>
          <p:cNvSpPr/>
          <p:nvPr/>
        </p:nvSpPr>
        <p:spPr>
          <a:xfrm>
            <a:off x="548640" y="2468880"/>
            <a:ext cx="3246120" cy="1828800"/>
          </a:xfrm>
          <a:prstGeom prst="roundRect">
            <a:avLst>
              <a:gd name="adj" fmla="val 4000"/>
            </a:avLst>
          </a:prstGeom>
          <a:solidFill>
            <a:schemeClr val="bg1"/>
          </a:solidFill>
          <a:ln w="19050">
            <a:solidFill>
              <a:schemeClr val="tx2"/>
            </a:solidFill>
            <a:prstDash val="solid"/>
          </a:ln>
        </p:spPr>
        <p:txBody>
          <a:bodyPr/>
          <a:lstStyle/>
          <a:p>
            <a:endParaRPr lang="en-US"/>
          </a:p>
        </p:txBody>
      </p:sp>
      <p:sp>
        <p:nvSpPr>
          <p:cNvPr id="11" name="Text 9"/>
          <p:cNvSpPr txBox="1"/>
          <p:nvPr/>
        </p:nvSpPr>
        <p:spPr>
          <a:xfrm>
            <a:off x="685800" y="2523744"/>
            <a:ext cx="2743200" cy="292608"/>
          </a:xfrm>
          <a:prstGeom prst="rect">
            <a:avLst/>
          </a:prstGeom>
          <a:noFill/>
          <a:ln/>
        </p:spPr>
        <p:txBody>
          <a:bodyPr wrap="square" lIns="0" tIns="0" rIns="0" bIns="0" rtlCol="0" anchor="t"/>
          <a:lstStyle/>
          <a:p>
            <a:pPr marL="0" indent="0">
              <a:buNone/>
            </a:pPr>
            <a:r>
              <a:rPr lang="en-US" sz="1400" b="1" dirty="0">
                <a:solidFill>
                  <a:schemeClr val="tx2"/>
                </a:solidFill>
              </a:rPr>
              <a:t>Encoder layer </a:t>
            </a:r>
            <a:r>
              <a:rPr lang="en-US" sz="1400" b="1" dirty="0">
                <a:solidFill>
                  <a:schemeClr val="accent2"/>
                </a:solidFill>
              </a:rPr>
              <a:t>× 12</a:t>
            </a:r>
            <a:endParaRPr lang="en-US" sz="1400" dirty="0"/>
          </a:p>
        </p:txBody>
      </p:sp>
      <p:sp>
        <p:nvSpPr>
          <p:cNvPr id="12" name="encoder self-attention"/>
          <p:cNvSpPr/>
          <p:nvPr/>
        </p:nvSpPr>
        <p:spPr>
          <a:xfrm>
            <a:off x="685800" y="2852928"/>
            <a:ext cx="2971800" cy="603504"/>
          </a:xfrm>
          <a:prstGeom prst="roundRect">
            <a:avLst>
              <a:gd name="adj" fmla="val 12121"/>
            </a:avLst>
          </a:prstGeom>
          <a:solidFill>
            <a:schemeClr val="tx2"/>
          </a:solidFill>
          <a:ln w="12700">
            <a:solidFill>
              <a:schemeClr val="tx2"/>
            </a:solidFill>
            <a:prstDash val="solid"/>
          </a:ln>
        </p:spPr>
        <p:txBody>
          <a:bodyPr/>
          <a:lstStyle/>
          <a:p>
            <a:endParaRPr lang="en-US"/>
          </a:p>
        </p:txBody>
      </p:sp>
      <p:sp>
        <p:nvSpPr>
          <p:cNvPr id="13" name="Text 11"/>
          <p:cNvSpPr txBox="1"/>
          <p:nvPr/>
        </p:nvSpPr>
        <p:spPr>
          <a:xfrm>
            <a:off x="822960" y="2898648"/>
            <a:ext cx="2697480" cy="274320"/>
          </a:xfrm>
          <a:prstGeom prst="rect">
            <a:avLst/>
          </a:prstGeom>
          <a:noFill/>
          <a:ln/>
        </p:spPr>
        <p:txBody>
          <a:bodyPr wrap="square" lIns="0" tIns="0" rIns="0" bIns="0" rtlCol="0" anchor="t"/>
          <a:lstStyle/>
          <a:p>
            <a:pPr marL="0" indent="0">
              <a:buNone/>
            </a:pPr>
            <a:r>
              <a:rPr lang="en-US" sz="1300" b="1" dirty="0">
                <a:solidFill>
                  <a:schemeClr val="bg1"/>
                </a:solidFill>
              </a:rPr>
              <a:t>Multi-head self-attention</a:t>
            </a:r>
            <a:endParaRPr lang="en-US" sz="1300" dirty="0"/>
          </a:p>
        </p:txBody>
      </p:sp>
      <p:sp>
        <p:nvSpPr>
          <p:cNvPr id="14" name="Text 12"/>
          <p:cNvSpPr txBox="1"/>
          <p:nvPr/>
        </p:nvSpPr>
        <p:spPr>
          <a:xfrm>
            <a:off x="822960" y="3154680"/>
            <a:ext cx="2743200" cy="274320"/>
          </a:xfrm>
          <a:prstGeom prst="rect">
            <a:avLst/>
          </a:prstGeom>
          <a:noFill/>
          <a:ln/>
        </p:spPr>
        <p:txBody>
          <a:bodyPr wrap="square" lIns="0" tIns="0" rIns="0" bIns="0" rtlCol="0" anchor="t"/>
          <a:lstStyle/>
          <a:p>
            <a:pPr marL="0" indent="0">
              <a:buNone/>
            </a:pPr>
            <a:r>
              <a:rPr lang="en-US" sz="1200" dirty="0">
                <a:solidFill>
                  <a:schemeClr val="accent6"/>
                </a:solidFill>
              </a:rPr>
              <a:t>All frames attend to all frames, 12 heads</a:t>
            </a:r>
            <a:endParaRPr lang="en-US" sz="1200" dirty="0"/>
          </a:p>
        </p:txBody>
      </p:sp>
      <p:sp>
        <p:nvSpPr>
          <p:cNvPr id="15" name="encoder FFN"/>
          <p:cNvSpPr/>
          <p:nvPr/>
        </p:nvSpPr>
        <p:spPr>
          <a:xfrm>
            <a:off x="685800" y="3566160"/>
            <a:ext cx="2971800" cy="603504"/>
          </a:xfrm>
          <a:prstGeom prst="roundRect">
            <a:avLst>
              <a:gd name="adj" fmla="val 12121"/>
            </a:avLst>
          </a:prstGeom>
          <a:solidFill>
            <a:schemeClr val="bg2"/>
          </a:solidFill>
          <a:ln w="12700">
            <a:solidFill>
              <a:schemeClr val="bg2"/>
            </a:solidFill>
            <a:prstDash val="solid"/>
          </a:ln>
        </p:spPr>
        <p:txBody>
          <a:bodyPr/>
          <a:lstStyle/>
          <a:p>
            <a:endParaRPr lang="en-US"/>
          </a:p>
        </p:txBody>
      </p:sp>
      <p:sp>
        <p:nvSpPr>
          <p:cNvPr id="16" name="Text 14"/>
          <p:cNvSpPr txBox="1"/>
          <p:nvPr/>
        </p:nvSpPr>
        <p:spPr>
          <a:xfrm>
            <a:off x="822960" y="3611880"/>
            <a:ext cx="2697480" cy="274320"/>
          </a:xfrm>
          <a:prstGeom prst="rect">
            <a:avLst/>
          </a:prstGeom>
          <a:noFill/>
          <a:ln/>
        </p:spPr>
        <p:txBody>
          <a:bodyPr wrap="square" lIns="0" tIns="0" rIns="0" bIns="0" rtlCol="0" anchor="t"/>
          <a:lstStyle/>
          <a:p>
            <a:pPr marL="0" indent="0">
              <a:buNone/>
            </a:pPr>
            <a:r>
              <a:rPr lang="en-US" sz="1300" b="1" dirty="0">
                <a:solidFill>
                  <a:schemeClr val="tx2"/>
                </a:solidFill>
              </a:rPr>
              <a:t>Feed-forward network</a:t>
            </a:r>
            <a:endParaRPr lang="en-US" sz="1300" dirty="0"/>
          </a:p>
        </p:txBody>
      </p:sp>
      <p:sp>
        <p:nvSpPr>
          <p:cNvPr id="17" name="Text 15"/>
          <p:cNvSpPr txBox="1"/>
          <p:nvPr/>
        </p:nvSpPr>
        <p:spPr>
          <a:xfrm>
            <a:off x="822960" y="3867912"/>
            <a:ext cx="2743200" cy="274320"/>
          </a:xfrm>
          <a:prstGeom prst="rect">
            <a:avLst/>
          </a:prstGeom>
          <a:noFill/>
          <a:ln/>
        </p:spPr>
        <p:txBody>
          <a:bodyPr wrap="square" lIns="0" tIns="0" rIns="0" bIns="0" rtlCol="0" anchor="t"/>
          <a:lstStyle/>
          <a:p>
            <a:pPr marL="0" indent="0">
              <a:buNone/>
            </a:pPr>
            <a:r>
              <a:rPr lang="en-US" sz="1200" dirty="0">
                <a:solidFill>
                  <a:schemeClr val="tx1"/>
                </a:solidFill>
              </a:rPr>
              <a:t>768 → 3,072 → 768, GELU</a:t>
            </a:r>
            <a:endParaRPr lang="en-US" sz="1200" dirty="0"/>
          </a:p>
        </p:txBody>
      </p:sp>
      <p:sp>
        <p:nvSpPr>
          <p:cNvPr id="18" name="arrow"/>
          <p:cNvSpPr/>
          <p:nvPr/>
        </p:nvSpPr>
        <p:spPr>
          <a:xfrm>
            <a:off x="2171700" y="4315968"/>
            <a:ext cx="0" cy="146304"/>
          </a:xfrm>
          <a:prstGeom prst="line">
            <a:avLst/>
          </a:prstGeom>
          <a:noFill/>
          <a:ln w="19050">
            <a:solidFill>
              <a:schemeClr val="accent5"/>
            </a:solidFill>
            <a:prstDash val="solid"/>
            <a:tailEnd type="triangle"/>
          </a:ln>
        </p:spPr>
        <p:txBody>
          <a:bodyPr/>
          <a:lstStyle/>
          <a:p>
            <a:endParaRPr lang="en-US"/>
          </a:p>
        </p:txBody>
      </p:sp>
      <p:sp>
        <p:nvSpPr>
          <p:cNvPr id="19" name="encoder output"/>
          <p:cNvSpPr/>
          <p:nvPr/>
        </p:nvSpPr>
        <p:spPr>
          <a:xfrm>
            <a:off x="548640" y="4480560"/>
            <a:ext cx="3246120" cy="457200"/>
          </a:xfrm>
          <a:prstGeom prst="roundRect">
            <a:avLst>
              <a:gd name="adj" fmla="val 16000"/>
            </a:avLst>
          </a:prstGeom>
          <a:solidFill>
            <a:schemeClr val="bg1"/>
          </a:solidFill>
          <a:ln w="15875">
            <a:solidFill>
              <a:schemeClr val="accent2"/>
            </a:solidFill>
            <a:prstDash val="solid"/>
          </a:ln>
        </p:spPr>
        <p:txBody>
          <a:bodyPr/>
          <a:lstStyle/>
          <a:p>
            <a:endParaRPr lang="en-US"/>
          </a:p>
        </p:txBody>
      </p:sp>
      <p:sp>
        <p:nvSpPr>
          <p:cNvPr id="20" name="Text 18"/>
          <p:cNvSpPr txBox="1"/>
          <p:nvPr/>
        </p:nvSpPr>
        <p:spPr>
          <a:xfrm>
            <a:off x="658368" y="4480560"/>
            <a:ext cx="3026664" cy="457200"/>
          </a:xfrm>
          <a:prstGeom prst="rect">
            <a:avLst/>
          </a:prstGeom>
          <a:noFill/>
          <a:ln/>
        </p:spPr>
        <p:txBody>
          <a:bodyPr wrap="square" lIns="0" tIns="0" rIns="0" bIns="0" rtlCol="0" anchor="ctr"/>
          <a:lstStyle/>
          <a:p>
            <a:pPr marL="0" indent="0" algn="ctr">
              <a:buNone/>
            </a:pPr>
            <a:r>
              <a:rPr lang="en-US" sz="1200" dirty="0">
                <a:solidFill>
                  <a:schemeClr val="tx2"/>
                </a:solidFill>
              </a:rPr>
              <a:t>Encoder output: 1,500 frames × 768</a:t>
            </a:r>
            <a:endParaRPr lang="en-US" sz="1200" dirty="0"/>
          </a:p>
        </p:txBody>
      </p:sp>
      <p:sp>
        <p:nvSpPr>
          <p:cNvPr id="21" name="decoder input"/>
          <p:cNvSpPr/>
          <p:nvPr/>
        </p:nvSpPr>
        <p:spPr>
          <a:xfrm>
            <a:off x="4206240" y="1783080"/>
            <a:ext cx="3429000" cy="530352"/>
          </a:xfrm>
          <a:prstGeom prst="roundRect">
            <a:avLst>
              <a:gd name="adj" fmla="val 13793"/>
            </a:avLst>
          </a:prstGeom>
          <a:solidFill>
            <a:schemeClr val="bg2"/>
          </a:solidFill>
          <a:ln w="12700">
            <a:solidFill>
              <a:schemeClr val="bg2"/>
            </a:solidFill>
            <a:prstDash val="solid"/>
          </a:ln>
        </p:spPr>
        <p:txBody>
          <a:bodyPr/>
          <a:lstStyle/>
          <a:p>
            <a:endParaRPr lang="en-US"/>
          </a:p>
        </p:txBody>
      </p:sp>
      <p:sp>
        <p:nvSpPr>
          <p:cNvPr id="22" name="Text 20"/>
          <p:cNvSpPr txBox="1"/>
          <p:nvPr/>
        </p:nvSpPr>
        <p:spPr>
          <a:xfrm>
            <a:off x="4315968" y="1783080"/>
            <a:ext cx="3209544" cy="530352"/>
          </a:xfrm>
          <a:prstGeom prst="rect">
            <a:avLst/>
          </a:prstGeom>
          <a:noFill/>
          <a:ln/>
        </p:spPr>
        <p:txBody>
          <a:bodyPr wrap="square" lIns="0" tIns="0" rIns="0" bIns="0" rtlCol="0" anchor="ctr"/>
          <a:lstStyle/>
          <a:p>
            <a:pPr marL="0" indent="0" algn="ctr">
              <a:buNone/>
            </a:pPr>
            <a:r>
              <a:rPr lang="en-US" sz="1200" dirty="0">
                <a:solidFill>
                  <a:schemeClr val="tx1"/>
                </a:solidFill>
              </a:rPr>
              <a:t>Previous tokens → token embeddings + learned positions</a:t>
            </a:r>
            <a:endParaRPr lang="en-US" sz="1200" dirty="0"/>
          </a:p>
        </p:txBody>
      </p:sp>
      <p:sp>
        <p:nvSpPr>
          <p:cNvPr id="23" name="arrow"/>
          <p:cNvSpPr/>
          <p:nvPr/>
        </p:nvSpPr>
        <p:spPr>
          <a:xfrm>
            <a:off x="5920740" y="2331720"/>
            <a:ext cx="0" cy="118872"/>
          </a:xfrm>
          <a:prstGeom prst="line">
            <a:avLst/>
          </a:prstGeom>
          <a:noFill/>
          <a:ln w="19050">
            <a:solidFill>
              <a:schemeClr val="accent5"/>
            </a:solidFill>
            <a:prstDash val="solid"/>
            <a:tailEnd type="triangle"/>
          </a:ln>
        </p:spPr>
        <p:txBody>
          <a:bodyPr/>
          <a:lstStyle/>
          <a:p>
            <a:endParaRPr lang="en-US"/>
          </a:p>
        </p:txBody>
      </p:sp>
      <p:sp>
        <p:nvSpPr>
          <p:cNvPr id="24" name="decoder layer"/>
          <p:cNvSpPr/>
          <p:nvPr/>
        </p:nvSpPr>
        <p:spPr>
          <a:xfrm>
            <a:off x="4206240" y="2468880"/>
            <a:ext cx="3429000" cy="2560320"/>
          </a:xfrm>
          <a:prstGeom prst="roundRect">
            <a:avLst>
              <a:gd name="adj" fmla="val 2857"/>
            </a:avLst>
          </a:prstGeom>
          <a:solidFill>
            <a:schemeClr val="bg1"/>
          </a:solidFill>
          <a:ln w="19050">
            <a:solidFill>
              <a:schemeClr val="tx2"/>
            </a:solidFill>
            <a:prstDash val="solid"/>
          </a:ln>
        </p:spPr>
        <p:txBody>
          <a:bodyPr/>
          <a:lstStyle/>
          <a:p>
            <a:endParaRPr lang="en-US"/>
          </a:p>
        </p:txBody>
      </p:sp>
      <p:sp>
        <p:nvSpPr>
          <p:cNvPr id="25" name="Text 23"/>
          <p:cNvSpPr txBox="1"/>
          <p:nvPr/>
        </p:nvSpPr>
        <p:spPr>
          <a:xfrm>
            <a:off x="4343400" y="2523744"/>
            <a:ext cx="2743200" cy="292608"/>
          </a:xfrm>
          <a:prstGeom prst="rect">
            <a:avLst/>
          </a:prstGeom>
          <a:noFill/>
          <a:ln/>
        </p:spPr>
        <p:txBody>
          <a:bodyPr wrap="square" lIns="0" tIns="0" rIns="0" bIns="0" rtlCol="0" anchor="t"/>
          <a:lstStyle/>
          <a:p>
            <a:pPr marL="0" indent="0">
              <a:buNone/>
            </a:pPr>
            <a:r>
              <a:rPr lang="en-US" sz="1400" b="1" dirty="0">
                <a:solidFill>
                  <a:schemeClr val="tx2"/>
                </a:solidFill>
              </a:rPr>
              <a:t>Decoder layer </a:t>
            </a:r>
            <a:r>
              <a:rPr lang="en-US" sz="1400" b="1" dirty="0">
                <a:solidFill>
                  <a:schemeClr val="accent2"/>
                </a:solidFill>
              </a:rPr>
              <a:t>× 12</a:t>
            </a:r>
            <a:endParaRPr lang="en-US" sz="1400" dirty="0"/>
          </a:p>
        </p:txBody>
      </p:sp>
      <p:sp>
        <p:nvSpPr>
          <p:cNvPr id="26" name="decoder self-attention"/>
          <p:cNvSpPr/>
          <p:nvPr/>
        </p:nvSpPr>
        <p:spPr>
          <a:xfrm>
            <a:off x="4343400" y="2852928"/>
            <a:ext cx="3154680" cy="603504"/>
          </a:xfrm>
          <a:prstGeom prst="roundRect">
            <a:avLst>
              <a:gd name="adj" fmla="val 12121"/>
            </a:avLst>
          </a:prstGeom>
          <a:solidFill>
            <a:schemeClr val="tx2"/>
          </a:solidFill>
          <a:ln w="12700">
            <a:solidFill>
              <a:schemeClr val="tx2"/>
            </a:solidFill>
            <a:prstDash val="solid"/>
          </a:ln>
        </p:spPr>
        <p:txBody>
          <a:bodyPr/>
          <a:lstStyle/>
          <a:p>
            <a:endParaRPr lang="en-US"/>
          </a:p>
        </p:txBody>
      </p:sp>
      <p:sp>
        <p:nvSpPr>
          <p:cNvPr id="27" name="Text 25"/>
          <p:cNvSpPr txBox="1"/>
          <p:nvPr/>
        </p:nvSpPr>
        <p:spPr>
          <a:xfrm>
            <a:off x="4480560" y="2898648"/>
            <a:ext cx="2880360" cy="274320"/>
          </a:xfrm>
          <a:prstGeom prst="rect">
            <a:avLst/>
          </a:prstGeom>
          <a:noFill/>
          <a:ln/>
        </p:spPr>
        <p:txBody>
          <a:bodyPr wrap="square" lIns="0" tIns="0" rIns="0" bIns="0" rtlCol="0" anchor="t"/>
          <a:lstStyle/>
          <a:p>
            <a:pPr marL="0" indent="0">
              <a:buNone/>
            </a:pPr>
            <a:r>
              <a:rPr lang="en-US" sz="1300" b="1" dirty="0">
                <a:solidFill>
                  <a:schemeClr val="bg1"/>
                </a:solidFill>
              </a:rPr>
              <a:t>Masked self-attention</a:t>
            </a:r>
            <a:endParaRPr lang="en-US" sz="1300" dirty="0"/>
          </a:p>
        </p:txBody>
      </p:sp>
      <p:sp>
        <p:nvSpPr>
          <p:cNvPr id="28" name="Text 26"/>
          <p:cNvSpPr txBox="1"/>
          <p:nvPr/>
        </p:nvSpPr>
        <p:spPr>
          <a:xfrm>
            <a:off x="4480560" y="3154680"/>
            <a:ext cx="2926080" cy="274320"/>
          </a:xfrm>
          <a:prstGeom prst="rect">
            <a:avLst/>
          </a:prstGeom>
          <a:noFill/>
          <a:ln/>
        </p:spPr>
        <p:txBody>
          <a:bodyPr wrap="square" lIns="0" tIns="0" rIns="0" bIns="0" rtlCol="0" anchor="t"/>
          <a:lstStyle/>
          <a:p>
            <a:pPr marL="0" indent="0">
              <a:buNone/>
            </a:pPr>
            <a:r>
              <a:rPr lang="en-US" sz="1200" dirty="0">
                <a:solidFill>
                  <a:schemeClr val="accent6"/>
                </a:solidFill>
              </a:rPr>
              <a:t>Each token sees only earlier tokens</a:t>
            </a:r>
            <a:endParaRPr lang="en-US" sz="1200" dirty="0"/>
          </a:p>
        </p:txBody>
      </p:sp>
      <p:sp>
        <p:nvSpPr>
          <p:cNvPr id="29" name="cross-attention"/>
          <p:cNvSpPr/>
          <p:nvPr/>
        </p:nvSpPr>
        <p:spPr>
          <a:xfrm>
            <a:off x="4343400" y="3566160"/>
            <a:ext cx="3154680" cy="603504"/>
          </a:xfrm>
          <a:prstGeom prst="roundRect">
            <a:avLst>
              <a:gd name="adj" fmla="val 12121"/>
            </a:avLst>
          </a:prstGeom>
          <a:solidFill>
            <a:schemeClr val="accent2"/>
          </a:solidFill>
          <a:ln w="12700">
            <a:solidFill>
              <a:schemeClr val="accent2"/>
            </a:solidFill>
            <a:prstDash val="solid"/>
          </a:ln>
        </p:spPr>
        <p:txBody>
          <a:bodyPr/>
          <a:lstStyle/>
          <a:p>
            <a:endParaRPr lang="en-US"/>
          </a:p>
        </p:txBody>
      </p:sp>
      <p:sp>
        <p:nvSpPr>
          <p:cNvPr id="30" name="Text 28"/>
          <p:cNvSpPr txBox="1"/>
          <p:nvPr/>
        </p:nvSpPr>
        <p:spPr>
          <a:xfrm>
            <a:off x="4480560" y="3611880"/>
            <a:ext cx="2880360" cy="274320"/>
          </a:xfrm>
          <a:prstGeom prst="rect">
            <a:avLst/>
          </a:prstGeom>
          <a:noFill/>
          <a:ln/>
        </p:spPr>
        <p:txBody>
          <a:bodyPr wrap="square" lIns="0" tIns="0" rIns="0" bIns="0" rtlCol="0" anchor="t"/>
          <a:lstStyle/>
          <a:p>
            <a:pPr marL="0" indent="0">
              <a:buNone/>
            </a:pPr>
            <a:r>
              <a:rPr lang="en-US" sz="1300" b="1" dirty="0">
                <a:solidFill>
                  <a:schemeClr val="tx2"/>
                </a:solidFill>
              </a:rPr>
              <a:t>Cross-attention</a:t>
            </a:r>
            <a:endParaRPr lang="en-US" sz="1300" dirty="0"/>
          </a:p>
        </p:txBody>
      </p:sp>
      <p:sp>
        <p:nvSpPr>
          <p:cNvPr id="31" name="Text 29"/>
          <p:cNvSpPr txBox="1"/>
          <p:nvPr/>
        </p:nvSpPr>
        <p:spPr>
          <a:xfrm>
            <a:off x="4480560" y="3867912"/>
            <a:ext cx="2926080" cy="274320"/>
          </a:xfrm>
          <a:prstGeom prst="rect">
            <a:avLst/>
          </a:prstGeom>
          <a:noFill/>
          <a:ln/>
        </p:spPr>
        <p:txBody>
          <a:bodyPr wrap="square" lIns="0" tIns="0" rIns="0" bIns="0" rtlCol="0" anchor="t"/>
          <a:lstStyle/>
          <a:p>
            <a:pPr marL="0" indent="0">
              <a:buNone/>
            </a:pPr>
            <a:r>
              <a:rPr lang="en-US" sz="1200" dirty="0">
                <a:solidFill>
                  <a:schemeClr val="tx2"/>
                </a:solidFill>
              </a:rPr>
              <a:t>Q from the text; K and V from the encoder</a:t>
            </a:r>
            <a:endParaRPr lang="en-US" sz="1200" dirty="0"/>
          </a:p>
        </p:txBody>
      </p:sp>
      <p:sp>
        <p:nvSpPr>
          <p:cNvPr id="32" name="decoder FFN"/>
          <p:cNvSpPr/>
          <p:nvPr/>
        </p:nvSpPr>
        <p:spPr>
          <a:xfrm>
            <a:off x="4343400" y="4279392"/>
            <a:ext cx="3154680" cy="603504"/>
          </a:xfrm>
          <a:prstGeom prst="roundRect">
            <a:avLst>
              <a:gd name="adj" fmla="val 12121"/>
            </a:avLst>
          </a:prstGeom>
          <a:solidFill>
            <a:schemeClr val="bg2"/>
          </a:solidFill>
          <a:ln w="12700">
            <a:solidFill>
              <a:schemeClr val="bg2"/>
            </a:solidFill>
            <a:prstDash val="solid"/>
          </a:ln>
        </p:spPr>
        <p:txBody>
          <a:bodyPr/>
          <a:lstStyle/>
          <a:p>
            <a:endParaRPr lang="en-US"/>
          </a:p>
        </p:txBody>
      </p:sp>
      <p:sp>
        <p:nvSpPr>
          <p:cNvPr id="33" name="Text 31"/>
          <p:cNvSpPr txBox="1"/>
          <p:nvPr/>
        </p:nvSpPr>
        <p:spPr>
          <a:xfrm>
            <a:off x="4480560" y="4325112"/>
            <a:ext cx="2880360" cy="274320"/>
          </a:xfrm>
          <a:prstGeom prst="rect">
            <a:avLst/>
          </a:prstGeom>
          <a:noFill/>
          <a:ln/>
        </p:spPr>
        <p:txBody>
          <a:bodyPr wrap="square" lIns="0" tIns="0" rIns="0" bIns="0" rtlCol="0" anchor="t"/>
          <a:lstStyle/>
          <a:p>
            <a:pPr marL="0" indent="0">
              <a:buNone/>
            </a:pPr>
            <a:r>
              <a:rPr lang="en-US" sz="1300" b="1" dirty="0">
                <a:solidFill>
                  <a:schemeClr val="tx2"/>
                </a:solidFill>
              </a:rPr>
              <a:t>Feed-forward network</a:t>
            </a:r>
            <a:endParaRPr lang="en-US" sz="1300" dirty="0"/>
          </a:p>
        </p:txBody>
      </p:sp>
      <p:sp>
        <p:nvSpPr>
          <p:cNvPr id="34" name="Text 32"/>
          <p:cNvSpPr txBox="1"/>
          <p:nvPr/>
        </p:nvSpPr>
        <p:spPr>
          <a:xfrm>
            <a:off x="4480560" y="4581144"/>
            <a:ext cx="2926080" cy="274320"/>
          </a:xfrm>
          <a:prstGeom prst="rect">
            <a:avLst/>
          </a:prstGeom>
          <a:noFill/>
          <a:ln/>
        </p:spPr>
        <p:txBody>
          <a:bodyPr wrap="square" lIns="0" tIns="0" rIns="0" bIns="0" rtlCol="0" anchor="t"/>
          <a:lstStyle/>
          <a:p>
            <a:pPr marL="0" indent="0">
              <a:buNone/>
            </a:pPr>
            <a:r>
              <a:rPr lang="en-US" sz="1200" dirty="0">
                <a:solidFill>
                  <a:schemeClr val="tx1"/>
                </a:solidFill>
              </a:rPr>
              <a:t>768 → 3,072 → 768, GELU</a:t>
            </a:r>
            <a:endParaRPr lang="en-US" sz="1200" dirty="0"/>
          </a:p>
        </p:txBody>
      </p:sp>
      <p:sp>
        <p:nvSpPr>
          <p:cNvPr id="35" name="arrow"/>
          <p:cNvSpPr/>
          <p:nvPr/>
        </p:nvSpPr>
        <p:spPr>
          <a:xfrm>
            <a:off x="5920740" y="5047488"/>
            <a:ext cx="0" cy="146304"/>
          </a:xfrm>
          <a:prstGeom prst="line">
            <a:avLst/>
          </a:prstGeom>
          <a:noFill/>
          <a:ln w="19050">
            <a:solidFill>
              <a:schemeClr val="accent5"/>
            </a:solidFill>
            <a:prstDash val="solid"/>
            <a:tailEnd type="triangle"/>
          </a:ln>
        </p:spPr>
        <p:txBody>
          <a:bodyPr/>
          <a:lstStyle/>
          <a:p>
            <a:endParaRPr lang="en-US"/>
          </a:p>
        </p:txBody>
      </p:sp>
      <p:sp>
        <p:nvSpPr>
          <p:cNvPr id="36" name="decoder output"/>
          <p:cNvSpPr/>
          <p:nvPr/>
        </p:nvSpPr>
        <p:spPr>
          <a:xfrm>
            <a:off x="4206240" y="5212080"/>
            <a:ext cx="3429000" cy="457200"/>
          </a:xfrm>
          <a:prstGeom prst="roundRect">
            <a:avLst>
              <a:gd name="adj" fmla="val 16000"/>
            </a:avLst>
          </a:prstGeom>
          <a:solidFill>
            <a:schemeClr val="accent3"/>
          </a:solidFill>
          <a:ln w="12700">
            <a:solidFill>
              <a:schemeClr val="accent3"/>
            </a:solidFill>
            <a:prstDash val="solid"/>
          </a:ln>
        </p:spPr>
        <p:txBody>
          <a:bodyPr/>
          <a:lstStyle/>
          <a:p>
            <a:endParaRPr lang="en-US"/>
          </a:p>
        </p:txBody>
      </p:sp>
      <p:sp>
        <p:nvSpPr>
          <p:cNvPr id="37" name="Text 35"/>
          <p:cNvSpPr txBox="1"/>
          <p:nvPr/>
        </p:nvSpPr>
        <p:spPr>
          <a:xfrm>
            <a:off x="4315968" y="5212080"/>
            <a:ext cx="3209544" cy="457200"/>
          </a:xfrm>
          <a:prstGeom prst="rect">
            <a:avLst/>
          </a:prstGeom>
          <a:noFill/>
          <a:ln/>
        </p:spPr>
        <p:txBody>
          <a:bodyPr wrap="square" lIns="0" tIns="0" rIns="0" bIns="0" rtlCol="0" anchor="ctr"/>
          <a:lstStyle/>
          <a:p>
            <a:pPr marL="0" indent="0" algn="ctr">
              <a:buNone/>
            </a:pPr>
            <a:r>
              <a:rPr lang="en-US" sz="1200" dirty="0">
                <a:solidFill>
                  <a:schemeClr val="bg1"/>
                </a:solidFill>
              </a:rPr>
              <a:t>Linear + softmax → next token (51,865-token vocabulary)</a:t>
            </a:r>
            <a:endParaRPr lang="en-US" sz="1200" dirty="0"/>
          </a:p>
        </p:txBody>
      </p:sp>
      <p:sp>
        <p:nvSpPr>
          <p:cNvPr id="38" name="line"/>
          <p:cNvSpPr/>
          <p:nvPr/>
        </p:nvSpPr>
        <p:spPr>
          <a:xfrm>
            <a:off x="3794760" y="4709160"/>
            <a:ext cx="210312" cy="0"/>
          </a:xfrm>
          <a:prstGeom prst="line">
            <a:avLst/>
          </a:prstGeom>
          <a:noFill/>
          <a:ln w="25400">
            <a:solidFill>
              <a:schemeClr val="accent2"/>
            </a:solidFill>
            <a:prstDash val="solid"/>
          </a:ln>
        </p:spPr>
        <p:txBody>
          <a:bodyPr/>
          <a:lstStyle/>
          <a:p>
            <a:endParaRPr lang="en-US"/>
          </a:p>
        </p:txBody>
      </p:sp>
      <p:sp>
        <p:nvSpPr>
          <p:cNvPr id="39" name="line"/>
          <p:cNvSpPr/>
          <p:nvPr/>
        </p:nvSpPr>
        <p:spPr>
          <a:xfrm>
            <a:off x="4005072" y="3867912"/>
            <a:ext cx="0" cy="841248"/>
          </a:xfrm>
          <a:prstGeom prst="line">
            <a:avLst/>
          </a:prstGeom>
          <a:noFill/>
          <a:ln w="25400">
            <a:solidFill>
              <a:schemeClr val="accent2"/>
            </a:solidFill>
            <a:prstDash val="solid"/>
          </a:ln>
        </p:spPr>
        <p:txBody>
          <a:bodyPr/>
          <a:lstStyle/>
          <a:p>
            <a:endParaRPr lang="en-US"/>
          </a:p>
        </p:txBody>
      </p:sp>
      <p:sp>
        <p:nvSpPr>
          <p:cNvPr id="40" name="arrow"/>
          <p:cNvSpPr/>
          <p:nvPr/>
        </p:nvSpPr>
        <p:spPr>
          <a:xfrm>
            <a:off x="4005072" y="3867912"/>
            <a:ext cx="320040" cy="0"/>
          </a:xfrm>
          <a:prstGeom prst="line">
            <a:avLst/>
          </a:prstGeom>
          <a:noFill/>
          <a:ln w="19050">
            <a:solidFill>
              <a:schemeClr val="accent2"/>
            </a:solidFill>
            <a:prstDash val="solid"/>
            <a:tailEnd type="triangle"/>
          </a:ln>
        </p:spPr>
        <p:txBody>
          <a:bodyPr/>
          <a:lstStyle/>
          <a:p>
            <a:endParaRPr lang="en-US"/>
          </a:p>
        </p:txBody>
      </p:sp>
      <p:sp>
        <p:nvSpPr>
          <p:cNvPr id="41" name="Text 39"/>
          <p:cNvSpPr txBox="1"/>
          <p:nvPr/>
        </p:nvSpPr>
        <p:spPr>
          <a:xfrm>
            <a:off x="548640" y="5779008"/>
            <a:ext cx="7086600" cy="274320"/>
          </a:xfrm>
          <a:prstGeom prst="rect">
            <a:avLst/>
          </a:prstGeom>
          <a:noFill/>
          <a:ln/>
        </p:spPr>
        <p:txBody>
          <a:bodyPr wrap="square" lIns="0" tIns="0" rIns="0" bIns="0" rtlCol="0" anchor="t"/>
          <a:lstStyle/>
          <a:p>
            <a:pPr marL="0" indent="0">
              <a:buNone/>
            </a:pPr>
            <a:r>
              <a:rPr lang="en-US" sz="1200" i="1" dirty="0">
                <a:solidFill>
                  <a:schemeClr val="accent5"/>
                </a:solidFill>
              </a:rPr>
              <a:t>Every layer: LayerNorm → block → residual add (pre-norm).</a:t>
            </a:r>
            <a:endParaRPr lang="en-US" sz="1200" dirty="0"/>
          </a:p>
        </p:txBody>
      </p:sp>
      <p:sp>
        <p:nvSpPr>
          <p:cNvPr id="42" name="Text 40"/>
          <p:cNvSpPr txBox="1"/>
          <p:nvPr/>
        </p:nvSpPr>
        <p:spPr>
          <a:xfrm>
            <a:off x="8001000" y="1755648"/>
            <a:ext cx="3657600" cy="320040"/>
          </a:xfrm>
          <a:prstGeom prst="rect">
            <a:avLst/>
          </a:prstGeom>
          <a:noFill/>
          <a:ln/>
        </p:spPr>
        <p:txBody>
          <a:bodyPr wrap="square" lIns="0" tIns="0" rIns="0" bIns="0" rtlCol="0" anchor="t"/>
          <a:lstStyle/>
          <a:p>
            <a:pPr marL="0" indent="0">
              <a:buNone/>
            </a:pPr>
            <a:r>
              <a:rPr lang="en-US" sz="1500" b="1" dirty="0">
                <a:solidFill>
                  <a:schemeClr val="tx2"/>
                </a:solidFill>
              </a:rPr>
              <a:t>Whisper-small in numbers</a:t>
            </a:r>
            <a:endParaRPr lang="en-US" sz="1500" dirty="0"/>
          </a:p>
        </p:txBody>
      </p:sp>
      <p:sp>
        <p:nvSpPr>
          <p:cNvPr id="43" name="Text 41"/>
          <p:cNvSpPr txBox="1"/>
          <p:nvPr/>
        </p:nvSpPr>
        <p:spPr>
          <a:xfrm>
            <a:off x="8001000" y="2148840"/>
            <a:ext cx="2103120" cy="310896"/>
          </a:xfrm>
          <a:prstGeom prst="rect">
            <a:avLst/>
          </a:prstGeom>
          <a:noFill/>
          <a:ln/>
        </p:spPr>
        <p:txBody>
          <a:bodyPr wrap="square" lIns="0" tIns="0" rIns="0" bIns="0" rtlCol="0" anchor="ctr"/>
          <a:lstStyle/>
          <a:p>
            <a:pPr marL="0" indent="0">
              <a:buNone/>
            </a:pPr>
            <a:r>
              <a:rPr lang="en-US" sz="1200" dirty="0">
                <a:solidFill>
                  <a:schemeClr val="accent5"/>
                </a:solidFill>
              </a:rPr>
              <a:t>Hidden size (d_model)</a:t>
            </a:r>
            <a:endParaRPr lang="en-US" sz="1200" dirty="0"/>
          </a:p>
        </p:txBody>
      </p:sp>
      <p:sp>
        <p:nvSpPr>
          <p:cNvPr id="44" name="Text 42"/>
          <p:cNvSpPr txBox="1"/>
          <p:nvPr/>
        </p:nvSpPr>
        <p:spPr>
          <a:xfrm>
            <a:off x="10012680" y="2148840"/>
            <a:ext cx="1627632" cy="310896"/>
          </a:xfrm>
          <a:prstGeom prst="rect">
            <a:avLst/>
          </a:prstGeom>
          <a:noFill/>
          <a:ln/>
        </p:spPr>
        <p:txBody>
          <a:bodyPr wrap="square" lIns="0" tIns="0" rIns="0" bIns="0" rtlCol="0" anchor="ctr"/>
          <a:lstStyle/>
          <a:p>
            <a:pPr marL="0" indent="0" algn="r">
              <a:buNone/>
            </a:pPr>
            <a:r>
              <a:rPr lang="en-US" sz="1300" b="1" dirty="0">
                <a:solidFill>
                  <a:schemeClr val="tx2"/>
                </a:solidFill>
              </a:rPr>
              <a:t>768</a:t>
            </a:r>
            <a:endParaRPr lang="en-US" sz="1300" dirty="0"/>
          </a:p>
        </p:txBody>
      </p:sp>
      <p:sp>
        <p:nvSpPr>
          <p:cNvPr id="45" name="line"/>
          <p:cNvSpPr/>
          <p:nvPr/>
        </p:nvSpPr>
        <p:spPr>
          <a:xfrm>
            <a:off x="8001000" y="2468880"/>
            <a:ext cx="3639312" cy="0"/>
          </a:xfrm>
          <a:prstGeom prst="line">
            <a:avLst/>
          </a:prstGeom>
          <a:noFill/>
          <a:ln w="9525">
            <a:solidFill>
              <a:schemeClr val="accent6"/>
            </a:solidFill>
            <a:prstDash val="solid"/>
          </a:ln>
        </p:spPr>
        <p:txBody>
          <a:bodyPr/>
          <a:lstStyle/>
          <a:p>
            <a:endParaRPr lang="en-US"/>
          </a:p>
        </p:txBody>
      </p:sp>
      <p:sp>
        <p:nvSpPr>
          <p:cNvPr id="46" name="Text 44"/>
          <p:cNvSpPr txBox="1"/>
          <p:nvPr/>
        </p:nvSpPr>
        <p:spPr>
          <a:xfrm>
            <a:off x="8001000" y="2478024"/>
            <a:ext cx="2103120" cy="310896"/>
          </a:xfrm>
          <a:prstGeom prst="rect">
            <a:avLst/>
          </a:prstGeom>
          <a:noFill/>
          <a:ln/>
        </p:spPr>
        <p:txBody>
          <a:bodyPr wrap="square" lIns="0" tIns="0" rIns="0" bIns="0" rtlCol="0" anchor="ctr"/>
          <a:lstStyle/>
          <a:p>
            <a:pPr marL="0" indent="0">
              <a:buNone/>
            </a:pPr>
            <a:r>
              <a:rPr lang="en-US" sz="1200" dirty="0">
                <a:solidFill>
                  <a:schemeClr val="accent5"/>
                </a:solidFill>
              </a:rPr>
              <a:t>Attention heads</a:t>
            </a:r>
            <a:endParaRPr lang="en-US" sz="1200" dirty="0"/>
          </a:p>
        </p:txBody>
      </p:sp>
      <p:sp>
        <p:nvSpPr>
          <p:cNvPr id="47" name="Text 45"/>
          <p:cNvSpPr txBox="1"/>
          <p:nvPr/>
        </p:nvSpPr>
        <p:spPr>
          <a:xfrm>
            <a:off x="10012680" y="2478024"/>
            <a:ext cx="1627632" cy="310896"/>
          </a:xfrm>
          <a:prstGeom prst="rect">
            <a:avLst/>
          </a:prstGeom>
          <a:noFill/>
          <a:ln/>
        </p:spPr>
        <p:txBody>
          <a:bodyPr wrap="square" lIns="0" tIns="0" rIns="0" bIns="0" rtlCol="0" anchor="ctr"/>
          <a:lstStyle/>
          <a:p>
            <a:pPr marL="0" indent="0" algn="r">
              <a:buNone/>
            </a:pPr>
            <a:r>
              <a:rPr lang="en-US" sz="1300" b="1" dirty="0">
                <a:solidFill>
                  <a:schemeClr val="tx2"/>
                </a:solidFill>
              </a:rPr>
              <a:t>12 × 64 dims</a:t>
            </a:r>
            <a:endParaRPr lang="en-US" sz="1300" dirty="0"/>
          </a:p>
        </p:txBody>
      </p:sp>
      <p:sp>
        <p:nvSpPr>
          <p:cNvPr id="48" name="line"/>
          <p:cNvSpPr/>
          <p:nvPr/>
        </p:nvSpPr>
        <p:spPr>
          <a:xfrm>
            <a:off x="8001000" y="2798064"/>
            <a:ext cx="3639312" cy="0"/>
          </a:xfrm>
          <a:prstGeom prst="line">
            <a:avLst/>
          </a:prstGeom>
          <a:noFill/>
          <a:ln w="9525">
            <a:solidFill>
              <a:schemeClr val="accent6"/>
            </a:solidFill>
            <a:prstDash val="solid"/>
          </a:ln>
        </p:spPr>
        <p:txBody>
          <a:bodyPr/>
          <a:lstStyle/>
          <a:p>
            <a:endParaRPr lang="en-US"/>
          </a:p>
        </p:txBody>
      </p:sp>
      <p:sp>
        <p:nvSpPr>
          <p:cNvPr id="49" name="Text 47"/>
          <p:cNvSpPr txBox="1"/>
          <p:nvPr/>
        </p:nvSpPr>
        <p:spPr>
          <a:xfrm>
            <a:off x="8001000" y="2807208"/>
            <a:ext cx="2103120" cy="310896"/>
          </a:xfrm>
          <a:prstGeom prst="rect">
            <a:avLst/>
          </a:prstGeom>
          <a:noFill/>
          <a:ln/>
        </p:spPr>
        <p:txBody>
          <a:bodyPr wrap="square" lIns="0" tIns="0" rIns="0" bIns="0" rtlCol="0" anchor="ctr"/>
          <a:lstStyle/>
          <a:p>
            <a:pPr marL="0" indent="0">
              <a:buNone/>
            </a:pPr>
            <a:r>
              <a:rPr lang="en-US" sz="1200" dirty="0">
                <a:solidFill>
                  <a:schemeClr val="accent5"/>
                </a:solidFill>
              </a:rPr>
              <a:t>Feed-forward size</a:t>
            </a:r>
            <a:endParaRPr lang="en-US" sz="1200" dirty="0"/>
          </a:p>
        </p:txBody>
      </p:sp>
      <p:sp>
        <p:nvSpPr>
          <p:cNvPr id="50" name="Text 48"/>
          <p:cNvSpPr txBox="1"/>
          <p:nvPr/>
        </p:nvSpPr>
        <p:spPr>
          <a:xfrm>
            <a:off x="10012680" y="2807208"/>
            <a:ext cx="1627632" cy="310896"/>
          </a:xfrm>
          <a:prstGeom prst="rect">
            <a:avLst/>
          </a:prstGeom>
          <a:noFill/>
          <a:ln/>
        </p:spPr>
        <p:txBody>
          <a:bodyPr wrap="square" lIns="0" tIns="0" rIns="0" bIns="0" rtlCol="0" anchor="ctr"/>
          <a:lstStyle/>
          <a:p>
            <a:pPr marL="0" indent="0" algn="r">
              <a:buNone/>
            </a:pPr>
            <a:r>
              <a:rPr lang="en-US" sz="1300" b="1" dirty="0">
                <a:solidFill>
                  <a:schemeClr val="tx2"/>
                </a:solidFill>
              </a:rPr>
              <a:t>3,072</a:t>
            </a:r>
            <a:endParaRPr lang="en-US" sz="1300" dirty="0"/>
          </a:p>
        </p:txBody>
      </p:sp>
      <p:sp>
        <p:nvSpPr>
          <p:cNvPr id="51" name="line"/>
          <p:cNvSpPr/>
          <p:nvPr/>
        </p:nvSpPr>
        <p:spPr>
          <a:xfrm>
            <a:off x="8001000" y="3127248"/>
            <a:ext cx="3639312" cy="0"/>
          </a:xfrm>
          <a:prstGeom prst="line">
            <a:avLst/>
          </a:prstGeom>
          <a:noFill/>
          <a:ln w="9525">
            <a:solidFill>
              <a:schemeClr val="accent6"/>
            </a:solidFill>
            <a:prstDash val="solid"/>
          </a:ln>
        </p:spPr>
        <p:txBody>
          <a:bodyPr/>
          <a:lstStyle/>
          <a:p>
            <a:endParaRPr lang="en-US"/>
          </a:p>
        </p:txBody>
      </p:sp>
      <p:sp>
        <p:nvSpPr>
          <p:cNvPr id="52" name="Text 50"/>
          <p:cNvSpPr txBox="1"/>
          <p:nvPr/>
        </p:nvSpPr>
        <p:spPr>
          <a:xfrm>
            <a:off x="8001000" y="3136392"/>
            <a:ext cx="2103120" cy="310896"/>
          </a:xfrm>
          <a:prstGeom prst="rect">
            <a:avLst/>
          </a:prstGeom>
          <a:noFill/>
          <a:ln/>
        </p:spPr>
        <p:txBody>
          <a:bodyPr wrap="square" lIns="0" tIns="0" rIns="0" bIns="0" rtlCol="0" anchor="ctr"/>
          <a:lstStyle/>
          <a:p>
            <a:pPr marL="0" indent="0">
              <a:buNone/>
            </a:pPr>
            <a:r>
              <a:rPr lang="en-US" sz="1200" dirty="0">
                <a:solidFill>
                  <a:schemeClr val="accent5"/>
                </a:solidFill>
              </a:rPr>
              <a:t>Layers</a:t>
            </a:r>
            <a:endParaRPr lang="en-US" sz="1200" dirty="0"/>
          </a:p>
        </p:txBody>
      </p:sp>
      <p:sp>
        <p:nvSpPr>
          <p:cNvPr id="53" name="Text 51"/>
          <p:cNvSpPr txBox="1"/>
          <p:nvPr/>
        </p:nvSpPr>
        <p:spPr>
          <a:xfrm>
            <a:off x="10012680" y="3136392"/>
            <a:ext cx="1627632" cy="310896"/>
          </a:xfrm>
          <a:prstGeom prst="rect">
            <a:avLst/>
          </a:prstGeom>
          <a:noFill/>
          <a:ln/>
        </p:spPr>
        <p:txBody>
          <a:bodyPr wrap="square" lIns="0" tIns="0" rIns="0" bIns="0" rtlCol="0" anchor="ctr"/>
          <a:lstStyle/>
          <a:p>
            <a:pPr marL="0" indent="0" algn="r">
              <a:buNone/>
            </a:pPr>
            <a:r>
              <a:rPr lang="en-US" sz="1300" b="1" dirty="0">
                <a:solidFill>
                  <a:schemeClr val="tx2"/>
                </a:solidFill>
              </a:rPr>
              <a:t>12 enc. + 12 dec.</a:t>
            </a:r>
            <a:endParaRPr lang="en-US" sz="1300" dirty="0"/>
          </a:p>
        </p:txBody>
      </p:sp>
      <p:sp>
        <p:nvSpPr>
          <p:cNvPr id="54" name="line"/>
          <p:cNvSpPr/>
          <p:nvPr/>
        </p:nvSpPr>
        <p:spPr>
          <a:xfrm>
            <a:off x="8001000" y="3456432"/>
            <a:ext cx="3639312" cy="0"/>
          </a:xfrm>
          <a:prstGeom prst="line">
            <a:avLst/>
          </a:prstGeom>
          <a:noFill/>
          <a:ln w="9525">
            <a:solidFill>
              <a:schemeClr val="accent6"/>
            </a:solidFill>
            <a:prstDash val="solid"/>
          </a:ln>
        </p:spPr>
        <p:txBody>
          <a:bodyPr/>
          <a:lstStyle/>
          <a:p>
            <a:endParaRPr lang="en-US"/>
          </a:p>
        </p:txBody>
      </p:sp>
      <p:sp>
        <p:nvSpPr>
          <p:cNvPr id="55" name="Text 53"/>
          <p:cNvSpPr txBox="1"/>
          <p:nvPr/>
        </p:nvSpPr>
        <p:spPr>
          <a:xfrm>
            <a:off x="8001000" y="3465576"/>
            <a:ext cx="2103120" cy="310896"/>
          </a:xfrm>
          <a:prstGeom prst="rect">
            <a:avLst/>
          </a:prstGeom>
          <a:noFill/>
          <a:ln/>
        </p:spPr>
        <p:txBody>
          <a:bodyPr wrap="square" lIns="0" tIns="0" rIns="0" bIns="0" rtlCol="0" anchor="ctr"/>
          <a:lstStyle/>
          <a:p>
            <a:pPr marL="0" indent="0">
              <a:buNone/>
            </a:pPr>
            <a:r>
              <a:rPr lang="en-US" sz="1200" dirty="0">
                <a:solidFill>
                  <a:schemeClr val="accent5"/>
                </a:solidFill>
              </a:rPr>
              <a:t>Encoder frames (30 s)</a:t>
            </a:r>
            <a:endParaRPr lang="en-US" sz="1200" dirty="0"/>
          </a:p>
        </p:txBody>
      </p:sp>
      <p:sp>
        <p:nvSpPr>
          <p:cNvPr id="56" name="Text 54"/>
          <p:cNvSpPr txBox="1"/>
          <p:nvPr/>
        </p:nvSpPr>
        <p:spPr>
          <a:xfrm>
            <a:off x="10012680" y="3465576"/>
            <a:ext cx="1627632" cy="310896"/>
          </a:xfrm>
          <a:prstGeom prst="rect">
            <a:avLst/>
          </a:prstGeom>
          <a:noFill/>
          <a:ln/>
        </p:spPr>
        <p:txBody>
          <a:bodyPr wrap="square" lIns="0" tIns="0" rIns="0" bIns="0" rtlCol="0" anchor="ctr"/>
          <a:lstStyle/>
          <a:p>
            <a:pPr marL="0" indent="0" algn="r">
              <a:buNone/>
            </a:pPr>
            <a:r>
              <a:rPr lang="en-US" sz="1300" b="1" dirty="0">
                <a:solidFill>
                  <a:schemeClr val="tx2"/>
                </a:solidFill>
              </a:rPr>
              <a:t>1,500</a:t>
            </a:r>
            <a:endParaRPr lang="en-US" sz="1300" dirty="0"/>
          </a:p>
        </p:txBody>
      </p:sp>
      <p:sp>
        <p:nvSpPr>
          <p:cNvPr id="57" name="line"/>
          <p:cNvSpPr/>
          <p:nvPr/>
        </p:nvSpPr>
        <p:spPr>
          <a:xfrm>
            <a:off x="8001000" y="3785616"/>
            <a:ext cx="3639312" cy="0"/>
          </a:xfrm>
          <a:prstGeom prst="line">
            <a:avLst/>
          </a:prstGeom>
          <a:noFill/>
          <a:ln w="9525">
            <a:solidFill>
              <a:schemeClr val="accent6"/>
            </a:solidFill>
            <a:prstDash val="solid"/>
          </a:ln>
        </p:spPr>
        <p:txBody>
          <a:bodyPr/>
          <a:lstStyle/>
          <a:p>
            <a:endParaRPr lang="en-US"/>
          </a:p>
        </p:txBody>
      </p:sp>
      <p:sp>
        <p:nvSpPr>
          <p:cNvPr id="58" name="Text 56"/>
          <p:cNvSpPr txBox="1"/>
          <p:nvPr/>
        </p:nvSpPr>
        <p:spPr>
          <a:xfrm>
            <a:off x="8001000" y="3794760"/>
            <a:ext cx="2103120" cy="310896"/>
          </a:xfrm>
          <a:prstGeom prst="rect">
            <a:avLst/>
          </a:prstGeom>
          <a:noFill/>
          <a:ln/>
        </p:spPr>
        <p:txBody>
          <a:bodyPr wrap="square" lIns="0" tIns="0" rIns="0" bIns="0" rtlCol="0" anchor="ctr"/>
          <a:lstStyle/>
          <a:p>
            <a:pPr marL="0" indent="0">
              <a:buNone/>
            </a:pPr>
            <a:r>
              <a:rPr lang="en-US" sz="1200" dirty="0">
                <a:solidFill>
                  <a:schemeClr val="accent5"/>
                </a:solidFill>
              </a:rPr>
              <a:t>Max output length</a:t>
            </a:r>
            <a:endParaRPr lang="en-US" sz="1200" dirty="0"/>
          </a:p>
        </p:txBody>
      </p:sp>
      <p:sp>
        <p:nvSpPr>
          <p:cNvPr id="59" name="Text 57"/>
          <p:cNvSpPr txBox="1"/>
          <p:nvPr/>
        </p:nvSpPr>
        <p:spPr>
          <a:xfrm>
            <a:off x="10012680" y="3794760"/>
            <a:ext cx="1627632" cy="310896"/>
          </a:xfrm>
          <a:prstGeom prst="rect">
            <a:avLst/>
          </a:prstGeom>
          <a:noFill/>
          <a:ln/>
        </p:spPr>
        <p:txBody>
          <a:bodyPr wrap="square" lIns="0" tIns="0" rIns="0" bIns="0" rtlCol="0" anchor="ctr"/>
          <a:lstStyle/>
          <a:p>
            <a:pPr marL="0" indent="0" algn="r">
              <a:buNone/>
            </a:pPr>
            <a:r>
              <a:rPr lang="en-US" sz="1300" b="1" dirty="0">
                <a:solidFill>
                  <a:schemeClr val="tx2"/>
                </a:solidFill>
              </a:rPr>
              <a:t>448 tokens</a:t>
            </a:r>
            <a:endParaRPr lang="en-US" sz="1300" dirty="0"/>
          </a:p>
        </p:txBody>
      </p:sp>
      <p:sp>
        <p:nvSpPr>
          <p:cNvPr id="60" name="line"/>
          <p:cNvSpPr/>
          <p:nvPr/>
        </p:nvSpPr>
        <p:spPr>
          <a:xfrm>
            <a:off x="8001000" y="4114800"/>
            <a:ext cx="3639312" cy="0"/>
          </a:xfrm>
          <a:prstGeom prst="line">
            <a:avLst/>
          </a:prstGeom>
          <a:noFill/>
          <a:ln w="9525">
            <a:solidFill>
              <a:schemeClr val="accent6"/>
            </a:solidFill>
            <a:prstDash val="solid"/>
          </a:ln>
        </p:spPr>
        <p:txBody>
          <a:bodyPr/>
          <a:lstStyle/>
          <a:p>
            <a:endParaRPr lang="en-US"/>
          </a:p>
        </p:txBody>
      </p:sp>
      <p:sp>
        <p:nvSpPr>
          <p:cNvPr id="61" name="Text 59"/>
          <p:cNvSpPr txBox="1"/>
          <p:nvPr/>
        </p:nvSpPr>
        <p:spPr>
          <a:xfrm>
            <a:off x="8001000" y="4123944"/>
            <a:ext cx="2103120" cy="310896"/>
          </a:xfrm>
          <a:prstGeom prst="rect">
            <a:avLst/>
          </a:prstGeom>
          <a:noFill/>
          <a:ln/>
        </p:spPr>
        <p:txBody>
          <a:bodyPr wrap="square" lIns="0" tIns="0" rIns="0" bIns="0" rtlCol="0" anchor="ctr"/>
          <a:lstStyle/>
          <a:p>
            <a:pPr marL="0" indent="0">
              <a:buNone/>
            </a:pPr>
            <a:r>
              <a:rPr lang="en-US" sz="1200" dirty="0">
                <a:solidFill>
                  <a:schemeClr val="accent5"/>
                </a:solidFill>
              </a:rPr>
              <a:t>Vocabulary</a:t>
            </a:r>
            <a:endParaRPr lang="en-US" sz="1200" dirty="0"/>
          </a:p>
        </p:txBody>
      </p:sp>
      <p:sp>
        <p:nvSpPr>
          <p:cNvPr id="62" name="Text 60"/>
          <p:cNvSpPr txBox="1"/>
          <p:nvPr/>
        </p:nvSpPr>
        <p:spPr>
          <a:xfrm>
            <a:off x="10012680" y="4123944"/>
            <a:ext cx="1627632" cy="310896"/>
          </a:xfrm>
          <a:prstGeom prst="rect">
            <a:avLst/>
          </a:prstGeom>
          <a:noFill/>
          <a:ln/>
        </p:spPr>
        <p:txBody>
          <a:bodyPr wrap="square" lIns="0" tIns="0" rIns="0" bIns="0" rtlCol="0" anchor="ctr"/>
          <a:lstStyle/>
          <a:p>
            <a:pPr marL="0" indent="0" algn="r">
              <a:buNone/>
            </a:pPr>
            <a:r>
              <a:rPr lang="en-US" sz="1300" b="1" dirty="0">
                <a:solidFill>
                  <a:schemeClr val="tx2"/>
                </a:solidFill>
              </a:rPr>
              <a:t>51,865 tokens</a:t>
            </a:r>
            <a:endParaRPr lang="en-US" sz="1300" dirty="0"/>
          </a:p>
        </p:txBody>
      </p:sp>
      <p:sp>
        <p:nvSpPr>
          <p:cNvPr id="63" name="line"/>
          <p:cNvSpPr/>
          <p:nvPr/>
        </p:nvSpPr>
        <p:spPr>
          <a:xfrm>
            <a:off x="8001000" y="4443984"/>
            <a:ext cx="3639312" cy="0"/>
          </a:xfrm>
          <a:prstGeom prst="line">
            <a:avLst/>
          </a:prstGeom>
          <a:noFill/>
          <a:ln w="9525">
            <a:solidFill>
              <a:schemeClr val="accent6"/>
            </a:solidFill>
            <a:prstDash val="solid"/>
          </a:ln>
        </p:spPr>
        <p:txBody>
          <a:bodyPr/>
          <a:lstStyle/>
          <a:p>
            <a:endParaRPr lang="en-US"/>
          </a:p>
        </p:txBody>
      </p:sp>
      <p:sp>
        <p:nvSpPr>
          <p:cNvPr id="64" name="attention formula"/>
          <p:cNvSpPr/>
          <p:nvPr/>
        </p:nvSpPr>
        <p:spPr>
          <a:xfrm>
            <a:off x="8001000" y="4572000"/>
            <a:ext cx="3639312" cy="1463040"/>
          </a:xfrm>
          <a:prstGeom prst="roundRect">
            <a:avLst>
              <a:gd name="adj" fmla="val 5000"/>
            </a:avLst>
          </a:prstGeom>
          <a:solidFill>
            <a:schemeClr val="tx2"/>
          </a:solidFill>
          <a:ln w="12700">
            <a:solidFill>
              <a:schemeClr val="tx2"/>
            </a:solidFill>
            <a:prstDash val="solid"/>
          </a:ln>
        </p:spPr>
        <p:txBody>
          <a:bodyPr/>
          <a:lstStyle/>
          <a:p>
            <a:endParaRPr lang="en-US"/>
          </a:p>
        </p:txBody>
      </p:sp>
      <p:sp>
        <p:nvSpPr>
          <p:cNvPr id="65" name="Text 63"/>
          <p:cNvSpPr txBox="1"/>
          <p:nvPr/>
        </p:nvSpPr>
        <p:spPr>
          <a:xfrm>
            <a:off x="8183880" y="4645152"/>
            <a:ext cx="3291840" cy="274320"/>
          </a:xfrm>
          <a:prstGeom prst="rect">
            <a:avLst/>
          </a:prstGeom>
          <a:noFill/>
          <a:ln/>
        </p:spPr>
        <p:txBody>
          <a:bodyPr wrap="square" lIns="0" tIns="0" rIns="0" bIns="0" rtlCol="0" anchor="t"/>
          <a:lstStyle/>
          <a:p>
            <a:pPr marL="0" indent="0">
              <a:buNone/>
            </a:pPr>
            <a:r>
              <a:rPr lang="en-US" sz="1200" b="1" dirty="0">
                <a:solidFill>
                  <a:schemeClr val="accent2"/>
                </a:solidFill>
              </a:rPr>
              <a:t>Scaled dot-product attention</a:t>
            </a:r>
            <a:endParaRPr lang="en-US" sz="1200" dirty="0"/>
          </a:p>
        </p:txBody>
      </p:sp>
      <p:sp>
        <p:nvSpPr>
          <p:cNvPr id="66" name="Text 64"/>
          <p:cNvSpPr txBox="1"/>
          <p:nvPr/>
        </p:nvSpPr>
        <p:spPr>
          <a:xfrm>
            <a:off x="8183880" y="4937760"/>
            <a:ext cx="3337560" cy="438912"/>
          </a:xfrm>
          <a:prstGeom prst="rect">
            <a:avLst/>
          </a:prstGeom>
          <a:noFill/>
          <a:ln/>
        </p:spPr>
        <p:txBody>
          <a:bodyPr wrap="square" lIns="0" tIns="0" rIns="0" bIns="0" rtlCol="0" anchor="t"/>
          <a:lstStyle/>
          <a:p>
            <a:pPr marL="0" indent="0">
              <a:buNone/>
            </a:pPr>
            <a:r>
              <a:rPr lang="en-US" sz="2000" dirty="0">
                <a:solidFill>
                  <a:schemeClr val="bg1"/>
                </a:solidFill>
                <a:latin typeface="Cambria" pitchFamily="34" charset="0"/>
                <a:ea typeface="Cambria" pitchFamily="34" charset="-122"/>
                <a:cs typeface="Cambria" pitchFamily="34" charset="-120"/>
              </a:rPr>
              <a:t>softmax(QK</a:t>
            </a:r>
            <a:r>
              <a:rPr lang="en-US" sz="2000" baseline="30000" dirty="0">
                <a:solidFill>
                  <a:schemeClr val="bg1"/>
                </a:solidFill>
                <a:latin typeface="Cambria" pitchFamily="34" charset="0"/>
                <a:ea typeface="Cambria" pitchFamily="34" charset="-122"/>
                <a:cs typeface="Cambria" pitchFamily="34" charset="-120"/>
              </a:rPr>
              <a:t>T</a:t>
            </a:r>
            <a:r>
              <a:rPr lang="en-US" sz="2000" dirty="0">
                <a:solidFill>
                  <a:schemeClr val="bg1"/>
                </a:solidFill>
                <a:latin typeface="Cambria" pitchFamily="34" charset="0"/>
                <a:ea typeface="Cambria" pitchFamily="34" charset="-122"/>
                <a:cs typeface="Cambria" pitchFamily="34" charset="-120"/>
              </a:rPr>
              <a:t> / √d</a:t>
            </a:r>
            <a:r>
              <a:rPr lang="en-US" sz="2000" baseline="-40000" dirty="0">
                <a:solidFill>
                  <a:schemeClr val="bg1"/>
                </a:solidFill>
                <a:latin typeface="Cambria" pitchFamily="34" charset="0"/>
                <a:ea typeface="Cambria" pitchFamily="34" charset="-122"/>
                <a:cs typeface="Cambria" pitchFamily="34" charset="-120"/>
              </a:rPr>
              <a:t>k</a:t>
            </a:r>
            <a:r>
              <a:rPr lang="en-US" sz="2000" dirty="0">
                <a:solidFill>
                  <a:schemeClr val="bg1"/>
                </a:solidFill>
                <a:latin typeface="Cambria" pitchFamily="34" charset="0"/>
                <a:ea typeface="Cambria" pitchFamily="34" charset="-122"/>
                <a:cs typeface="Cambria" pitchFamily="34" charset="-120"/>
              </a:rPr>
              <a:t>) V</a:t>
            </a:r>
            <a:endParaRPr lang="en-US" sz="2000" dirty="0"/>
          </a:p>
        </p:txBody>
      </p:sp>
      <p:sp>
        <p:nvSpPr>
          <p:cNvPr id="67" name="Text 65"/>
          <p:cNvSpPr txBox="1"/>
          <p:nvPr/>
        </p:nvSpPr>
        <p:spPr>
          <a:xfrm>
            <a:off x="8183880" y="5394960"/>
            <a:ext cx="3337560" cy="548640"/>
          </a:xfrm>
          <a:prstGeom prst="rect">
            <a:avLst/>
          </a:prstGeom>
          <a:noFill/>
          <a:ln/>
        </p:spPr>
        <p:txBody>
          <a:bodyPr wrap="square" lIns="0" tIns="0" rIns="0" bIns="0" rtlCol="0" anchor="t"/>
          <a:lstStyle/>
          <a:p>
            <a:pPr marL="0" indent="0">
              <a:buNone/>
            </a:pPr>
            <a:r>
              <a:rPr lang="en-US" sz="1200" dirty="0">
                <a:solidFill>
                  <a:schemeClr val="accent6"/>
                </a:solidFill>
              </a:rPr>
              <a:t>Each head compares queries with keys to decide where to look; dₖ = 768 / 12 = 64.</a:t>
            </a:r>
            <a:endParaRPr lang="en-US" sz="1200" dirty="0"/>
          </a:p>
        </p:txBody>
      </p:sp>
      <p:sp>
        <p:nvSpPr>
          <p:cNvPr id="68"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b="1" dirty="0">
                <a:solidFill>
                  <a:schemeClr val="accent3"/>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the training hyperparameters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07</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7. Fine-tuning method</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Fine-tuning Whisper-small </a:t>
            </a:r>
            <a:r>
              <a:rPr lang="en-US" sz="3200" b="1" dirty="0">
                <a:solidFill>
                  <a:schemeClr val="accent3"/>
                </a:solidFill>
                <a:latin typeface="Calibri" pitchFamily="34" charset="0"/>
                <a:ea typeface="Calibri" pitchFamily="34" charset="-122"/>
                <a:cs typeface="Calibri" pitchFamily="34" charset="-120"/>
              </a:rPr>
              <a:t>for Khmer</a:t>
            </a:r>
            <a:endParaRPr lang="en-US" sz="3200" dirty="0"/>
          </a:p>
        </p:txBody>
      </p:sp>
      <p:sp>
        <p:nvSpPr>
          <p:cNvPr id="7" name="Text 5"/>
          <p:cNvSpPr txBox="1"/>
          <p:nvPr/>
        </p:nvSpPr>
        <p:spPr>
          <a:xfrm>
            <a:off x="548640" y="1371600"/>
            <a:ext cx="11091672" cy="329184"/>
          </a:xfrm>
          <a:prstGeom prst="rect">
            <a:avLst/>
          </a:prstGeom>
          <a:noFill/>
          <a:ln/>
        </p:spPr>
        <p:txBody>
          <a:bodyPr wrap="square" lIns="0" tIns="0" rIns="0" bIns="0" rtlCol="0" anchor="t"/>
          <a:lstStyle/>
          <a:p>
            <a:pPr marL="0" indent="0">
              <a:buNone/>
            </a:pPr>
            <a:r>
              <a:rPr lang="en-US" sz="1600" dirty="0">
                <a:solidFill>
                  <a:schemeClr val="accent5"/>
                </a:solidFill>
              </a:rPr>
              <a:t>We fully fine-tuned Whisper-small for Khmer while preserving timestamp generation.</a:t>
            </a:r>
            <a:endParaRPr lang="en-US" sz="1600" dirty="0"/>
          </a:p>
        </p:txBody>
      </p:sp>
      <p:sp>
        <p:nvSpPr>
          <p:cNvPr id="8" name="Full fine-tuning card"/>
          <p:cNvSpPr/>
          <p:nvPr/>
        </p:nvSpPr>
        <p:spPr>
          <a:xfrm>
            <a:off x="548640" y="1874520"/>
            <a:ext cx="3502152" cy="1508760"/>
          </a:xfrm>
          <a:prstGeom prst="roundRect">
            <a:avLst>
              <a:gd name="adj" fmla="val 4848"/>
            </a:avLst>
          </a:prstGeom>
          <a:solidFill>
            <a:schemeClr val="tx2"/>
          </a:solidFill>
          <a:ln w="12700">
            <a:solidFill>
              <a:schemeClr val="tx2"/>
            </a:solidFill>
            <a:prstDash val="solid"/>
          </a:ln>
        </p:spPr>
        <p:txBody>
          <a:bodyPr/>
          <a:lstStyle/>
          <a:p>
            <a:endParaRPr lang="en-US"/>
          </a:p>
        </p:txBody>
      </p:sp>
      <p:sp>
        <p:nvSpPr>
          <p:cNvPr id="9" name="number 1"/>
          <p:cNvSpPr/>
          <p:nvPr/>
        </p:nvSpPr>
        <p:spPr>
          <a:xfrm>
            <a:off x="777240" y="2057400"/>
            <a:ext cx="411480" cy="411480"/>
          </a:xfrm>
          <a:prstGeom prst="ellipse">
            <a:avLst/>
          </a:prstGeom>
          <a:solidFill>
            <a:schemeClr val="accent2"/>
          </a:solidFill>
          <a:ln w="12700">
            <a:solidFill>
              <a:schemeClr val="accent2"/>
            </a:solidFill>
            <a:prstDash val="solid"/>
          </a:ln>
        </p:spPr>
        <p:txBody>
          <a:bodyPr/>
          <a:lstStyle/>
          <a:p>
            <a:endParaRPr lang="en-US"/>
          </a:p>
        </p:txBody>
      </p:sp>
      <p:sp>
        <p:nvSpPr>
          <p:cNvPr id="10" name="Text 8"/>
          <p:cNvSpPr txBox="1"/>
          <p:nvPr/>
        </p:nvSpPr>
        <p:spPr>
          <a:xfrm>
            <a:off x="777240" y="2057400"/>
            <a:ext cx="411480" cy="411480"/>
          </a:xfrm>
          <a:prstGeom prst="rect">
            <a:avLst/>
          </a:prstGeom>
          <a:noFill/>
          <a:ln/>
        </p:spPr>
        <p:txBody>
          <a:bodyPr wrap="square" lIns="0" tIns="0" rIns="0" bIns="0" rtlCol="0" anchor="ctr"/>
          <a:lstStyle/>
          <a:p>
            <a:pPr marL="0" indent="0" algn="ctr">
              <a:buNone/>
            </a:pPr>
            <a:r>
              <a:rPr lang="en-US" sz="1600" b="1" dirty="0">
                <a:solidFill>
                  <a:schemeClr val="tx2"/>
                </a:solidFill>
              </a:rPr>
              <a:t>1</a:t>
            </a:r>
            <a:endParaRPr lang="en-US" sz="1600" dirty="0"/>
          </a:p>
        </p:txBody>
      </p:sp>
      <p:sp>
        <p:nvSpPr>
          <p:cNvPr id="11" name="Text 9"/>
          <p:cNvSpPr txBox="1"/>
          <p:nvPr/>
        </p:nvSpPr>
        <p:spPr>
          <a:xfrm>
            <a:off x="1325880" y="2057400"/>
            <a:ext cx="2606040" cy="411480"/>
          </a:xfrm>
          <a:prstGeom prst="rect">
            <a:avLst/>
          </a:prstGeom>
          <a:noFill/>
          <a:ln/>
        </p:spPr>
        <p:txBody>
          <a:bodyPr wrap="square" lIns="0" tIns="0" rIns="0" bIns="0" rtlCol="0" anchor="ctr"/>
          <a:lstStyle/>
          <a:p>
            <a:pPr marL="0" indent="0">
              <a:buNone/>
            </a:pPr>
            <a:r>
              <a:rPr lang="en-US" sz="1800" b="1" dirty="0">
                <a:solidFill>
                  <a:schemeClr val="bg1"/>
                </a:solidFill>
              </a:rPr>
              <a:t>Full fine-tuning</a:t>
            </a:r>
            <a:endParaRPr lang="en-US" sz="1800" dirty="0"/>
          </a:p>
        </p:txBody>
      </p:sp>
      <p:sp>
        <p:nvSpPr>
          <p:cNvPr id="12" name="Text 10"/>
          <p:cNvSpPr txBox="1"/>
          <p:nvPr/>
        </p:nvSpPr>
        <p:spPr>
          <a:xfrm>
            <a:off x="777240" y="2606040"/>
            <a:ext cx="3108960" cy="685800"/>
          </a:xfrm>
          <a:prstGeom prst="rect">
            <a:avLst/>
          </a:prstGeom>
          <a:noFill/>
          <a:ln/>
        </p:spPr>
        <p:txBody>
          <a:bodyPr wrap="square" lIns="0" tIns="0" rIns="0" bIns="0" rtlCol="0" anchor="t"/>
          <a:lstStyle/>
          <a:p>
            <a:pPr marL="0" indent="0">
              <a:buNone/>
            </a:pPr>
            <a:r>
              <a:rPr lang="en-US" sz="1500" dirty="0">
                <a:solidFill>
                  <a:schemeClr val="bg1"/>
                </a:solidFill>
              </a:rPr>
              <a:t>All ~241M parameters are updated.</a:t>
            </a:r>
            <a:endParaRPr lang="en-US" sz="1500" dirty="0"/>
          </a:p>
          <a:p>
            <a:pPr marL="0" indent="0">
              <a:buNone/>
            </a:pPr>
            <a:r>
              <a:rPr lang="en-US" sz="1500" dirty="0">
                <a:solidFill>
                  <a:schemeClr val="bg1"/>
                </a:solidFill>
              </a:rPr>
              <a:t>No frozen layers, no LoRA.</a:t>
            </a:r>
            <a:endParaRPr lang="en-US" sz="1500" dirty="0"/>
          </a:p>
        </p:txBody>
      </p:sp>
      <p:sp>
        <p:nvSpPr>
          <p:cNvPr id="13" name="Khmer transcription card"/>
          <p:cNvSpPr/>
          <p:nvPr/>
        </p:nvSpPr>
        <p:spPr>
          <a:xfrm>
            <a:off x="4343400" y="1874520"/>
            <a:ext cx="3502152" cy="1508760"/>
          </a:xfrm>
          <a:prstGeom prst="roundRect">
            <a:avLst>
              <a:gd name="adj" fmla="val 4848"/>
            </a:avLst>
          </a:prstGeom>
          <a:solidFill>
            <a:schemeClr val="tx2"/>
          </a:solidFill>
          <a:ln w="12700">
            <a:solidFill>
              <a:schemeClr val="tx2"/>
            </a:solidFill>
            <a:prstDash val="solid"/>
          </a:ln>
        </p:spPr>
        <p:txBody>
          <a:bodyPr/>
          <a:lstStyle/>
          <a:p>
            <a:endParaRPr lang="en-US"/>
          </a:p>
        </p:txBody>
      </p:sp>
      <p:sp>
        <p:nvSpPr>
          <p:cNvPr id="14" name="number 2"/>
          <p:cNvSpPr/>
          <p:nvPr/>
        </p:nvSpPr>
        <p:spPr>
          <a:xfrm>
            <a:off x="4572000" y="2057400"/>
            <a:ext cx="411480" cy="411480"/>
          </a:xfrm>
          <a:prstGeom prst="ellipse">
            <a:avLst/>
          </a:prstGeom>
          <a:solidFill>
            <a:schemeClr val="accent2"/>
          </a:solidFill>
          <a:ln w="12700">
            <a:solidFill>
              <a:schemeClr val="accent2"/>
            </a:solidFill>
            <a:prstDash val="solid"/>
          </a:ln>
        </p:spPr>
        <p:txBody>
          <a:bodyPr/>
          <a:lstStyle/>
          <a:p>
            <a:endParaRPr lang="en-US"/>
          </a:p>
        </p:txBody>
      </p:sp>
      <p:sp>
        <p:nvSpPr>
          <p:cNvPr id="15" name="Text 13"/>
          <p:cNvSpPr txBox="1"/>
          <p:nvPr/>
        </p:nvSpPr>
        <p:spPr>
          <a:xfrm>
            <a:off x="4572000" y="2057400"/>
            <a:ext cx="411480" cy="411480"/>
          </a:xfrm>
          <a:prstGeom prst="rect">
            <a:avLst/>
          </a:prstGeom>
          <a:noFill/>
          <a:ln/>
        </p:spPr>
        <p:txBody>
          <a:bodyPr wrap="square" lIns="0" tIns="0" rIns="0" bIns="0" rtlCol="0" anchor="ctr"/>
          <a:lstStyle/>
          <a:p>
            <a:pPr marL="0" indent="0" algn="ctr">
              <a:buNone/>
            </a:pPr>
            <a:r>
              <a:rPr lang="en-US" sz="1600" b="1" dirty="0">
                <a:solidFill>
                  <a:schemeClr val="tx2"/>
                </a:solidFill>
              </a:rPr>
              <a:t>2</a:t>
            </a:r>
            <a:endParaRPr lang="en-US" sz="1600" dirty="0"/>
          </a:p>
        </p:txBody>
      </p:sp>
      <p:sp>
        <p:nvSpPr>
          <p:cNvPr id="16" name="Text 14"/>
          <p:cNvSpPr txBox="1"/>
          <p:nvPr/>
        </p:nvSpPr>
        <p:spPr>
          <a:xfrm>
            <a:off x="5120640" y="2057400"/>
            <a:ext cx="2606040" cy="411480"/>
          </a:xfrm>
          <a:prstGeom prst="rect">
            <a:avLst/>
          </a:prstGeom>
          <a:noFill/>
          <a:ln/>
        </p:spPr>
        <p:txBody>
          <a:bodyPr wrap="square" lIns="0" tIns="0" rIns="0" bIns="0" rtlCol="0" anchor="ctr"/>
          <a:lstStyle/>
          <a:p>
            <a:pPr marL="0" indent="0">
              <a:buNone/>
            </a:pPr>
            <a:r>
              <a:rPr lang="en-US" sz="1800" b="1" dirty="0">
                <a:solidFill>
                  <a:schemeClr val="bg1"/>
                </a:solidFill>
              </a:rPr>
              <a:t>Khmer transcription</a:t>
            </a:r>
            <a:endParaRPr lang="en-US" sz="1800" dirty="0"/>
          </a:p>
        </p:txBody>
      </p:sp>
      <p:sp>
        <p:nvSpPr>
          <p:cNvPr id="17" name="Text 15"/>
          <p:cNvSpPr txBox="1"/>
          <p:nvPr/>
        </p:nvSpPr>
        <p:spPr>
          <a:xfrm>
            <a:off x="4572000" y="2606040"/>
            <a:ext cx="3108960" cy="685800"/>
          </a:xfrm>
          <a:prstGeom prst="rect">
            <a:avLst/>
          </a:prstGeom>
          <a:noFill/>
          <a:ln/>
        </p:spPr>
        <p:txBody>
          <a:bodyPr wrap="square" lIns="0" tIns="0" rIns="0" bIns="0" rtlCol="0" anchor="t"/>
          <a:lstStyle/>
          <a:p>
            <a:pPr marL="0" indent="0">
              <a:buNone/>
            </a:pPr>
            <a:r>
              <a:rPr lang="en-US" sz="1500" dirty="0">
                <a:solidFill>
                  <a:schemeClr val="bg1"/>
                </a:solidFill>
                <a:latin typeface="Consolas" pitchFamily="34" charset="0"/>
                <a:ea typeface="Consolas" pitchFamily="34" charset="-122"/>
                <a:cs typeface="Consolas" pitchFamily="34" charset="-120"/>
              </a:rPr>
              <a:t>Language = Khmer</a:t>
            </a:r>
            <a:endParaRPr lang="en-US" sz="1500" dirty="0"/>
          </a:p>
          <a:p>
            <a:pPr marL="0" indent="0">
              <a:buNone/>
            </a:pPr>
            <a:r>
              <a:rPr lang="en-US" sz="1500" dirty="0">
                <a:solidFill>
                  <a:schemeClr val="bg1"/>
                </a:solidFill>
                <a:latin typeface="Consolas" pitchFamily="34" charset="0"/>
                <a:ea typeface="Consolas" pitchFamily="34" charset="-122"/>
                <a:cs typeface="Consolas" pitchFamily="34" charset="-120"/>
              </a:rPr>
              <a:t>Task = Transcribe</a:t>
            </a:r>
            <a:endParaRPr lang="en-US" sz="1500" dirty="0"/>
          </a:p>
          <a:p>
            <a:pPr marL="0" indent="0">
              <a:buNone/>
            </a:pPr>
            <a:r>
              <a:rPr lang="en-US" sz="1200" dirty="0">
                <a:solidFill>
                  <a:schemeClr val="accent6"/>
                </a:solidFill>
              </a:rPr>
              <a:t>Set in the generation config</a:t>
            </a:r>
            <a:endParaRPr lang="en-US" sz="1500" dirty="0"/>
          </a:p>
        </p:txBody>
      </p:sp>
      <p:sp>
        <p:nvSpPr>
          <p:cNvPr id="18" name="Timestamp-aware training card"/>
          <p:cNvSpPr/>
          <p:nvPr/>
        </p:nvSpPr>
        <p:spPr>
          <a:xfrm>
            <a:off x="8138160" y="1874520"/>
            <a:ext cx="3502152" cy="1508760"/>
          </a:xfrm>
          <a:prstGeom prst="roundRect">
            <a:avLst>
              <a:gd name="adj" fmla="val 4848"/>
            </a:avLst>
          </a:prstGeom>
          <a:solidFill>
            <a:schemeClr val="tx2"/>
          </a:solidFill>
          <a:ln w="12700">
            <a:solidFill>
              <a:schemeClr val="tx2"/>
            </a:solidFill>
            <a:prstDash val="solid"/>
          </a:ln>
        </p:spPr>
        <p:txBody>
          <a:bodyPr/>
          <a:lstStyle/>
          <a:p>
            <a:endParaRPr lang="en-US"/>
          </a:p>
        </p:txBody>
      </p:sp>
      <p:sp>
        <p:nvSpPr>
          <p:cNvPr id="19" name="number 3"/>
          <p:cNvSpPr/>
          <p:nvPr/>
        </p:nvSpPr>
        <p:spPr>
          <a:xfrm>
            <a:off x="8366760" y="2057400"/>
            <a:ext cx="411480" cy="411480"/>
          </a:xfrm>
          <a:prstGeom prst="ellipse">
            <a:avLst/>
          </a:prstGeom>
          <a:solidFill>
            <a:schemeClr val="accent2"/>
          </a:solidFill>
          <a:ln w="12700">
            <a:solidFill>
              <a:schemeClr val="accent2"/>
            </a:solidFill>
            <a:prstDash val="solid"/>
          </a:ln>
        </p:spPr>
        <p:txBody>
          <a:bodyPr/>
          <a:lstStyle/>
          <a:p>
            <a:endParaRPr lang="en-US"/>
          </a:p>
        </p:txBody>
      </p:sp>
      <p:sp>
        <p:nvSpPr>
          <p:cNvPr id="20" name="Text 18"/>
          <p:cNvSpPr txBox="1"/>
          <p:nvPr/>
        </p:nvSpPr>
        <p:spPr>
          <a:xfrm>
            <a:off x="8366760" y="2057400"/>
            <a:ext cx="411480" cy="411480"/>
          </a:xfrm>
          <a:prstGeom prst="rect">
            <a:avLst/>
          </a:prstGeom>
          <a:noFill/>
          <a:ln/>
        </p:spPr>
        <p:txBody>
          <a:bodyPr wrap="square" lIns="0" tIns="0" rIns="0" bIns="0" rtlCol="0" anchor="ctr"/>
          <a:lstStyle/>
          <a:p>
            <a:pPr marL="0" indent="0" algn="ctr">
              <a:buNone/>
            </a:pPr>
            <a:r>
              <a:rPr lang="en-US" sz="1600" b="1" dirty="0">
                <a:solidFill>
                  <a:schemeClr val="tx2"/>
                </a:solidFill>
              </a:rPr>
              <a:t>3</a:t>
            </a:r>
            <a:endParaRPr lang="en-US" sz="1600" dirty="0"/>
          </a:p>
        </p:txBody>
      </p:sp>
      <p:sp>
        <p:nvSpPr>
          <p:cNvPr id="21" name="Text 19"/>
          <p:cNvSpPr txBox="1"/>
          <p:nvPr/>
        </p:nvSpPr>
        <p:spPr>
          <a:xfrm>
            <a:off x="8915400" y="2057400"/>
            <a:ext cx="2606040" cy="411480"/>
          </a:xfrm>
          <a:prstGeom prst="rect">
            <a:avLst/>
          </a:prstGeom>
          <a:noFill/>
          <a:ln/>
        </p:spPr>
        <p:txBody>
          <a:bodyPr wrap="square" lIns="0" tIns="0" rIns="0" bIns="0" rtlCol="0" anchor="ctr"/>
          <a:lstStyle/>
          <a:p>
            <a:pPr marL="0" indent="0">
              <a:buNone/>
            </a:pPr>
            <a:r>
              <a:rPr lang="en-US" sz="1800" b="1" dirty="0">
                <a:solidFill>
                  <a:schemeClr val="bg1"/>
                </a:solidFill>
              </a:rPr>
              <a:t>Timestamp-aware training</a:t>
            </a:r>
            <a:endParaRPr lang="en-US" sz="1800" dirty="0"/>
          </a:p>
        </p:txBody>
      </p:sp>
      <p:sp>
        <p:nvSpPr>
          <p:cNvPr id="22" name="Text 20"/>
          <p:cNvSpPr txBox="1"/>
          <p:nvPr/>
        </p:nvSpPr>
        <p:spPr>
          <a:xfrm>
            <a:off x="8366760" y="2606040"/>
            <a:ext cx="3108960" cy="685800"/>
          </a:xfrm>
          <a:prstGeom prst="rect">
            <a:avLst/>
          </a:prstGeom>
          <a:noFill/>
          <a:ln/>
        </p:spPr>
        <p:txBody>
          <a:bodyPr wrap="square" lIns="0" tIns="0" rIns="0" bIns="0" rtlCol="0" anchor="t"/>
          <a:lstStyle/>
          <a:p>
            <a:pPr marL="0" indent="0">
              <a:buNone/>
            </a:pPr>
            <a:r>
              <a:rPr lang="en-US" sz="1500" dirty="0">
                <a:solidFill>
                  <a:schemeClr val="bg1"/>
                </a:solidFill>
              </a:rPr>
              <a:t>50% of training clips contain timestamp-aware labels.</a:t>
            </a:r>
            <a:endParaRPr lang="en-US" sz="1500" dirty="0"/>
          </a:p>
        </p:txBody>
      </p:sp>
      <p:sp>
        <p:nvSpPr>
          <p:cNvPr id="23" name="timestamp example panel"/>
          <p:cNvSpPr/>
          <p:nvPr/>
        </p:nvSpPr>
        <p:spPr>
          <a:xfrm>
            <a:off x="548640" y="3566160"/>
            <a:ext cx="11091672" cy="1325880"/>
          </a:xfrm>
          <a:prstGeom prst="roundRect">
            <a:avLst>
              <a:gd name="adj" fmla="val 5517"/>
            </a:avLst>
          </a:prstGeom>
          <a:solidFill>
            <a:schemeClr val="bg2"/>
          </a:solidFill>
          <a:ln w="12700">
            <a:solidFill>
              <a:schemeClr val="bg2"/>
            </a:solidFill>
            <a:prstDash val="solid"/>
          </a:ln>
        </p:spPr>
        <p:txBody>
          <a:bodyPr/>
          <a:lstStyle/>
          <a:p>
            <a:endParaRPr lang="en-US"/>
          </a:p>
        </p:txBody>
      </p:sp>
      <p:sp>
        <p:nvSpPr>
          <p:cNvPr id="24" name="Text 22"/>
          <p:cNvSpPr txBox="1"/>
          <p:nvPr/>
        </p:nvSpPr>
        <p:spPr>
          <a:xfrm>
            <a:off x="822960" y="3703320"/>
            <a:ext cx="2377440" cy="411480"/>
          </a:xfrm>
          <a:prstGeom prst="rect">
            <a:avLst/>
          </a:prstGeom>
          <a:noFill/>
          <a:ln/>
        </p:spPr>
        <p:txBody>
          <a:bodyPr wrap="square" lIns="0" tIns="0" rIns="0" bIns="0" rtlCol="0" anchor="ctr"/>
          <a:lstStyle/>
          <a:p>
            <a:pPr marL="0" indent="0">
              <a:buNone/>
            </a:pPr>
            <a:r>
              <a:rPr lang="en-US" sz="1500" b="1" dirty="0">
                <a:solidFill>
                  <a:schemeClr val="tx2"/>
                </a:solidFill>
              </a:rPr>
              <a:t>Normal target</a:t>
            </a:r>
            <a:endParaRPr lang="en-US" sz="1500" dirty="0"/>
          </a:p>
        </p:txBody>
      </p:sp>
      <p:sp>
        <p:nvSpPr>
          <p:cNvPr id="25" name="normal target"/>
          <p:cNvSpPr/>
          <p:nvPr/>
        </p:nvSpPr>
        <p:spPr>
          <a:xfrm>
            <a:off x="3017520" y="3703320"/>
            <a:ext cx="5074920" cy="411480"/>
          </a:xfrm>
          <a:prstGeom prst="roundRect">
            <a:avLst>
              <a:gd name="adj" fmla="val 17778"/>
            </a:avLst>
          </a:prstGeom>
          <a:solidFill>
            <a:schemeClr val="bg1"/>
          </a:solidFill>
          <a:ln w="15875">
            <a:solidFill>
              <a:schemeClr val="accent6"/>
            </a:solidFill>
            <a:prstDash val="solid"/>
          </a:ln>
        </p:spPr>
        <p:txBody>
          <a:bodyPr/>
          <a:lstStyle/>
          <a:p>
            <a:endParaRPr lang="en-US"/>
          </a:p>
        </p:txBody>
      </p:sp>
      <p:sp>
        <p:nvSpPr>
          <p:cNvPr id="26" name="Text 24"/>
          <p:cNvSpPr txBox="1"/>
          <p:nvPr/>
        </p:nvSpPr>
        <p:spPr>
          <a:xfrm>
            <a:off x="3154680" y="3703320"/>
            <a:ext cx="4846320" cy="411480"/>
          </a:xfrm>
          <a:prstGeom prst="rect">
            <a:avLst/>
          </a:prstGeom>
          <a:noFill/>
          <a:ln/>
        </p:spPr>
        <p:txBody>
          <a:bodyPr wrap="square" lIns="0" tIns="0" rIns="0" bIns="0" rtlCol="0" anchor="ctr"/>
          <a:lstStyle/>
          <a:p>
            <a:pPr marL="0" indent="0">
              <a:buNone/>
            </a:pPr>
            <a:r>
              <a:rPr lang="en-US" sz="1400" dirty="0">
                <a:solidFill>
                  <a:schemeClr val="tx1"/>
                </a:solidFill>
                <a:latin typeface="Consolas" pitchFamily="34" charset="0"/>
                <a:ea typeface="Consolas" pitchFamily="34" charset="-122"/>
                <a:cs typeface="Consolas" pitchFamily="34" charset="-120"/>
              </a:rPr>
              <a:t>Khmer transcription</a:t>
            </a:r>
            <a:endParaRPr lang="en-US" sz="1400" dirty="0"/>
          </a:p>
        </p:txBody>
      </p:sp>
      <p:sp>
        <p:nvSpPr>
          <p:cNvPr id="27" name="Text 25"/>
          <p:cNvSpPr txBox="1"/>
          <p:nvPr/>
        </p:nvSpPr>
        <p:spPr>
          <a:xfrm>
            <a:off x="822960" y="4315968"/>
            <a:ext cx="2377440" cy="411480"/>
          </a:xfrm>
          <a:prstGeom prst="rect">
            <a:avLst/>
          </a:prstGeom>
          <a:noFill/>
          <a:ln/>
        </p:spPr>
        <p:txBody>
          <a:bodyPr wrap="square" lIns="0" tIns="0" rIns="0" bIns="0" rtlCol="0" anchor="ctr"/>
          <a:lstStyle/>
          <a:p>
            <a:pPr marL="0" indent="0">
              <a:buNone/>
            </a:pPr>
            <a:r>
              <a:rPr lang="en-US" sz="1500" b="1" dirty="0">
                <a:solidFill>
                  <a:schemeClr val="tx2"/>
                </a:solidFill>
              </a:rPr>
              <a:t>Timestamp-aware target</a:t>
            </a:r>
            <a:endParaRPr lang="en-US" sz="1500" dirty="0"/>
          </a:p>
        </p:txBody>
      </p:sp>
      <p:sp>
        <p:nvSpPr>
          <p:cNvPr id="28" name="timestamp target"/>
          <p:cNvSpPr/>
          <p:nvPr/>
        </p:nvSpPr>
        <p:spPr>
          <a:xfrm>
            <a:off x="3017520" y="4315968"/>
            <a:ext cx="5074920" cy="411480"/>
          </a:xfrm>
          <a:prstGeom prst="roundRect">
            <a:avLst>
              <a:gd name="adj" fmla="val 17778"/>
            </a:avLst>
          </a:prstGeom>
          <a:solidFill>
            <a:schemeClr val="bg1"/>
          </a:solidFill>
          <a:ln w="15875">
            <a:solidFill>
              <a:schemeClr val="accent2"/>
            </a:solidFill>
            <a:prstDash val="solid"/>
          </a:ln>
        </p:spPr>
        <p:txBody>
          <a:bodyPr/>
          <a:lstStyle/>
          <a:p>
            <a:endParaRPr lang="en-US"/>
          </a:p>
        </p:txBody>
      </p:sp>
      <p:sp>
        <p:nvSpPr>
          <p:cNvPr id="29" name="Text 27"/>
          <p:cNvSpPr txBox="1"/>
          <p:nvPr/>
        </p:nvSpPr>
        <p:spPr>
          <a:xfrm>
            <a:off x="3154680" y="4315968"/>
            <a:ext cx="4892040" cy="411480"/>
          </a:xfrm>
          <a:prstGeom prst="rect">
            <a:avLst/>
          </a:prstGeom>
          <a:noFill/>
          <a:ln/>
        </p:spPr>
        <p:txBody>
          <a:bodyPr wrap="square" lIns="0" tIns="0" rIns="0" bIns="0" rtlCol="0" anchor="ctr"/>
          <a:lstStyle/>
          <a:p>
            <a:pPr marL="0" indent="0">
              <a:buNone/>
            </a:pPr>
            <a:r>
              <a:rPr lang="en-US" sz="1400" b="1" dirty="0">
                <a:solidFill>
                  <a:schemeClr val="accent3"/>
                </a:solidFill>
                <a:latin typeface="Consolas" pitchFamily="34" charset="0"/>
                <a:ea typeface="Consolas" pitchFamily="34" charset="-122"/>
                <a:cs typeface="Consolas" pitchFamily="34" charset="-120"/>
              </a:rPr>
              <a:t>&lt;|0.00|&gt;</a:t>
            </a:r>
            <a:r>
              <a:rPr lang="en-US" sz="1400" dirty="0">
                <a:solidFill>
                  <a:schemeClr val="tx1"/>
                </a:solidFill>
                <a:latin typeface="Consolas" pitchFamily="34" charset="0"/>
                <a:ea typeface="Consolas" pitchFamily="34" charset="-122"/>
                <a:cs typeface="Consolas" pitchFamily="34" charset="-120"/>
              </a:rPr>
              <a:t> Khmer transcription </a:t>
            </a:r>
            <a:r>
              <a:rPr lang="en-US" sz="1400" b="1" dirty="0">
                <a:solidFill>
                  <a:schemeClr val="accent3"/>
                </a:solidFill>
                <a:latin typeface="Consolas" pitchFamily="34" charset="0"/>
                <a:ea typeface="Consolas" pitchFamily="34" charset="-122"/>
                <a:cs typeface="Consolas" pitchFamily="34" charset="-120"/>
              </a:rPr>
              <a:t>&lt;|3.20|&gt;</a:t>
            </a:r>
            <a:endParaRPr lang="en-US" sz="1400" dirty="0"/>
          </a:p>
        </p:txBody>
      </p:sp>
      <p:sp>
        <p:nvSpPr>
          <p:cNvPr id="30" name="Text 28"/>
          <p:cNvSpPr txBox="1"/>
          <p:nvPr/>
        </p:nvSpPr>
        <p:spPr>
          <a:xfrm>
            <a:off x="8321040" y="3703320"/>
            <a:ext cx="3154680" cy="1005840"/>
          </a:xfrm>
          <a:prstGeom prst="rect">
            <a:avLst/>
          </a:prstGeom>
          <a:noFill/>
          <a:ln/>
        </p:spPr>
        <p:txBody>
          <a:bodyPr wrap="square" lIns="0" tIns="0" rIns="0" bIns="0" rtlCol="0" anchor="ctr"/>
          <a:lstStyle/>
          <a:p>
            <a:pPr marL="0" indent="0">
              <a:buNone/>
            </a:pPr>
            <a:r>
              <a:rPr lang="en-US" sz="1500" i="1" dirty="0">
                <a:solidFill>
                  <a:schemeClr val="tx2"/>
                </a:solidFill>
              </a:rPr>
              <a:t>Timestamp-aware labels help the model preserve subtitle timing capability.</a:t>
            </a:r>
            <a:endParaRPr lang="en-US" sz="1500" dirty="0"/>
          </a:p>
        </p:txBody>
      </p:sp>
      <p:sp>
        <p:nvSpPr>
          <p:cNvPr id="32" name="Text 29"/>
          <p:cNvSpPr txBox="1"/>
          <p:nvPr/>
        </p:nvSpPr>
        <p:spPr>
          <a:xfrm>
            <a:off x="548640" y="5120640"/>
            <a:ext cx="2743200" cy="274320"/>
          </a:xfrm>
          <a:prstGeom prst="rect">
            <a:avLst/>
          </a:prstGeom>
          <a:noFill/>
          <a:ln/>
        </p:spPr>
        <p:txBody>
          <a:bodyPr wrap="square" lIns="0" tIns="0" rIns="0" bIns="0" rtlCol="0" anchor="t"/>
          <a:lstStyle/>
          <a:p>
            <a:pPr marL="0" indent="0">
              <a:buNone/>
            </a:pPr>
            <a:r>
              <a:rPr lang="en-US" sz="1300" b="1" dirty="0">
                <a:solidFill>
                  <a:schemeClr val="accent5"/>
                </a:solidFill>
              </a:rPr>
              <a:t>Training loop</a:t>
            </a:r>
            <a:endParaRPr lang="en-US" sz="1300" dirty="0"/>
          </a:p>
        </p:txBody>
      </p:sp>
      <p:sp>
        <p:nvSpPr>
          <p:cNvPr id="33" name="loop Audio + transcript"/>
          <p:cNvSpPr/>
          <p:nvPr/>
        </p:nvSpPr>
        <p:spPr>
          <a:xfrm>
            <a:off x="548640" y="5440680"/>
            <a:ext cx="1371600" cy="438912"/>
          </a:xfrm>
          <a:prstGeom prst="roundRect">
            <a:avLst>
              <a:gd name="adj" fmla="val 50000"/>
            </a:avLst>
          </a:prstGeom>
          <a:solidFill>
            <a:schemeClr val="bg1"/>
          </a:solidFill>
          <a:ln w="12700">
            <a:solidFill>
              <a:schemeClr val="accent6"/>
            </a:solidFill>
            <a:prstDash val="solid"/>
          </a:ln>
        </p:spPr>
        <p:txBody>
          <a:bodyPr/>
          <a:lstStyle/>
          <a:p>
            <a:endParaRPr lang="en-US"/>
          </a:p>
        </p:txBody>
      </p:sp>
      <p:sp>
        <p:nvSpPr>
          <p:cNvPr id="34" name="Text 31"/>
          <p:cNvSpPr txBox="1"/>
          <p:nvPr/>
        </p:nvSpPr>
        <p:spPr>
          <a:xfrm>
            <a:off x="548640" y="5440680"/>
            <a:ext cx="1371600" cy="438912"/>
          </a:xfrm>
          <a:prstGeom prst="rect">
            <a:avLst/>
          </a:prstGeom>
          <a:noFill/>
          <a:ln/>
        </p:spPr>
        <p:txBody>
          <a:bodyPr wrap="square" lIns="0" tIns="0" rIns="0" bIns="0" rtlCol="0" anchor="ctr"/>
          <a:lstStyle/>
          <a:p>
            <a:pPr marL="0" indent="0" algn="ctr">
              <a:buNone/>
            </a:pPr>
            <a:r>
              <a:rPr lang="en-US" sz="1200" b="1" dirty="0">
                <a:solidFill>
                  <a:schemeClr val="tx2"/>
                </a:solidFill>
              </a:rPr>
              <a:t>Audio + transcript</a:t>
            </a:r>
            <a:endParaRPr lang="en-US" sz="1200" dirty="0"/>
          </a:p>
        </p:txBody>
      </p:sp>
      <p:sp>
        <p:nvSpPr>
          <p:cNvPr id="35" name="arrow"/>
          <p:cNvSpPr/>
          <p:nvPr/>
        </p:nvSpPr>
        <p:spPr>
          <a:xfrm>
            <a:off x="1956816" y="5660136"/>
            <a:ext cx="175260" cy="0"/>
          </a:xfrm>
          <a:prstGeom prst="line">
            <a:avLst/>
          </a:prstGeom>
          <a:noFill/>
          <a:ln w="19050">
            <a:solidFill>
              <a:schemeClr val="accent5"/>
            </a:solidFill>
            <a:prstDash val="solid"/>
            <a:tailEnd type="triangle"/>
          </a:ln>
        </p:spPr>
        <p:txBody>
          <a:bodyPr/>
          <a:lstStyle/>
          <a:p>
            <a:endParaRPr lang="en-US"/>
          </a:p>
        </p:txBody>
      </p:sp>
      <p:sp>
        <p:nvSpPr>
          <p:cNvPr id="36" name="loop Whisper-small"/>
          <p:cNvSpPr/>
          <p:nvPr/>
        </p:nvSpPr>
        <p:spPr>
          <a:xfrm>
            <a:off x="2168652" y="5440680"/>
            <a:ext cx="1371600" cy="438912"/>
          </a:xfrm>
          <a:prstGeom prst="roundRect">
            <a:avLst>
              <a:gd name="adj" fmla="val 50000"/>
            </a:avLst>
          </a:prstGeom>
          <a:solidFill>
            <a:schemeClr val="bg1"/>
          </a:solidFill>
          <a:ln w="12700">
            <a:solidFill>
              <a:schemeClr val="accent6"/>
            </a:solidFill>
            <a:prstDash val="solid"/>
          </a:ln>
        </p:spPr>
        <p:txBody>
          <a:bodyPr/>
          <a:lstStyle/>
          <a:p>
            <a:endParaRPr lang="en-US"/>
          </a:p>
        </p:txBody>
      </p:sp>
      <p:sp>
        <p:nvSpPr>
          <p:cNvPr id="37" name="Text 34"/>
          <p:cNvSpPr txBox="1"/>
          <p:nvPr/>
        </p:nvSpPr>
        <p:spPr>
          <a:xfrm>
            <a:off x="2168652" y="5440680"/>
            <a:ext cx="1371600" cy="438912"/>
          </a:xfrm>
          <a:prstGeom prst="rect">
            <a:avLst/>
          </a:prstGeom>
          <a:noFill/>
          <a:ln/>
        </p:spPr>
        <p:txBody>
          <a:bodyPr wrap="square" lIns="0" tIns="0" rIns="0" bIns="0" rtlCol="0" anchor="ctr"/>
          <a:lstStyle/>
          <a:p>
            <a:pPr marL="0" indent="0" algn="ctr">
              <a:buNone/>
            </a:pPr>
            <a:r>
              <a:rPr lang="en-US" sz="1200" b="1" dirty="0">
                <a:solidFill>
                  <a:schemeClr val="tx2"/>
                </a:solidFill>
              </a:rPr>
              <a:t>Whisper-small</a:t>
            </a:r>
            <a:endParaRPr lang="en-US" sz="1200" dirty="0"/>
          </a:p>
        </p:txBody>
      </p:sp>
      <p:sp>
        <p:nvSpPr>
          <p:cNvPr id="38" name="arrow"/>
          <p:cNvSpPr/>
          <p:nvPr/>
        </p:nvSpPr>
        <p:spPr>
          <a:xfrm>
            <a:off x="3576828" y="5660136"/>
            <a:ext cx="175260" cy="0"/>
          </a:xfrm>
          <a:prstGeom prst="line">
            <a:avLst/>
          </a:prstGeom>
          <a:noFill/>
          <a:ln w="19050">
            <a:solidFill>
              <a:schemeClr val="accent5"/>
            </a:solidFill>
            <a:prstDash val="solid"/>
            <a:tailEnd type="triangle"/>
          </a:ln>
        </p:spPr>
        <p:txBody>
          <a:bodyPr/>
          <a:lstStyle/>
          <a:p>
            <a:endParaRPr lang="en-US"/>
          </a:p>
        </p:txBody>
      </p:sp>
      <p:sp>
        <p:nvSpPr>
          <p:cNvPr id="39" name="loop Prediction"/>
          <p:cNvSpPr/>
          <p:nvPr/>
        </p:nvSpPr>
        <p:spPr>
          <a:xfrm>
            <a:off x="3788664" y="5440680"/>
            <a:ext cx="1371600" cy="438912"/>
          </a:xfrm>
          <a:prstGeom prst="roundRect">
            <a:avLst>
              <a:gd name="adj" fmla="val 50000"/>
            </a:avLst>
          </a:prstGeom>
          <a:solidFill>
            <a:schemeClr val="bg1"/>
          </a:solidFill>
          <a:ln w="12700">
            <a:solidFill>
              <a:schemeClr val="accent6"/>
            </a:solidFill>
            <a:prstDash val="solid"/>
          </a:ln>
        </p:spPr>
        <p:txBody>
          <a:bodyPr/>
          <a:lstStyle/>
          <a:p>
            <a:endParaRPr lang="en-US"/>
          </a:p>
        </p:txBody>
      </p:sp>
      <p:sp>
        <p:nvSpPr>
          <p:cNvPr id="40" name="Text 37"/>
          <p:cNvSpPr txBox="1"/>
          <p:nvPr/>
        </p:nvSpPr>
        <p:spPr>
          <a:xfrm>
            <a:off x="3788664" y="5440680"/>
            <a:ext cx="1371600" cy="438912"/>
          </a:xfrm>
          <a:prstGeom prst="rect">
            <a:avLst/>
          </a:prstGeom>
          <a:noFill/>
          <a:ln/>
        </p:spPr>
        <p:txBody>
          <a:bodyPr wrap="square" lIns="0" tIns="0" rIns="0" bIns="0" rtlCol="0" anchor="ctr"/>
          <a:lstStyle/>
          <a:p>
            <a:pPr marL="0" indent="0" algn="ctr">
              <a:buNone/>
            </a:pPr>
            <a:r>
              <a:rPr lang="en-US" sz="1200" b="1" dirty="0">
                <a:solidFill>
                  <a:schemeClr val="tx2"/>
                </a:solidFill>
              </a:rPr>
              <a:t>Prediction</a:t>
            </a:r>
            <a:endParaRPr lang="en-US" sz="1200" dirty="0"/>
          </a:p>
        </p:txBody>
      </p:sp>
      <p:sp>
        <p:nvSpPr>
          <p:cNvPr id="41" name="arrow"/>
          <p:cNvSpPr/>
          <p:nvPr/>
        </p:nvSpPr>
        <p:spPr>
          <a:xfrm>
            <a:off x="5196840" y="5660136"/>
            <a:ext cx="175260" cy="0"/>
          </a:xfrm>
          <a:prstGeom prst="line">
            <a:avLst/>
          </a:prstGeom>
          <a:noFill/>
          <a:ln w="19050">
            <a:solidFill>
              <a:schemeClr val="accent5"/>
            </a:solidFill>
            <a:prstDash val="solid"/>
            <a:tailEnd type="triangle"/>
          </a:ln>
        </p:spPr>
        <p:txBody>
          <a:bodyPr/>
          <a:lstStyle/>
          <a:p>
            <a:endParaRPr lang="en-US"/>
          </a:p>
        </p:txBody>
      </p:sp>
      <p:sp>
        <p:nvSpPr>
          <p:cNvPr id="42" name="loop Loss"/>
          <p:cNvSpPr/>
          <p:nvPr/>
        </p:nvSpPr>
        <p:spPr>
          <a:xfrm>
            <a:off x="5408676" y="5440680"/>
            <a:ext cx="1371600" cy="438912"/>
          </a:xfrm>
          <a:prstGeom prst="roundRect">
            <a:avLst>
              <a:gd name="adj" fmla="val 50000"/>
            </a:avLst>
          </a:prstGeom>
          <a:solidFill>
            <a:schemeClr val="bg1"/>
          </a:solidFill>
          <a:ln w="12700">
            <a:solidFill>
              <a:schemeClr val="accent6"/>
            </a:solidFill>
            <a:prstDash val="solid"/>
          </a:ln>
        </p:spPr>
        <p:txBody>
          <a:bodyPr/>
          <a:lstStyle/>
          <a:p>
            <a:endParaRPr lang="en-US"/>
          </a:p>
        </p:txBody>
      </p:sp>
      <p:sp>
        <p:nvSpPr>
          <p:cNvPr id="43" name="Text 40"/>
          <p:cNvSpPr txBox="1"/>
          <p:nvPr/>
        </p:nvSpPr>
        <p:spPr>
          <a:xfrm>
            <a:off x="5408676" y="5440680"/>
            <a:ext cx="1371600" cy="438912"/>
          </a:xfrm>
          <a:prstGeom prst="rect">
            <a:avLst/>
          </a:prstGeom>
          <a:noFill/>
          <a:ln/>
        </p:spPr>
        <p:txBody>
          <a:bodyPr wrap="square" lIns="0" tIns="0" rIns="0" bIns="0" rtlCol="0" anchor="ctr"/>
          <a:lstStyle/>
          <a:p>
            <a:pPr marL="0" indent="0" algn="ctr">
              <a:buNone/>
            </a:pPr>
            <a:r>
              <a:rPr lang="en-US" sz="1200" b="1" dirty="0">
                <a:solidFill>
                  <a:schemeClr val="tx2"/>
                </a:solidFill>
              </a:rPr>
              <a:t>Loss</a:t>
            </a:r>
            <a:endParaRPr lang="en-US" sz="1200" dirty="0"/>
          </a:p>
        </p:txBody>
      </p:sp>
      <p:sp>
        <p:nvSpPr>
          <p:cNvPr id="44" name="arrow"/>
          <p:cNvSpPr/>
          <p:nvPr/>
        </p:nvSpPr>
        <p:spPr>
          <a:xfrm>
            <a:off x="6816852" y="5660136"/>
            <a:ext cx="175260" cy="0"/>
          </a:xfrm>
          <a:prstGeom prst="line">
            <a:avLst/>
          </a:prstGeom>
          <a:noFill/>
          <a:ln w="19050">
            <a:solidFill>
              <a:schemeClr val="accent5"/>
            </a:solidFill>
            <a:prstDash val="solid"/>
            <a:tailEnd type="triangle"/>
          </a:ln>
        </p:spPr>
        <p:txBody>
          <a:bodyPr/>
          <a:lstStyle/>
          <a:p>
            <a:endParaRPr lang="en-US"/>
          </a:p>
        </p:txBody>
      </p:sp>
      <p:sp>
        <p:nvSpPr>
          <p:cNvPr id="45" name="loop Backpropagation"/>
          <p:cNvSpPr/>
          <p:nvPr/>
        </p:nvSpPr>
        <p:spPr>
          <a:xfrm>
            <a:off x="7028688" y="5440680"/>
            <a:ext cx="1371600" cy="438912"/>
          </a:xfrm>
          <a:prstGeom prst="roundRect">
            <a:avLst>
              <a:gd name="adj" fmla="val 50000"/>
            </a:avLst>
          </a:prstGeom>
          <a:solidFill>
            <a:schemeClr val="bg1"/>
          </a:solidFill>
          <a:ln w="12700">
            <a:solidFill>
              <a:schemeClr val="accent6"/>
            </a:solidFill>
            <a:prstDash val="solid"/>
          </a:ln>
        </p:spPr>
        <p:txBody>
          <a:bodyPr/>
          <a:lstStyle/>
          <a:p>
            <a:endParaRPr lang="en-US"/>
          </a:p>
        </p:txBody>
      </p:sp>
      <p:sp>
        <p:nvSpPr>
          <p:cNvPr id="46" name="Text 43"/>
          <p:cNvSpPr txBox="1"/>
          <p:nvPr/>
        </p:nvSpPr>
        <p:spPr>
          <a:xfrm>
            <a:off x="7028688" y="5440680"/>
            <a:ext cx="1371600" cy="438912"/>
          </a:xfrm>
          <a:prstGeom prst="rect">
            <a:avLst/>
          </a:prstGeom>
          <a:noFill/>
          <a:ln/>
        </p:spPr>
        <p:txBody>
          <a:bodyPr wrap="square" lIns="0" tIns="0" rIns="0" bIns="0" rtlCol="0" anchor="ctr"/>
          <a:lstStyle/>
          <a:p>
            <a:pPr marL="0" indent="0" algn="ctr">
              <a:buNone/>
            </a:pPr>
            <a:r>
              <a:rPr lang="en-US" sz="1200" b="1" dirty="0">
                <a:solidFill>
                  <a:schemeClr val="tx2"/>
                </a:solidFill>
              </a:rPr>
              <a:t>Backpropagation</a:t>
            </a:r>
            <a:endParaRPr lang="en-US" sz="1200" dirty="0"/>
          </a:p>
        </p:txBody>
      </p:sp>
      <p:sp>
        <p:nvSpPr>
          <p:cNvPr id="47" name="arrow"/>
          <p:cNvSpPr/>
          <p:nvPr/>
        </p:nvSpPr>
        <p:spPr>
          <a:xfrm>
            <a:off x="8436864" y="5660136"/>
            <a:ext cx="175260" cy="0"/>
          </a:xfrm>
          <a:prstGeom prst="line">
            <a:avLst/>
          </a:prstGeom>
          <a:noFill/>
          <a:ln w="19050">
            <a:solidFill>
              <a:schemeClr val="accent5"/>
            </a:solidFill>
            <a:prstDash val="solid"/>
            <a:tailEnd type="triangle"/>
          </a:ln>
        </p:spPr>
        <p:txBody>
          <a:bodyPr/>
          <a:lstStyle/>
          <a:p>
            <a:endParaRPr lang="en-US"/>
          </a:p>
        </p:txBody>
      </p:sp>
      <p:sp>
        <p:nvSpPr>
          <p:cNvPr id="48" name="loop Gradients"/>
          <p:cNvSpPr/>
          <p:nvPr/>
        </p:nvSpPr>
        <p:spPr>
          <a:xfrm>
            <a:off x="8648700" y="5440680"/>
            <a:ext cx="1371600" cy="438912"/>
          </a:xfrm>
          <a:prstGeom prst="roundRect">
            <a:avLst>
              <a:gd name="adj" fmla="val 50000"/>
            </a:avLst>
          </a:prstGeom>
          <a:solidFill>
            <a:schemeClr val="bg1"/>
          </a:solidFill>
          <a:ln w="12700">
            <a:solidFill>
              <a:schemeClr val="accent6"/>
            </a:solidFill>
            <a:prstDash val="solid"/>
          </a:ln>
        </p:spPr>
        <p:txBody>
          <a:bodyPr/>
          <a:lstStyle/>
          <a:p>
            <a:endParaRPr lang="en-US"/>
          </a:p>
        </p:txBody>
      </p:sp>
      <p:sp>
        <p:nvSpPr>
          <p:cNvPr id="49" name="Text 46"/>
          <p:cNvSpPr txBox="1"/>
          <p:nvPr/>
        </p:nvSpPr>
        <p:spPr>
          <a:xfrm>
            <a:off x="8648700" y="5440680"/>
            <a:ext cx="1371600" cy="438912"/>
          </a:xfrm>
          <a:prstGeom prst="rect">
            <a:avLst/>
          </a:prstGeom>
          <a:noFill/>
          <a:ln/>
        </p:spPr>
        <p:txBody>
          <a:bodyPr wrap="square" lIns="0" tIns="0" rIns="0" bIns="0" rtlCol="0" anchor="ctr"/>
          <a:lstStyle/>
          <a:p>
            <a:pPr marL="0" indent="0" algn="ctr">
              <a:buNone/>
            </a:pPr>
            <a:r>
              <a:rPr lang="en-US" sz="1200" b="1" dirty="0">
                <a:solidFill>
                  <a:schemeClr val="tx2"/>
                </a:solidFill>
              </a:rPr>
              <a:t>Gradients</a:t>
            </a:r>
            <a:endParaRPr lang="en-US" sz="1200" dirty="0"/>
          </a:p>
        </p:txBody>
      </p:sp>
      <p:sp>
        <p:nvSpPr>
          <p:cNvPr id="50" name="arrow"/>
          <p:cNvSpPr/>
          <p:nvPr/>
        </p:nvSpPr>
        <p:spPr>
          <a:xfrm>
            <a:off x="10056876" y="5660136"/>
            <a:ext cx="175260" cy="0"/>
          </a:xfrm>
          <a:prstGeom prst="line">
            <a:avLst/>
          </a:prstGeom>
          <a:noFill/>
          <a:ln w="19050">
            <a:solidFill>
              <a:schemeClr val="accent5"/>
            </a:solidFill>
            <a:prstDash val="solid"/>
            <a:tailEnd type="triangle"/>
          </a:ln>
        </p:spPr>
        <p:txBody>
          <a:bodyPr/>
          <a:lstStyle/>
          <a:p>
            <a:endParaRPr lang="en-US"/>
          </a:p>
        </p:txBody>
      </p:sp>
      <p:sp>
        <p:nvSpPr>
          <p:cNvPr id="51" name="loop AdamW update"/>
          <p:cNvSpPr/>
          <p:nvPr/>
        </p:nvSpPr>
        <p:spPr>
          <a:xfrm>
            <a:off x="10268712" y="5440680"/>
            <a:ext cx="1371600" cy="438912"/>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52" name="Text 49"/>
          <p:cNvSpPr txBox="1"/>
          <p:nvPr/>
        </p:nvSpPr>
        <p:spPr>
          <a:xfrm>
            <a:off x="10268712" y="5440680"/>
            <a:ext cx="1371600" cy="438912"/>
          </a:xfrm>
          <a:prstGeom prst="rect">
            <a:avLst/>
          </a:prstGeom>
          <a:noFill/>
          <a:ln/>
        </p:spPr>
        <p:txBody>
          <a:bodyPr wrap="square" lIns="0" tIns="0" rIns="0" bIns="0" rtlCol="0" anchor="ctr"/>
          <a:lstStyle/>
          <a:p>
            <a:pPr marL="0" indent="0" algn="ctr">
              <a:buNone/>
            </a:pPr>
            <a:r>
              <a:rPr lang="en-US" sz="1200" b="1" dirty="0">
                <a:solidFill>
                  <a:schemeClr val="tx2"/>
                </a:solidFill>
              </a:rPr>
              <a:t>AdamW update</a:t>
            </a:r>
            <a:endParaRPr lang="en-US" sz="1200" dirty="0"/>
          </a:p>
        </p:txBody>
      </p:sp>
      <p:sp>
        <p:nvSpPr>
          <p:cNvPr id="31"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b="1" dirty="0">
                <a:solidFill>
                  <a:schemeClr val="accent3"/>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the three models we compare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08</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8. Training configuration</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Training </a:t>
            </a:r>
            <a:r>
              <a:rPr lang="en-US" sz="3200" b="1" dirty="0">
                <a:solidFill>
                  <a:schemeClr val="accent3"/>
                </a:solidFill>
                <a:latin typeface="Calibri" pitchFamily="34" charset="0"/>
                <a:ea typeface="Calibri" pitchFamily="34" charset="-122"/>
                <a:cs typeface="Calibri" pitchFamily="34" charset="-120"/>
              </a:rPr>
              <a:t>hyperparameters</a:t>
            </a:r>
            <a:r>
              <a:rPr lang="en-US" sz="3200" b="1" dirty="0">
                <a:solidFill>
                  <a:schemeClr val="tx2"/>
                </a:solidFill>
                <a:latin typeface="Calibri" pitchFamily="34" charset="0"/>
                <a:ea typeface="Calibri" pitchFamily="34" charset="-122"/>
                <a:cs typeface="Calibri" pitchFamily="34" charset="-120"/>
              </a:rPr>
              <a:t>: 5 epochs, 44 minutes</a:t>
            </a:r>
            <a:endParaRPr lang="en-US" sz="3200" dirty="0"/>
          </a:p>
        </p:txBody>
      </p:sp>
      <p:sp>
        <p:nvSpPr>
          <p:cNvPr id="7" name="GPU (24 GB) on RunPod, $0.74/h tile"/>
          <p:cNvSpPr/>
          <p:nvPr/>
        </p:nvSpPr>
        <p:spPr>
          <a:xfrm>
            <a:off x="548640" y="1783080"/>
            <a:ext cx="2587752" cy="960120"/>
          </a:xfrm>
          <a:prstGeom prst="roundRect">
            <a:avLst>
              <a:gd name="adj" fmla="val 7619"/>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749808" y="1874520"/>
            <a:ext cx="2240280" cy="274320"/>
          </a:xfrm>
          <a:prstGeom prst="rect">
            <a:avLst/>
          </a:prstGeom>
          <a:noFill/>
          <a:ln/>
        </p:spPr>
        <p:txBody>
          <a:bodyPr wrap="square" lIns="0" tIns="0" rIns="0" bIns="0" rtlCol="0" anchor="t"/>
          <a:lstStyle/>
          <a:p>
            <a:pPr marL="0" indent="0">
              <a:buNone/>
            </a:pPr>
            <a:r>
              <a:rPr lang="en-US" sz="1300" dirty="0">
                <a:solidFill>
                  <a:schemeClr val="accent5"/>
                </a:solidFill>
              </a:rPr>
              <a:t>GPU (24 GB) on RunPod, $0.74/h</a:t>
            </a:r>
            <a:endParaRPr lang="en-US" sz="1300" dirty="0"/>
          </a:p>
        </p:txBody>
      </p:sp>
      <p:sp>
        <p:nvSpPr>
          <p:cNvPr id="9" name="Text 7"/>
          <p:cNvSpPr txBox="1"/>
          <p:nvPr/>
        </p:nvSpPr>
        <p:spPr>
          <a:xfrm>
            <a:off x="749808" y="2167128"/>
            <a:ext cx="2286000" cy="502920"/>
          </a:xfrm>
          <a:prstGeom prst="rect">
            <a:avLst/>
          </a:prstGeom>
          <a:noFill/>
          <a:ln/>
        </p:spPr>
        <p:txBody>
          <a:bodyPr wrap="square" lIns="0" tIns="0" rIns="0" bIns="0" rtlCol="0" anchor="ctr"/>
          <a:lstStyle/>
          <a:p>
            <a:pPr marL="0" indent="0">
              <a:buNone/>
            </a:pPr>
            <a:r>
              <a:rPr lang="en-US" sz="2600" b="1" dirty="0">
                <a:solidFill>
                  <a:schemeClr val="tx2"/>
                </a:solidFill>
              </a:rPr>
              <a:t>RTX 4090</a:t>
            </a:r>
            <a:endParaRPr lang="en-US" sz="1500" dirty="0"/>
          </a:p>
        </p:txBody>
      </p:sp>
      <p:sp>
        <p:nvSpPr>
          <p:cNvPr id="10" name="Epochs tile"/>
          <p:cNvSpPr/>
          <p:nvPr/>
        </p:nvSpPr>
        <p:spPr>
          <a:xfrm>
            <a:off x="3383280" y="1783080"/>
            <a:ext cx="2587752" cy="960120"/>
          </a:xfrm>
          <a:prstGeom prst="roundRect">
            <a:avLst>
              <a:gd name="adj" fmla="val 7619"/>
            </a:avLst>
          </a:prstGeom>
          <a:solidFill>
            <a:schemeClr val="bg2"/>
          </a:solidFill>
          <a:ln w="12700">
            <a:solidFill>
              <a:schemeClr val="bg2"/>
            </a:solidFill>
            <a:prstDash val="solid"/>
          </a:ln>
        </p:spPr>
        <p:txBody>
          <a:bodyPr/>
          <a:lstStyle/>
          <a:p>
            <a:endParaRPr lang="en-US"/>
          </a:p>
        </p:txBody>
      </p:sp>
      <p:sp>
        <p:nvSpPr>
          <p:cNvPr id="11" name="Text 9"/>
          <p:cNvSpPr txBox="1"/>
          <p:nvPr/>
        </p:nvSpPr>
        <p:spPr>
          <a:xfrm>
            <a:off x="3584448" y="1874520"/>
            <a:ext cx="2240280" cy="274320"/>
          </a:xfrm>
          <a:prstGeom prst="rect">
            <a:avLst/>
          </a:prstGeom>
          <a:noFill/>
          <a:ln/>
        </p:spPr>
        <p:txBody>
          <a:bodyPr wrap="square" lIns="0" tIns="0" rIns="0" bIns="0" rtlCol="0" anchor="t"/>
          <a:lstStyle/>
          <a:p>
            <a:pPr marL="0" indent="0">
              <a:buNone/>
            </a:pPr>
            <a:r>
              <a:rPr lang="en-US" sz="1300" dirty="0">
                <a:solidFill>
                  <a:schemeClr val="accent5"/>
                </a:solidFill>
              </a:rPr>
              <a:t>Epochs</a:t>
            </a:r>
            <a:endParaRPr lang="en-US" sz="1300" dirty="0"/>
          </a:p>
        </p:txBody>
      </p:sp>
      <p:sp>
        <p:nvSpPr>
          <p:cNvPr id="12" name="Text 10"/>
          <p:cNvSpPr txBox="1"/>
          <p:nvPr/>
        </p:nvSpPr>
        <p:spPr>
          <a:xfrm>
            <a:off x="3584448" y="2167128"/>
            <a:ext cx="2286000" cy="502920"/>
          </a:xfrm>
          <a:prstGeom prst="rect">
            <a:avLst/>
          </a:prstGeom>
          <a:noFill/>
          <a:ln/>
        </p:spPr>
        <p:txBody>
          <a:bodyPr wrap="square" lIns="0" tIns="0" rIns="0" bIns="0" rtlCol="0" anchor="ctr"/>
          <a:lstStyle/>
          <a:p>
            <a:pPr marL="0" indent="0">
              <a:buNone/>
            </a:pPr>
            <a:r>
              <a:rPr lang="en-US" sz="2600" b="1" dirty="0">
                <a:solidFill>
                  <a:schemeClr val="tx2"/>
                </a:solidFill>
              </a:rPr>
              <a:t>5</a:t>
            </a:r>
            <a:endParaRPr lang="en-US" sz="1500" dirty="0"/>
          </a:p>
        </p:txBody>
      </p:sp>
      <p:sp>
        <p:nvSpPr>
          <p:cNvPr id="13" name="Optimizer tile"/>
          <p:cNvSpPr/>
          <p:nvPr/>
        </p:nvSpPr>
        <p:spPr>
          <a:xfrm>
            <a:off x="6217920" y="1783080"/>
            <a:ext cx="2587752" cy="960120"/>
          </a:xfrm>
          <a:prstGeom prst="roundRect">
            <a:avLst>
              <a:gd name="adj" fmla="val 7619"/>
            </a:avLst>
          </a:prstGeom>
          <a:solidFill>
            <a:schemeClr val="bg2"/>
          </a:solidFill>
          <a:ln w="12700">
            <a:solidFill>
              <a:schemeClr val="bg2"/>
            </a:solidFill>
            <a:prstDash val="solid"/>
          </a:ln>
        </p:spPr>
        <p:txBody>
          <a:bodyPr/>
          <a:lstStyle/>
          <a:p>
            <a:endParaRPr lang="en-US"/>
          </a:p>
        </p:txBody>
      </p:sp>
      <p:sp>
        <p:nvSpPr>
          <p:cNvPr id="14" name="Text 12"/>
          <p:cNvSpPr txBox="1"/>
          <p:nvPr/>
        </p:nvSpPr>
        <p:spPr>
          <a:xfrm>
            <a:off x="6419088" y="1874520"/>
            <a:ext cx="2240280" cy="274320"/>
          </a:xfrm>
          <a:prstGeom prst="rect">
            <a:avLst/>
          </a:prstGeom>
          <a:noFill/>
          <a:ln/>
        </p:spPr>
        <p:txBody>
          <a:bodyPr wrap="square" lIns="0" tIns="0" rIns="0" bIns="0" rtlCol="0" anchor="t"/>
          <a:lstStyle/>
          <a:p>
            <a:pPr marL="0" indent="0">
              <a:buNone/>
            </a:pPr>
            <a:r>
              <a:rPr lang="en-US" sz="1300" dirty="0">
                <a:solidFill>
                  <a:schemeClr val="accent5"/>
                </a:solidFill>
              </a:rPr>
              <a:t>Optimizer</a:t>
            </a:r>
            <a:endParaRPr lang="en-US" sz="1300" dirty="0"/>
          </a:p>
        </p:txBody>
      </p:sp>
      <p:sp>
        <p:nvSpPr>
          <p:cNvPr id="15" name="Text 13"/>
          <p:cNvSpPr txBox="1"/>
          <p:nvPr/>
        </p:nvSpPr>
        <p:spPr>
          <a:xfrm>
            <a:off x="6419088" y="2167128"/>
            <a:ext cx="2286000" cy="502920"/>
          </a:xfrm>
          <a:prstGeom prst="rect">
            <a:avLst/>
          </a:prstGeom>
          <a:noFill/>
          <a:ln/>
        </p:spPr>
        <p:txBody>
          <a:bodyPr wrap="square" lIns="0" tIns="0" rIns="0" bIns="0" rtlCol="0" anchor="ctr"/>
          <a:lstStyle/>
          <a:p>
            <a:pPr marL="0" indent="0">
              <a:buNone/>
            </a:pPr>
            <a:r>
              <a:rPr lang="en-US" sz="2600" b="1" dirty="0">
                <a:solidFill>
                  <a:schemeClr val="tx2"/>
                </a:solidFill>
              </a:rPr>
              <a:t>AdamW</a:t>
            </a:r>
            <a:endParaRPr lang="en-US" sz="1500" dirty="0"/>
          </a:p>
        </p:txBody>
      </p:sp>
      <p:sp>
        <p:nvSpPr>
          <p:cNvPr id="16" name="Learning rate tile"/>
          <p:cNvSpPr/>
          <p:nvPr/>
        </p:nvSpPr>
        <p:spPr>
          <a:xfrm>
            <a:off x="9052560" y="1783080"/>
            <a:ext cx="2587752" cy="960120"/>
          </a:xfrm>
          <a:prstGeom prst="roundRect">
            <a:avLst>
              <a:gd name="adj" fmla="val 7619"/>
            </a:avLst>
          </a:prstGeom>
          <a:solidFill>
            <a:schemeClr val="bg2"/>
          </a:solidFill>
          <a:ln w="12700">
            <a:solidFill>
              <a:schemeClr val="bg2"/>
            </a:solidFill>
            <a:prstDash val="solid"/>
          </a:ln>
        </p:spPr>
        <p:txBody>
          <a:bodyPr/>
          <a:lstStyle/>
          <a:p>
            <a:endParaRPr lang="en-US"/>
          </a:p>
        </p:txBody>
      </p:sp>
      <p:sp>
        <p:nvSpPr>
          <p:cNvPr id="17" name="Text 15"/>
          <p:cNvSpPr txBox="1"/>
          <p:nvPr/>
        </p:nvSpPr>
        <p:spPr>
          <a:xfrm>
            <a:off x="9253728" y="1874520"/>
            <a:ext cx="2240280" cy="274320"/>
          </a:xfrm>
          <a:prstGeom prst="rect">
            <a:avLst/>
          </a:prstGeom>
          <a:noFill/>
          <a:ln/>
        </p:spPr>
        <p:txBody>
          <a:bodyPr wrap="square" lIns="0" tIns="0" rIns="0" bIns="0" rtlCol="0" anchor="t"/>
          <a:lstStyle/>
          <a:p>
            <a:pPr marL="0" indent="0">
              <a:buNone/>
            </a:pPr>
            <a:r>
              <a:rPr lang="en-US" sz="1300" dirty="0">
                <a:solidFill>
                  <a:schemeClr val="accent5"/>
                </a:solidFill>
              </a:rPr>
              <a:t>Learning rate</a:t>
            </a:r>
            <a:endParaRPr lang="en-US" sz="1300" dirty="0"/>
          </a:p>
        </p:txBody>
      </p:sp>
      <p:sp>
        <p:nvSpPr>
          <p:cNvPr id="18" name="Text 16"/>
          <p:cNvSpPr txBox="1"/>
          <p:nvPr/>
        </p:nvSpPr>
        <p:spPr>
          <a:xfrm>
            <a:off x="9253728" y="2167128"/>
            <a:ext cx="2286000" cy="502920"/>
          </a:xfrm>
          <a:prstGeom prst="rect">
            <a:avLst/>
          </a:prstGeom>
          <a:noFill/>
          <a:ln/>
        </p:spPr>
        <p:txBody>
          <a:bodyPr wrap="square" lIns="0" tIns="0" rIns="0" bIns="0" rtlCol="0" anchor="ctr"/>
          <a:lstStyle/>
          <a:p>
            <a:pPr marL="0" indent="0">
              <a:buNone/>
            </a:pPr>
            <a:r>
              <a:rPr lang="en-US" sz="2600" b="1" dirty="0">
                <a:solidFill>
                  <a:schemeClr val="tx2"/>
                </a:solidFill>
              </a:rPr>
              <a:t>1 × 10⁻⁵</a:t>
            </a:r>
            <a:endParaRPr lang="en-US" sz="1500" dirty="0"/>
          </a:p>
        </p:txBody>
      </p:sp>
      <p:sp>
        <p:nvSpPr>
          <p:cNvPr id="19" name="Warm-up tile"/>
          <p:cNvSpPr/>
          <p:nvPr/>
        </p:nvSpPr>
        <p:spPr>
          <a:xfrm>
            <a:off x="548640" y="2880360"/>
            <a:ext cx="2587752" cy="960120"/>
          </a:xfrm>
          <a:prstGeom prst="roundRect">
            <a:avLst>
              <a:gd name="adj" fmla="val 7619"/>
            </a:avLst>
          </a:prstGeom>
          <a:solidFill>
            <a:schemeClr val="bg2"/>
          </a:solidFill>
          <a:ln w="12700">
            <a:solidFill>
              <a:schemeClr val="bg2"/>
            </a:solidFill>
            <a:prstDash val="solid"/>
          </a:ln>
        </p:spPr>
        <p:txBody>
          <a:bodyPr/>
          <a:lstStyle/>
          <a:p>
            <a:endParaRPr lang="en-US"/>
          </a:p>
        </p:txBody>
      </p:sp>
      <p:sp>
        <p:nvSpPr>
          <p:cNvPr id="20" name="Text 18"/>
          <p:cNvSpPr txBox="1"/>
          <p:nvPr/>
        </p:nvSpPr>
        <p:spPr>
          <a:xfrm>
            <a:off x="749808" y="2971800"/>
            <a:ext cx="2240280" cy="274320"/>
          </a:xfrm>
          <a:prstGeom prst="rect">
            <a:avLst/>
          </a:prstGeom>
          <a:noFill/>
          <a:ln/>
        </p:spPr>
        <p:txBody>
          <a:bodyPr wrap="square" lIns="0" tIns="0" rIns="0" bIns="0" rtlCol="0" anchor="t"/>
          <a:lstStyle/>
          <a:p>
            <a:pPr marL="0" indent="0">
              <a:buNone/>
            </a:pPr>
            <a:r>
              <a:rPr lang="en-US" sz="1300" dirty="0">
                <a:solidFill>
                  <a:schemeClr val="accent5"/>
                </a:solidFill>
              </a:rPr>
              <a:t>Warm-up</a:t>
            </a:r>
            <a:endParaRPr lang="en-US" sz="1300" dirty="0"/>
          </a:p>
        </p:txBody>
      </p:sp>
      <p:sp>
        <p:nvSpPr>
          <p:cNvPr id="21" name="Text 19"/>
          <p:cNvSpPr txBox="1"/>
          <p:nvPr/>
        </p:nvSpPr>
        <p:spPr>
          <a:xfrm>
            <a:off x="749808" y="3264408"/>
            <a:ext cx="2286000" cy="502920"/>
          </a:xfrm>
          <a:prstGeom prst="rect">
            <a:avLst/>
          </a:prstGeom>
          <a:noFill/>
          <a:ln/>
        </p:spPr>
        <p:txBody>
          <a:bodyPr wrap="square" lIns="0" tIns="0" rIns="0" bIns="0" rtlCol="0" anchor="ctr"/>
          <a:lstStyle/>
          <a:p>
            <a:pPr marL="0" indent="0">
              <a:buNone/>
            </a:pPr>
            <a:r>
              <a:rPr lang="en-US" sz="2600" b="1" dirty="0">
                <a:solidFill>
                  <a:schemeClr val="tx2"/>
                </a:solidFill>
              </a:rPr>
              <a:t>200</a:t>
            </a:r>
            <a:r>
              <a:rPr lang="en-US" sz="1300" dirty="0">
                <a:solidFill>
                  <a:schemeClr val="accent5"/>
                </a:solidFill>
              </a:rPr>
              <a:t>  optimizer steps</a:t>
            </a:r>
            <a:endParaRPr lang="en-US" sz="1500" dirty="0"/>
          </a:p>
        </p:txBody>
      </p:sp>
      <p:sp>
        <p:nvSpPr>
          <p:cNvPr id="22" name="Effective batch size tile"/>
          <p:cNvSpPr/>
          <p:nvPr/>
        </p:nvSpPr>
        <p:spPr>
          <a:xfrm>
            <a:off x="3383280" y="2880360"/>
            <a:ext cx="2587752" cy="960120"/>
          </a:xfrm>
          <a:prstGeom prst="roundRect">
            <a:avLst>
              <a:gd name="adj" fmla="val 7619"/>
            </a:avLst>
          </a:prstGeom>
          <a:solidFill>
            <a:schemeClr val="bg2"/>
          </a:solidFill>
          <a:ln w="12700">
            <a:solidFill>
              <a:schemeClr val="bg2"/>
            </a:solidFill>
            <a:prstDash val="solid"/>
          </a:ln>
        </p:spPr>
        <p:txBody>
          <a:bodyPr/>
          <a:lstStyle/>
          <a:p>
            <a:endParaRPr lang="en-US"/>
          </a:p>
        </p:txBody>
      </p:sp>
      <p:sp>
        <p:nvSpPr>
          <p:cNvPr id="23" name="Text 21"/>
          <p:cNvSpPr txBox="1"/>
          <p:nvPr/>
        </p:nvSpPr>
        <p:spPr>
          <a:xfrm>
            <a:off x="3584448" y="2971800"/>
            <a:ext cx="2240280" cy="274320"/>
          </a:xfrm>
          <a:prstGeom prst="rect">
            <a:avLst/>
          </a:prstGeom>
          <a:noFill/>
          <a:ln/>
        </p:spPr>
        <p:txBody>
          <a:bodyPr wrap="square" lIns="0" tIns="0" rIns="0" bIns="0" rtlCol="0" anchor="t"/>
          <a:lstStyle/>
          <a:p>
            <a:pPr marL="0" indent="0">
              <a:buNone/>
            </a:pPr>
            <a:r>
              <a:rPr lang="en-US" sz="1300" dirty="0">
                <a:solidFill>
                  <a:schemeClr val="accent5"/>
                </a:solidFill>
              </a:rPr>
              <a:t>Effective batch size</a:t>
            </a:r>
            <a:endParaRPr lang="en-US" sz="1300" dirty="0"/>
          </a:p>
        </p:txBody>
      </p:sp>
      <p:sp>
        <p:nvSpPr>
          <p:cNvPr id="24" name="Text 22"/>
          <p:cNvSpPr txBox="1"/>
          <p:nvPr/>
        </p:nvSpPr>
        <p:spPr>
          <a:xfrm>
            <a:off x="3584448" y="3264408"/>
            <a:ext cx="2286000" cy="502920"/>
          </a:xfrm>
          <a:prstGeom prst="rect">
            <a:avLst/>
          </a:prstGeom>
          <a:noFill/>
          <a:ln/>
        </p:spPr>
        <p:txBody>
          <a:bodyPr wrap="square" lIns="0" tIns="0" rIns="0" bIns="0" rtlCol="0" anchor="ctr"/>
          <a:lstStyle/>
          <a:p>
            <a:pPr marL="0" indent="0">
              <a:buNone/>
            </a:pPr>
            <a:r>
              <a:rPr lang="en-US" sz="2600" b="1" dirty="0">
                <a:solidFill>
                  <a:schemeClr val="tx2"/>
                </a:solidFill>
              </a:rPr>
              <a:t>32</a:t>
            </a:r>
            <a:endParaRPr lang="en-US" sz="1500" dirty="0"/>
          </a:p>
        </p:txBody>
      </p:sp>
      <p:sp>
        <p:nvSpPr>
          <p:cNvPr id="25" name="Optimizer steps tile"/>
          <p:cNvSpPr/>
          <p:nvPr/>
        </p:nvSpPr>
        <p:spPr>
          <a:xfrm>
            <a:off x="6217920" y="2880360"/>
            <a:ext cx="2587752" cy="960120"/>
          </a:xfrm>
          <a:prstGeom prst="roundRect">
            <a:avLst>
              <a:gd name="adj" fmla="val 7619"/>
            </a:avLst>
          </a:prstGeom>
          <a:solidFill>
            <a:schemeClr val="bg2"/>
          </a:solidFill>
          <a:ln w="12700">
            <a:solidFill>
              <a:schemeClr val="bg2"/>
            </a:solidFill>
            <a:prstDash val="solid"/>
          </a:ln>
        </p:spPr>
        <p:txBody>
          <a:bodyPr/>
          <a:lstStyle/>
          <a:p>
            <a:endParaRPr lang="en-US"/>
          </a:p>
        </p:txBody>
      </p:sp>
      <p:sp>
        <p:nvSpPr>
          <p:cNvPr id="26" name="Text 24"/>
          <p:cNvSpPr txBox="1"/>
          <p:nvPr/>
        </p:nvSpPr>
        <p:spPr>
          <a:xfrm>
            <a:off x="6419088" y="2971800"/>
            <a:ext cx="2240280" cy="274320"/>
          </a:xfrm>
          <a:prstGeom prst="rect">
            <a:avLst/>
          </a:prstGeom>
          <a:noFill/>
          <a:ln/>
        </p:spPr>
        <p:txBody>
          <a:bodyPr wrap="square" lIns="0" tIns="0" rIns="0" bIns="0" rtlCol="0" anchor="t"/>
          <a:lstStyle/>
          <a:p>
            <a:pPr marL="0" indent="0">
              <a:buNone/>
            </a:pPr>
            <a:r>
              <a:rPr lang="en-US" sz="1300" dirty="0">
                <a:solidFill>
                  <a:schemeClr val="accent5"/>
                </a:solidFill>
              </a:rPr>
              <a:t>Optimizer steps</a:t>
            </a:r>
            <a:endParaRPr lang="en-US" sz="1300" dirty="0"/>
          </a:p>
        </p:txBody>
      </p:sp>
      <p:sp>
        <p:nvSpPr>
          <p:cNvPr id="27" name="Text 25"/>
          <p:cNvSpPr txBox="1"/>
          <p:nvPr/>
        </p:nvSpPr>
        <p:spPr>
          <a:xfrm>
            <a:off x="6419088" y="3264408"/>
            <a:ext cx="2286000" cy="502920"/>
          </a:xfrm>
          <a:prstGeom prst="rect">
            <a:avLst/>
          </a:prstGeom>
          <a:noFill/>
          <a:ln/>
        </p:spPr>
        <p:txBody>
          <a:bodyPr wrap="square" lIns="0" tIns="0" rIns="0" bIns="0" rtlCol="0" anchor="ctr"/>
          <a:lstStyle/>
          <a:p>
            <a:pPr marL="0" indent="0">
              <a:buNone/>
            </a:pPr>
            <a:r>
              <a:rPr lang="en-US" sz="2600" b="1" dirty="0">
                <a:solidFill>
                  <a:schemeClr val="tx2"/>
                </a:solidFill>
              </a:rPr>
              <a:t>3,245</a:t>
            </a:r>
            <a:endParaRPr lang="en-US" sz="1500" dirty="0"/>
          </a:p>
        </p:txBody>
      </p:sp>
      <p:sp>
        <p:nvSpPr>
          <p:cNvPr id="28" name="Training time (main model) tile"/>
          <p:cNvSpPr/>
          <p:nvPr/>
        </p:nvSpPr>
        <p:spPr>
          <a:xfrm>
            <a:off x="9052560" y="2880360"/>
            <a:ext cx="2587752" cy="960120"/>
          </a:xfrm>
          <a:prstGeom prst="roundRect">
            <a:avLst>
              <a:gd name="adj" fmla="val 7619"/>
            </a:avLst>
          </a:prstGeom>
          <a:solidFill>
            <a:schemeClr val="tx2"/>
          </a:solidFill>
          <a:ln w="12700">
            <a:solidFill>
              <a:schemeClr val="tx2"/>
            </a:solidFill>
            <a:prstDash val="solid"/>
          </a:ln>
        </p:spPr>
        <p:txBody>
          <a:bodyPr/>
          <a:lstStyle/>
          <a:p>
            <a:endParaRPr lang="en-US"/>
          </a:p>
        </p:txBody>
      </p:sp>
      <p:sp>
        <p:nvSpPr>
          <p:cNvPr id="29" name="Text 27"/>
          <p:cNvSpPr txBox="1"/>
          <p:nvPr/>
        </p:nvSpPr>
        <p:spPr>
          <a:xfrm>
            <a:off x="9253728" y="2971800"/>
            <a:ext cx="2240280" cy="274320"/>
          </a:xfrm>
          <a:prstGeom prst="rect">
            <a:avLst/>
          </a:prstGeom>
          <a:noFill/>
          <a:ln/>
        </p:spPr>
        <p:txBody>
          <a:bodyPr wrap="square" lIns="0" tIns="0" rIns="0" bIns="0" rtlCol="0" anchor="t"/>
          <a:lstStyle/>
          <a:p>
            <a:pPr marL="0" indent="0">
              <a:buNone/>
            </a:pPr>
            <a:r>
              <a:rPr lang="en-US" sz="1300" dirty="0">
                <a:solidFill>
                  <a:schemeClr val="accent6"/>
                </a:solidFill>
              </a:rPr>
              <a:t>Training time (main model)</a:t>
            </a:r>
            <a:endParaRPr lang="en-US" sz="1300" dirty="0"/>
          </a:p>
        </p:txBody>
      </p:sp>
      <p:sp>
        <p:nvSpPr>
          <p:cNvPr id="30" name="Text 28"/>
          <p:cNvSpPr txBox="1"/>
          <p:nvPr/>
        </p:nvSpPr>
        <p:spPr>
          <a:xfrm>
            <a:off x="9253728" y="3264408"/>
            <a:ext cx="2286000" cy="502920"/>
          </a:xfrm>
          <a:prstGeom prst="rect">
            <a:avLst/>
          </a:prstGeom>
          <a:noFill/>
          <a:ln/>
        </p:spPr>
        <p:txBody>
          <a:bodyPr wrap="square" lIns="0" tIns="0" rIns="0" bIns="0" rtlCol="0" anchor="ctr"/>
          <a:lstStyle/>
          <a:p>
            <a:pPr marL="0" indent="0">
              <a:buNone/>
            </a:pPr>
            <a:r>
              <a:rPr lang="en-US" sz="2600" b="1" dirty="0">
                <a:solidFill>
                  <a:schemeClr val="bg1"/>
                </a:solidFill>
              </a:rPr>
              <a:t>44m 24s</a:t>
            </a:r>
            <a:endParaRPr lang="en-US" sz="1500" dirty="0"/>
          </a:p>
        </p:txBody>
      </p:sp>
      <p:sp>
        <p:nvSpPr>
          <p:cNvPr id="31" name="Text 29"/>
          <p:cNvSpPr txBox="1"/>
          <p:nvPr/>
        </p:nvSpPr>
        <p:spPr>
          <a:xfrm>
            <a:off x="548640" y="4160520"/>
            <a:ext cx="4572000" cy="274320"/>
          </a:xfrm>
          <a:prstGeom prst="rect">
            <a:avLst/>
          </a:prstGeom>
          <a:noFill/>
          <a:ln/>
        </p:spPr>
        <p:txBody>
          <a:bodyPr wrap="square" lIns="0" tIns="0" rIns="0" bIns="0" rtlCol="0" anchor="t"/>
          <a:lstStyle/>
          <a:p>
            <a:pPr marL="0" indent="0">
              <a:buNone/>
            </a:pPr>
            <a:r>
              <a:rPr lang="en-US" sz="1400" b="1" dirty="0">
                <a:solidFill>
                  <a:schemeClr val="tx2"/>
                </a:solidFill>
              </a:rPr>
              <a:t>Effective batch size</a:t>
            </a:r>
            <a:endParaRPr lang="en-US" sz="1400" dirty="0"/>
          </a:p>
        </p:txBody>
      </p:sp>
      <p:sp>
        <p:nvSpPr>
          <p:cNvPr id="32" name="Batch box"/>
          <p:cNvSpPr/>
          <p:nvPr/>
        </p:nvSpPr>
        <p:spPr>
          <a:xfrm>
            <a:off x="548640" y="4526280"/>
            <a:ext cx="1417320" cy="960120"/>
          </a:xfrm>
          <a:prstGeom prst="roundRect">
            <a:avLst>
              <a:gd name="adj" fmla="val 7619"/>
            </a:avLst>
          </a:prstGeom>
          <a:solidFill>
            <a:schemeClr val="bg2"/>
          </a:solidFill>
          <a:ln w="12700">
            <a:solidFill>
              <a:schemeClr val="bg2"/>
            </a:solidFill>
            <a:prstDash val="solid"/>
          </a:ln>
        </p:spPr>
        <p:txBody>
          <a:bodyPr/>
          <a:lstStyle/>
          <a:p>
            <a:endParaRPr lang="en-US"/>
          </a:p>
        </p:txBody>
      </p:sp>
      <p:sp>
        <p:nvSpPr>
          <p:cNvPr id="33" name="Text 31"/>
          <p:cNvSpPr txBox="1"/>
          <p:nvPr/>
        </p:nvSpPr>
        <p:spPr>
          <a:xfrm>
            <a:off x="548640" y="4553712"/>
            <a:ext cx="1417320" cy="502920"/>
          </a:xfrm>
          <a:prstGeom prst="rect">
            <a:avLst/>
          </a:prstGeom>
          <a:noFill/>
          <a:ln/>
        </p:spPr>
        <p:txBody>
          <a:bodyPr wrap="square" lIns="0" tIns="0" rIns="0" bIns="0" rtlCol="0" anchor="ctr"/>
          <a:lstStyle/>
          <a:p>
            <a:pPr marL="0" indent="0" algn="ctr">
              <a:buNone/>
            </a:pPr>
            <a:r>
              <a:rPr lang="en-US" sz="2600" b="1" dirty="0">
                <a:solidFill>
                  <a:schemeClr val="tx2"/>
                </a:solidFill>
              </a:rPr>
              <a:t>16</a:t>
            </a:r>
            <a:endParaRPr lang="en-US" sz="2600" dirty="0"/>
          </a:p>
        </p:txBody>
      </p:sp>
      <p:sp>
        <p:nvSpPr>
          <p:cNvPr id="34" name="Text 32"/>
          <p:cNvSpPr txBox="1"/>
          <p:nvPr/>
        </p:nvSpPr>
        <p:spPr>
          <a:xfrm>
            <a:off x="594360" y="5029200"/>
            <a:ext cx="1325880" cy="411480"/>
          </a:xfrm>
          <a:prstGeom prst="rect">
            <a:avLst/>
          </a:prstGeom>
          <a:noFill/>
          <a:ln/>
        </p:spPr>
        <p:txBody>
          <a:bodyPr wrap="square" lIns="0" tIns="0" rIns="0" bIns="0" rtlCol="0" anchor="ctr"/>
          <a:lstStyle/>
          <a:p>
            <a:pPr marL="0" indent="0" algn="ctr">
              <a:buNone/>
            </a:pPr>
            <a:r>
              <a:rPr lang="en-US" sz="1200" dirty="0">
                <a:solidFill>
                  <a:schemeClr val="accent5"/>
                </a:solidFill>
              </a:rPr>
              <a:t>Batch</a:t>
            </a:r>
            <a:endParaRPr lang="en-US" sz="1200" dirty="0"/>
          </a:p>
        </p:txBody>
      </p:sp>
      <p:sp>
        <p:nvSpPr>
          <p:cNvPr id="35" name="Text 33"/>
          <p:cNvSpPr txBox="1"/>
          <p:nvPr/>
        </p:nvSpPr>
        <p:spPr>
          <a:xfrm>
            <a:off x="1965960" y="4526280"/>
            <a:ext cx="365760" cy="960120"/>
          </a:xfrm>
          <a:prstGeom prst="rect">
            <a:avLst/>
          </a:prstGeom>
          <a:noFill/>
          <a:ln/>
        </p:spPr>
        <p:txBody>
          <a:bodyPr wrap="square" lIns="0" tIns="0" rIns="0" bIns="0" rtlCol="0" anchor="ctr"/>
          <a:lstStyle/>
          <a:p>
            <a:pPr marL="0" indent="0" algn="ctr">
              <a:buNone/>
            </a:pPr>
            <a:r>
              <a:rPr lang="en-US" sz="2400" b="1" dirty="0">
                <a:solidFill>
                  <a:schemeClr val="accent5"/>
                </a:solidFill>
              </a:rPr>
              <a:t>×</a:t>
            </a:r>
            <a:endParaRPr lang="en-US" sz="2400" dirty="0"/>
          </a:p>
        </p:txBody>
      </p:sp>
      <p:sp>
        <p:nvSpPr>
          <p:cNvPr id="36" name="Gradient accumulation box"/>
          <p:cNvSpPr/>
          <p:nvPr/>
        </p:nvSpPr>
        <p:spPr>
          <a:xfrm>
            <a:off x="2331720" y="4526280"/>
            <a:ext cx="1417320" cy="960120"/>
          </a:xfrm>
          <a:prstGeom prst="roundRect">
            <a:avLst>
              <a:gd name="adj" fmla="val 7619"/>
            </a:avLst>
          </a:prstGeom>
          <a:solidFill>
            <a:schemeClr val="bg2"/>
          </a:solidFill>
          <a:ln w="12700">
            <a:solidFill>
              <a:schemeClr val="bg2"/>
            </a:solidFill>
            <a:prstDash val="solid"/>
          </a:ln>
        </p:spPr>
        <p:txBody>
          <a:bodyPr/>
          <a:lstStyle/>
          <a:p>
            <a:endParaRPr lang="en-US"/>
          </a:p>
        </p:txBody>
      </p:sp>
      <p:sp>
        <p:nvSpPr>
          <p:cNvPr id="37" name="Text 35"/>
          <p:cNvSpPr txBox="1"/>
          <p:nvPr/>
        </p:nvSpPr>
        <p:spPr>
          <a:xfrm>
            <a:off x="2331720" y="4553712"/>
            <a:ext cx="1417320" cy="502920"/>
          </a:xfrm>
          <a:prstGeom prst="rect">
            <a:avLst/>
          </a:prstGeom>
          <a:noFill/>
          <a:ln/>
        </p:spPr>
        <p:txBody>
          <a:bodyPr wrap="square" lIns="0" tIns="0" rIns="0" bIns="0" rtlCol="0" anchor="ctr"/>
          <a:lstStyle/>
          <a:p>
            <a:pPr marL="0" indent="0" algn="ctr">
              <a:buNone/>
            </a:pPr>
            <a:r>
              <a:rPr lang="en-US" sz="2600" b="1" dirty="0">
                <a:solidFill>
                  <a:schemeClr val="tx2"/>
                </a:solidFill>
              </a:rPr>
              <a:t>2</a:t>
            </a:r>
            <a:endParaRPr lang="en-US" sz="2600" dirty="0"/>
          </a:p>
        </p:txBody>
      </p:sp>
      <p:sp>
        <p:nvSpPr>
          <p:cNvPr id="38" name="Text 36"/>
          <p:cNvSpPr txBox="1"/>
          <p:nvPr/>
        </p:nvSpPr>
        <p:spPr>
          <a:xfrm>
            <a:off x="2377440" y="5029200"/>
            <a:ext cx="1325880" cy="411480"/>
          </a:xfrm>
          <a:prstGeom prst="rect">
            <a:avLst/>
          </a:prstGeom>
          <a:noFill/>
          <a:ln/>
        </p:spPr>
        <p:txBody>
          <a:bodyPr wrap="square" lIns="0" tIns="0" rIns="0" bIns="0" rtlCol="0" anchor="ctr"/>
          <a:lstStyle/>
          <a:p>
            <a:pPr marL="0" indent="0" algn="ctr">
              <a:buNone/>
            </a:pPr>
            <a:r>
              <a:rPr lang="en-US" sz="1200" dirty="0">
                <a:solidFill>
                  <a:schemeClr val="accent5"/>
                </a:solidFill>
              </a:rPr>
              <a:t>Gradient accumulation</a:t>
            </a:r>
            <a:endParaRPr lang="en-US" sz="1200" dirty="0"/>
          </a:p>
        </p:txBody>
      </p:sp>
      <p:sp>
        <p:nvSpPr>
          <p:cNvPr id="39" name="Text 37"/>
          <p:cNvSpPr txBox="1"/>
          <p:nvPr/>
        </p:nvSpPr>
        <p:spPr>
          <a:xfrm>
            <a:off x="3749040" y="4526280"/>
            <a:ext cx="365760" cy="960120"/>
          </a:xfrm>
          <a:prstGeom prst="rect">
            <a:avLst/>
          </a:prstGeom>
          <a:noFill/>
          <a:ln/>
        </p:spPr>
        <p:txBody>
          <a:bodyPr wrap="square" lIns="0" tIns="0" rIns="0" bIns="0" rtlCol="0" anchor="ctr"/>
          <a:lstStyle/>
          <a:p>
            <a:pPr marL="0" indent="0" algn="ctr">
              <a:buNone/>
            </a:pPr>
            <a:r>
              <a:rPr lang="en-US" sz="2400" b="1" dirty="0">
                <a:solidFill>
                  <a:schemeClr val="accent5"/>
                </a:solidFill>
              </a:rPr>
              <a:t>=</a:t>
            </a:r>
            <a:endParaRPr lang="en-US" sz="2400" dirty="0"/>
          </a:p>
        </p:txBody>
      </p:sp>
      <p:sp>
        <p:nvSpPr>
          <p:cNvPr id="40" name="Effective batch box"/>
          <p:cNvSpPr/>
          <p:nvPr/>
        </p:nvSpPr>
        <p:spPr>
          <a:xfrm>
            <a:off x="4114800" y="4526280"/>
            <a:ext cx="1417320" cy="960120"/>
          </a:xfrm>
          <a:prstGeom prst="roundRect">
            <a:avLst>
              <a:gd name="adj" fmla="val 7619"/>
            </a:avLst>
          </a:prstGeom>
          <a:solidFill>
            <a:schemeClr val="accent3"/>
          </a:solidFill>
          <a:ln w="12700">
            <a:solidFill>
              <a:schemeClr val="accent3"/>
            </a:solidFill>
            <a:prstDash val="solid"/>
          </a:ln>
        </p:spPr>
        <p:txBody>
          <a:bodyPr/>
          <a:lstStyle/>
          <a:p>
            <a:endParaRPr lang="en-US"/>
          </a:p>
        </p:txBody>
      </p:sp>
      <p:sp>
        <p:nvSpPr>
          <p:cNvPr id="41" name="Text 39"/>
          <p:cNvSpPr txBox="1"/>
          <p:nvPr/>
        </p:nvSpPr>
        <p:spPr>
          <a:xfrm>
            <a:off x="4114800" y="4553712"/>
            <a:ext cx="1417320" cy="502920"/>
          </a:xfrm>
          <a:prstGeom prst="rect">
            <a:avLst/>
          </a:prstGeom>
          <a:noFill/>
          <a:ln/>
        </p:spPr>
        <p:txBody>
          <a:bodyPr wrap="square" lIns="0" tIns="0" rIns="0" bIns="0" rtlCol="0" anchor="ctr"/>
          <a:lstStyle/>
          <a:p>
            <a:pPr marL="0" indent="0" algn="ctr">
              <a:buNone/>
            </a:pPr>
            <a:r>
              <a:rPr lang="en-US" sz="2600" b="1" dirty="0">
                <a:solidFill>
                  <a:schemeClr val="bg1"/>
                </a:solidFill>
              </a:rPr>
              <a:t>32</a:t>
            </a:r>
            <a:endParaRPr lang="en-US" sz="2600" dirty="0"/>
          </a:p>
        </p:txBody>
      </p:sp>
      <p:sp>
        <p:nvSpPr>
          <p:cNvPr id="42" name="Text 40"/>
          <p:cNvSpPr txBox="1"/>
          <p:nvPr/>
        </p:nvSpPr>
        <p:spPr>
          <a:xfrm>
            <a:off x="4160520" y="5029200"/>
            <a:ext cx="1325880" cy="411480"/>
          </a:xfrm>
          <a:prstGeom prst="rect">
            <a:avLst/>
          </a:prstGeom>
          <a:noFill/>
          <a:ln/>
        </p:spPr>
        <p:txBody>
          <a:bodyPr wrap="square" lIns="0" tIns="0" rIns="0" bIns="0" rtlCol="0" anchor="ctr"/>
          <a:lstStyle/>
          <a:p>
            <a:pPr marL="0" indent="0" algn="ctr">
              <a:buNone/>
            </a:pPr>
            <a:r>
              <a:rPr lang="en-US" sz="1200" dirty="0">
                <a:solidFill>
                  <a:schemeClr val="bg1"/>
                </a:solidFill>
              </a:rPr>
              <a:t>Effective batch</a:t>
            </a:r>
            <a:endParaRPr lang="en-US" sz="1200" dirty="0"/>
          </a:p>
        </p:txBody>
      </p:sp>
      <p:sp>
        <p:nvSpPr>
          <p:cNvPr id="43" name="Text 41"/>
          <p:cNvSpPr txBox="1"/>
          <p:nvPr/>
        </p:nvSpPr>
        <p:spPr>
          <a:xfrm>
            <a:off x="548640" y="5596128"/>
            <a:ext cx="5486400" cy="548640"/>
          </a:xfrm>
          <a:prstGeom prst="rect">
            <a:avLst/>
          </a:prstGeom>
          <a:noFill/>
          <a:ln/>
        </p:spPr>
        <p:txBody>
          <a:bodyPr wrap="square" lIns="0" tIns="0" rIns="0" bIns="0" rtlCol="0" anchor="t"/>
          <a:lstStyle/>
          <a:p>
            <a:pPr marL="0" indent="0">
              <a:buNone/>
            </a:pPr>
            <a:r>
              <a:rPr lang="en-US" sz="1300" b="1" dirty="0">
                <a:solidFill>
                  <a:schemeClr val="tx2"/>
                </a:solidFill>
              </a:rPr>
              <a:t>bf16</a:t>
            </a:r>
            <a:r>
              <a:rPr lang="en-US" sz="1300" dirty="0">
                <a:solidFill>
                  <a:schemeClr val="accent5"/>
                </a:solidFill>
              </a:rPr>
              <a:t> → reduce memory / improve efficiency</a:t>
            </a:r>
            <a:endParaRPr lang="en-US" sz="1300" dirty="0"/>
          </a:p>
          <a:p>
            <a:pPr marL="0" indent="0">
              <a:buNone/>
            </a:pPr>
            <a:r>
              <a:rPr lang="en-US" sz="1300" b="1" dirty="0">
                <a:solidFill>
                  <a:schemeClr val="tx2"/>
                </a:solidFill>
              </a:rPr>
              <a:t>Gradient checkpointing</a:t>
            </a:r>
            <a:r>
              <a:rPr lang="en-US" sz="1300" dirty="0">
                <a:solidFill>
                  <a:schemeClr val="accent5"/>
                </a:solidFill>
              </a:rPr>
              <a:t> → save GPU memory</a:t>
            </a:r>
            <a:endParaRPr lang="en-US" sz="1300" dirty="0"/>
          </a:p>
        </p:txBody>
      </p:sp>
      <p:sp>
        <p:nvSpPr>
          <p:cNvPr id="45" name="Text 42"/>
          <p:cNvSpPr txBox="1"/>
          <p:nvPr/>
        </p:nvSpPr>
        <p:spPr>
          <a:xfrm>
            <a:off x="6400800" y="4160520"/>
            <a:ext cx="4572000" cy="274320"/>
          </a:xfrm>
          <a:prstGeom prst="rect">
            <a:avLst/>
          </a:prstGeom>
          <a:noFill/>
          <a:ln/>
        </p:spPr>
        <p:txBody>
          <a:bodyPr wrap="square" lIns="0" tIns="0" rIns="0" bIns="0" rtlCol="0" anchor="t"/>
          <a:lstStyle/>
          <a:p>
            <a:pPr marL="0" indent="0">
              <a:buNone/>
            </a:pPr>
            <a:r>
              <a:rPr lang="en-US" sz="1400" b="1" dirty="0">
                <a:solidFill>
                  <a:schemeClr val="tx2"/>
                </a:solidFill>
              </a:rPr>
              <a:t>Learning-rate schedule</a:t>
            </a:r>
            <a:endParaRPr lang="en-US" sz="1400" dirty="0"/>
          </a:p>
        </p:txBody>
      </p:sp>
      <p:sp>
        <p:nvSpPr>
          <p:cNvPr id="46" name="warm-up region"/>
          <p:cNvSpPr/>
          <p:nvPr/>
        </p:nvSpPr>
        <p:spPr>
          <a:xfrm>
            <a:off x="6903720" y="4617720"/>
            <a:ext cx="548640" cy="1234440"/>
          </a:xfrm>
          <a:prstGeom prst="rect">
            <a:avLst/>
          </a:prstGeom>
          <a:solidFill>
            <a:schemeClr val="bg2"/>
          </a:solidFill>
          <a:ln w="12700">
            <a:solidFill>
              <a:schemeClr val="bg2"/>
            </a:solidFill>
            <a:prstDash val="solid"/>
          </a:ln>
        </p:spPr>
        <p:txBody>
          <a:bodyPr/>
          <a:lstStyle/>
          <a:p>
            <a:endParaRPr lang="en-US"/>
          </a:p>
        </p:txBody>
      </p:sp>
      <p:sp>
        <p:nvSpPr>
          <p:cNvPr id="47" name="line"/>
          <p:cNvSpPr/>
          <p:nvPr/>
        </p:nvSpPr>
        <p:spPr>
          <a:xfrm>
            <a:off x="6903720" y="5852160"/>
            <a:ext cx="4572000" cy="0"/>
          </a:xfrm>
          <a:prstGeom prst="line">
            <a:avLst/>
          </a:prstGeom>
          <a:noFill/>
          <a:ln w="12700">
            <a:solidFill>
              <a:schemeClr val="accent5"/>
            </a:solidFill>
            <a:prstDash val="solid"/>
          </a:ln>
        </p:spPr>
        <p:txBody>
          <a:bodyPr/>
          <a:lstStyle/>
          <a:p>
            <a:endParaRPr lang="en-US"/>
          </a:p>
        </p:txBody>
      </p:sp>
      <p:sp>
        <p:nvSpPr>
          <p:cNvPr id="48" name="line"/>
          <p:cNvSpPr/>
          <p:nvPr/>
        </p:nvSpPr>
        <p:spPr>
          <a:xfrm flipV="1">
            <a:off x="6903720" y="4526280"/>
            <a:ext cx="0" cy="1325880"/>
          </a:xfrm>
          <a:prstGeom prst="line">
            <a:avLst/>
          </a:prstGeom>
          <a:noFill/>
          <a:ln w="12700">
            <a:solidFill>
              <a:schemeClr val="accent5"/>
            </a:solidFill>
            <a:prstDash val="solid"/>
          </a:ln>
        </p:spPr>
        <p:txBody>
          <a:bodyPr/>
          <a:lstStyle/>
          <a:p>
            <a:endParaRPr lang="en-US"/>
          </a:p>
        </p:txBody>
      </p:sp>
      <p:sp>
        <p:nvSpPr>
          <p:cNvPr id="49" name="line"/>
          <p:cNvSpPr/>
          <p:nvPr/>
        </p:nvSpPr>
        <p:spPr>
          <a:xfrm flipV="1">
            <a:off x="6903720" y="4663440"/>
            <a:ext cx="548640" cy="1188720"/>
          </a:xfrm>
          <a:prstGeom prst="line">
            <a:avLst/>
          </a:prstGeom>
          <a:noFill/>
          <a:ln w="38100">
            <a:solidFill>
              <a:schemeClr val="accent2"/>
            </a:solidFill>
            <a:prstDash val="solid"/>
          </a:ln>
        </p:spPr>
        <p:txBody>
          <a:bodyPr/>
          <a:lstStyle/>
          <a:p>
            <a:endParaRPr lang="en-US"/>
          </a:p>
        </p:txBody>
      </p:sp>
      <p:sp>
        <p:nvSpPr>
          <p:cNvPr id="50" name="line"/>
          <p:cNvSpPr/>
          <p:nvPr/>
        </p:nvSpPr>
        <p:spPr>
          <a:xfrm>
            <a:off x="7452360" y="4663440"/>
            <a:ext cx="4023360" cy="1078992"/>
          </a:xfrm>
          <a:prstGeom prst="line">
            <a:avLst/>
          </a:prstGeom>
          <a:noFill/>
          <a:ln w="38100">
            <a:solidFill>
              <a:schemeClr val="accent3"/>
            </a:solidFill>
            <a:prstDash val="solid"/>
          </a:ln>
        </p:spPr>
        <p:txBody>
          <a:bodyPr/>
          <a:lstStyle/>
          <a:p>
            <a:endParaRPr lang="en-US"/>
          </a:p>
        </p:txBody>
      </p:sp>
      <p:sp>
        <p:nvSpPr>
          <p:cNvPr id="51" name="Text 48"/>
          <p:cNvSpPr txBox="1"/>
          <p:nvPr/>
        </p:nvSpPr>
        <p:spPr>
          <a:xfrm>
            <a:off x="6355080" y="4526280"/>
            <a:ext cx="530352" cy="274320"/>
          </a:xfrm>
          <a:prstGeom prst="rect">
            <a:avLst/>
          </a:prstGeom>
          <a:noFill/>
          <a:ln/>
        </p:spPr>
        <p:txBody>
          <a:bodyPr wrap="square" lIns="0" tIns="0" rIns="0" bIns="0" rtlCol="0" anchor="t"/>
          <a:lstStyle/>
          <a:p>
            <a:pPr marL="0" indent="0" algn="r">
              <a:buNone/>
            </a:pPr>
            <a:r>
              <a:rPr lang="en-US" sz="1200" dirty="0">
                <a:solidFill>
                  <a:schemeClr val="tx2"/>
                </a:solidFill>
              </a:rPr>
              <a:t>1×10⁻⁵</a:t>
            </a:r>
            <a:endParaRPr lang="en-US" sz="1200" dirty="0"/>
          </a:p>
        </p:txBody>
      </p:sp>
      <p:sp>
        <p:nvSpPr>
          <p:cNvPr id="52" name="Text 49"/>
          <p:cNvSpPr txBox="1"/>
          <p:nvPr/>
        </p:nvSpPr>
        <p:spPr>
          <a:xfrm>
            <a:off x="7562088" y="5074920"/>
            <a:ext cx="1280160" cy="685800"/>
          </a:xfrm>
          <a:prstGeom prst="rect">
            <a:avLst/>
          </a:prstGeom>
          <a:noFill/>
          <a:ln/>
        </p:spPr>
        <p:txBody>
          <a:bodyPr wrap="square" lIns="0" tIns="0" rIns="0" bIns="0" rtlCol="0" anchor="t"/>
          <a:lstStyle/>
          <a:p>
            <a:pPr marL="0" indent="0">
              <a:buNone/>
            </a:pPr>
            <a:r>
              <a:rPr lang="en-US" sz="1200" b="1" dirty="0">
                <a:solidFill>
                  <a:schemeClr val="accent2"/>
                </a:solidFill>
              </a:rPr>
              <a:t>Warm-up</a:t>
            </a:r>
            <a:endParaRPr lang="en-US" sz="1200" dirty="0"/>
          </a:p>
          <a:p>
            <a:pPr marL="0" indent="0">
              <a:buNone/>
            </a:pPr>
            <a:r>
              <a:rPr lang="en-US" sz="1200" dirty="0">
                <a:solidFill>
                  <a:schemeClr val="tx1"/>
                </a:solidFill>
              </a:rPr>
              <a:t>0 → 1×10⁻⁵</a:t>
            </a:r>
            <a:endParaRPr lang="en-US" sz="1200" dirty="0"/>
          </a:p>
          <a:p>
            <a:pPr marL="0" indent="0">
              <a:buNone/>
            </a:pPr>
            <a:r>
              <a:rPr lang="en-US" sz="1200" dirty="0">
                <a:solidFill>
                  <a:schemeClr val="tx1"/>
                </a:solidFill>
              </a:rPr>
              <a:t>first 200 steps</a:t>
            </a:r>
            <a:endParaRPr lang="en-US" sz="1200" dirty="0"/>
          </a:p>
        </p:txBody>
      </p:sp>
      <p:sp>
        <p:nvSpPr>
          <p:cNvPr id="53" name="Text 50"/>
          <p:cNvSpPr txBox="1"/>
          <p:nvPr/>
        </p:nvSpPr>
        <p:spPr>
          <a:xfrm>
            <a:off x="9418320" y="4590288"/>
            <a:ext cx="2103120" cy="457200"/>
          </a:xfrm>
          <a:prstGeom prst="rect">
            <a:avLst/>
          </a:prstGeom>
          <a:noFill/>
          <a:ln/>
        </p:spPr>
        <p:txBody>
          <a:bodyPr wrap="square" lIns="0" tIns="0" rIns="0" bIns="0" rtlCol="0" anchor="t"/>
          <a:lstStyle/>
          <a:p>
            <a:pPr marL="0" indent="0">
              <a:buNone/>
            </a:pPr>
            <a:r>
              <a:rPr lang="en-US" sz="1200" b="1" dirty="0">
                <a:solidFill>
                  <a:schemeClr val="accent3"/>
                </a:solidFill>
              </a:rPr>
              <a:t>then Linear decay</a:t>
            </a:r>
            <a:endParaRPr lang="en-US" sz="1200" dirty="0"/>
          </a:p>
          <a:p>
            <a:pPr marL="0" indent="0">
              <a:buNone/>
            </a:pPr>
            <a:r>
              <a:rPr lang="en-US" sz="1200" dirty="0">
                <a:solidFill>
                  <a:schemeClr val="tx1"/>
                </a:solidFill>
              </a:rPr>
              <a:t>1×10⁻⁵ → lower learning rate</a:t>
            </a:r>
            <a:endParaRPr lang="en-US" sz="1200" dirty="0"/>
          </a:p>
        </p:txBody>
      </p:sp>
      <p:sp>
        <p:nvSpPr>
          <p:cNvPr id="54" name="Text 51"/>
          <p:cNvSpPr txBox="1"/>
          <p:nvPr/>
        </p:nvSpPr>
        <p:spPr>
          <a:xfrm>
            <a:off x="10012680" y="5888736"/>
            <a:ext cx="1463040" cy="256032"/>
          </a:xfrm>
          <a:prstGeom prst="rect">
            <a:avLst/>
          </a:prstGeom>
          <a:noFill/>
          <a:ln/>
        </p:spPr>
        <p:txBody>
          <a:bodyPr wrap="square" lIns="0" tIns="0" rIns="0" bIns="0" rtlCol="0" anchor="t"/>
          <a:lstStyle/>
          <a:p>
            <a:pPr marL="0" indent="0" algn="r">
              <a:buNone/>
            </a:pPr>
            <a:r>
              <a:rPr lang="en-US" sz="1200" dirty="0">
                <a:solidFill>
                  <a:schemeClr val="accent5"/>
                </a:solidFill>
              </a:rPr>
              <a:t>Optimizer steps →</a:t>
            </a:r>
            <a:endParaRPr lang="en-US" sz="1200" dirty="0"/>
          </a:p>
        </p:txBody>
      </p:sp>
      <p:sp>
        <p:nvSpPr>
          <p:cNvPr id="44"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b="1" dirty="0">
                <a:solidFill>
                  <a:schemeClr val="accent3"/>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how we score each model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09</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9. Experimental design</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Three models, each answering one question</a:t>
            </a:r>
            <a:endParaRPr lang="en-US" sz="3200" dirty="0"/>
          </a:p>
        </p:txBody>
      </p:sp>
      <p:sp>
        <p:nvSpPr>
          <p:cNvPr id="7" name="BASELINE card"/>
          <p:cNvSpPr/>
          <p:nvPr/>
        </p:nvSpPr>
        <p:spPr>
          <a:xfrm>
            <a:off x="548640" y="1783080"/>
            <a:ext cx="3502152" cy="3154680"/>
          </a:xfrm>
          <a:prstGeom prst="roundRect">
            <a:avLst>
              <a:gd name="adj" fmla="val 2319"/>
            </a:avLst>
          </a:prstGeom>
          <a:solidFill>
            <a:schemeClr val="bg1"/>
          </a:solidFill>
          <a:ln w="12700">
            <a:solidFill>
              <a:schemeClr val="accent6"/>
            </a:solidFill>
            <a:prstDash val="solid"/>
          </a:ln>
        </p:spPr>
        <p:txBody>
          <a:bodyPr/>
          <a:lstStyle/>
          <a:p>
            <a:endParaRPr lang="en-US"/>
          </a:p>
        </p:txBody>
      </p:sp>
      <p:sp>
        <p:nvSpPr>
          <p:cNvPr id="8" name="BASELINE header"/>
          <p:cNvSpPr/>
          <p:nvPr/>
        </p:nvSpPr>
        <p:spPr>
          <a:xfrm>
            <a:off x="566928" y="1801368"/>
            <a:ext cx="3465576" cy="502920"/>
          </a:xfrm>
          <a:prstGeom prst="rect">
            <a:avLst/>
          </a:prstGeom>
          <a:solidFill>
            <a:schemeClr val="accent4"/>
          </a:solidFill>
          <a:ln w="12700">
            <a:solidFill>
              <a:schemeClr val="accent4"/>
            </a:solidFill>
            <a:prstDash val="solid"/>
          </a:ln>
        </p:spPr>
        <p:txBody>
          <a:bodyPr/>
          <a:lstStyle/>
          <a:p>
            <a:endParaRPr lang="en-US"/>
          </a:p>
        </p:txBody>
      </p:sp>
      <p:sp>
        <p:nvSpPr>
          <p:cNvPr id="9" name="Text 7"/>
          <p:cNvSpPr txBox="1"/>
          <p:nvPr/>
        </p:nvSpPr>
        <p:spPr>
          <a:xfrm>
            <a:off x="548640" y="1801368"/>
            <a:ext cx="3502152" cy="502920"/>
          </a:xfrm>
          <a:prstGeom prst="rect">
            <a:avLst/>
          </a:prstGeom>
          <a:noFill/>
          <a:ln/>
        </p:spPr>
        <p:txBody>
          <a:bodyPr wrap="square" lIns="0" tIns="0" rIns="0" bIns="0" rtlCol="0" anchor="ctr"/>
          <a:lstStyle/>
          <a:p>
            <a:pPr marL="0" indent="0" algn="ctr">
              <a:buNone/>
            </a:pPr>
            <a:r>
              <a:rPr lang="en-US" sz="1700" b="1" dirty="0">
                <a:solidFill>
                  <a:schemeClr val="bg1"/>
                </a:solidFill>
              </a:rPr>
              <a:t>BASELINE</a:t>
            </a:r>
            <a:endParaRPr lang="en-US" sz="1700" dirty="0"/>
          </a:p>
        </p:txBody>
      </p:sp>
      <p:sp>
        <p:nvSpPr>
          <p:cNvPr id="10" name="Text 8"/>
          <p:cNvSpPr txBox="1"/>
          <p:nvPr/>
        </p:nvSpPr>
        <p:spPr>
          <a:xfrm>
            <a:off x="822960" y="2514600"/>
            <a:ext cx="3044952" cy="105156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1"/>
                </a:solidFill>
              </a:rPr>
              <a:t>Original Whisper-small</a:t>
            </a:r>
            <a:endParaRPr lang="en-US" sz="1500" dirty="0"/>
          </a:p>
          <a:p>
            <a:pPr marL="177800" indent="-177800">
              <a:spcAft>
                <a:spcPts val="400"/>
              </a:spcAft>
              <a:buSzPct val="100000"/>
              <a:buChar char="•"/>
            </a:pPr>
            <a:r>
              <a:rPr lang="en-US" sz="1500" dirty="0">
                <a:solidFill>
                  <a:schemeClr val="tx1"/>
                </a:solidFill>
              </a:rPr>
              <a:t>No Khmer fine-tuning</a:t>
            </a:r>
            <a:endParaRPr lang="en-US" sz="1500" dirty="0"/>
          </a:p>
          <a:p>
            <a:pPr marL="177800" indent="-177800">
              <a:spcAft>
                <a:spcPts val="400"/>
              </a:spcAft>
              <a:buSzPct val="100000"/>
              <a:buChar char="•"/>
            </a:pPr>
            <a:r>
              <a:rPr lang="en-US" sz="1500" dirty="0">
                <a:solidFill>
                  <a:schemeClr val="tx1"/>
                </a:solidFill>
              </a:rPr>
              <a:t>Zero-shot</a:t>
            </a:r>
            <a:endParaRPr lang="en-US" sz="1500" dirty="0"/>
          </a:p>
        </p:txBody>
      </p:sp>
      <p:sp>
        <p:nvSpPr>
          <p:cNvPr id="11" name="line"/>
          <p:cNvSpPr/>
          <p:nvPr/>
        </p:nvSpPr>
        <p:spPr>
          <a:xfrm>
            <a:off x="822960" y="3703320"/>
            <a:ext cx="2953512" cy="0"/>
          </a:xfrm>
          <a:prstGeom prst="line">
            <a:avLst/>
          </a:prstGeom>
          <a:noFill/>
          <a:ln w="12700">
            <a:solidFill>
              <a:schemeClr val="accent6"/>
            </a:solidFill>
            <a:prstDash val="solid"/>
          </a:ln>
        </p:spPr>
        <p:txBody>
          <a:bodyPr/>
          <a:lstStyle/>
          <a:p>
            <a:endParaRPr lang="en-US"/>
          </a:p>
        </p:txBody>
      </p:sp>
      <p:sp>
        <p:nvSpPr>
          <p:cNvPr id="12" name="Text 10"/>
          <p:cNvSpPr txBox="1"/>
          <p:nvPr/>
        </p:nvSpPr>
        <p:spPr>
          <a:xfrm>
            <a:off x="822960" y="3813048"/>
            <a:ext cx="1828800" cy="256032"/>
          </a:xfrm>
          <a:prstGeom prst="rect">
            <a:avLst/>
          </a:prstGeom>
          <a:noFill/>
          <a:ln/>
        </p:spPr>
        <p:txBody>
          <a:bodyPr wrap="square" lIns="0" tIns="0" rIns="0" bIns="0" rtlCol="0" anchor="t"/>
          <a:lstStyle/>
          <a:p>
            <a:pPr marL="0" indent="0">
              <a:buNone/>
            </a:pPr>
            <a:r>
              <a:rPr lang="en-US" sz="1200" b="1" dirty="0">
                <a:solidFill>
                  <a:schemeClr val="accent5"/>
                </a:solidFill>
              </a:rPr>
              <a:t>Question</a:t>
            </a:r>
            <a:endParaRPr lang="en-US" sz="1200" dirty="0"/>
          </a:p>
        </p:txBody>
      </p:sp>
      <p:sp>
        <p:nvSpPr>
          <p:cNvPr id="13" name="Text 11"/>
          <p:cNvSpPr txBox="1"/>
          <p:nvPr/>
        </p:nvSpPr>
        <p:spPr>
          <a:xfrm>
            <a:off x="822960" y="4087368"/>
            <a:ext cx="2953512" cy="822960"/>
          </a:xfrm>
          <a:prstGeom prst="rect">
            <a:avLst/>
          </a:prstGeom>
          <a:noFill/>
          <a:ln/>
        </p:spPr>
        <p:txBody>
          <a:bodyPr wrap="square" lIns="0" tIns="0" rIns="0" bIns="0" rtlCol="0" anchor="t"/>
          <a:lstStyle/>
          <a:p>
            <a:pPr marL="0" indent="0">
              <a:buNone/>
            </a:pPr>
            <a:r>
              <a:rPr lang="en-US" sz="1600" i="1" dirty="0">
                <a:solidFill>
                  <a:schemeClr val="tx2"/>
                </a:solidFill>
              </a:rPr>
              <a:t>How good is Whisper before Khmer training?</a:t>
            </a:r>
            <a:endParaRPr lang="en-US" sz="1600" dirty="0"/>
          </a:p>
        </p:txBody>
      </p:sp>
      <p:sp>
        <p:nvSpPr>
          <p:cNvPr id="14" name="ABLATION card"/>
          <p:cNvSpPr/>
          <p:nvPr/>
        </p:nvSpPr>
        <p:spPr>
          <a:xfrm>
            <a:off x="4343400" y="1783080"/>
            <a:ext cx="3502152" cy="3154680"/>
          </a:xfrm>
          <a:prstGeom prst="roundRect">
            <a:avLst>
              <a:gd name="adj" fmla="val 2319"/>
            </a:avLst>
          </a:prstGeom>
          <a:solidFill>
            <a:schemeClr val="bg1"/>
          </a:solidFill>
          <a:ln w="12700">
            <a:solidFill>
              <a:schemeClr val="accent6"/>
            </a:solidFill>
            <a:prstDash val="solid"/>
          </a:ln>
        </p:spPr>
        <p:txBody>
          <a:bodyPr/>
          <a:lstStyle/>
          <a:p>
            <a:endParaRPr lang="en-US"/>
          </a:p>
        </p:txBody>
      </p:sp>
      <p:sp>
        <p:nvSpPr>
          <p:cNvPr id="15" name="ABLATION header"/>
          <p:cNvSpPr/>
          <p:nvPr/>
        </p:nvSpPr>
        <p:spPr>
          <a:xfrm>
            <a:off x="4361688" y="1801368"/>
            <a:ext cx="3465576" cy="502920"/>
          </a:xfrm>
          <a:prstGeom prst="rect">
            <a:avLst/>
          </a:prstGeom>
          <a:solidFill>
            <a:schemeClr val="accent2"/>
          </a:solidFill>
          <a:ln w="12700">
            <a:solidFill>
              <a:schemeClr val="accent2"/>
            </a:solidFill>
            <a:prstDash val="solid"/>
          </a:ln>
        </p:spPr>
        <p:txBody>
          <a:bodyPr/>
          <a:lstStyle/>
          <a:p>
            <a:endParaRPr lang="en-US"/>
          </a:p>
        </p:txBody>
      </p:sp>
      <p:sp>
        <p:nvSpPr>
          <p:cNvPr id="16" name="Text 14"/>
          <p:cNvSpPr txBox="1"/>
          <p:nvPr/>
        </p:nvSpPr>
        <p:spPr>
          <a:xfrm>
            <a:off x="4343400" y="1801368"/>
            <a:ext cx="3502152" cy="502920"/>
          </a:xfrm>
          <a:prstGeom prst="rect">
            <a:avLst/>
          </a:prstGeom>
          <a:noFill/>
          <a:ln/>
        </p:spPr>
        <p:txBody>
          <a:bodyPr wrap="square" lIns="0" tIns="0" rIns="0" bIns="0" rtlCol="0" anchor="ctr"/>
          <a:lstStyle/>
          <a:p>
            <a:pPr marL="0" indent="0" algn="ctr">
              <a:buNone/>
            </a:pPr>
            <a:r>
              <a:rPr lang="en-US" sz="1700" b="1" dirty="0">
                <a:solidFill>
                  <a:schemeClr val="tx2"/>
                </a:solidFill>
              </a:rPr>
              <a:t>ABLATION</a:t>
            </a:r>
            <a:endParaRPr lang="en-US" sz="1700" dirty="0"/>
          </a:p>
        </p:txBody>
      </p:sp>
      <p:sp>
        <p:nvSpPr>
          <p:cNvPr id="17" name="Text 15"/>
          <p:cNvSpPr txBox="1"/>
          <p:nvPr/>
        </p:nvSpPr>
        <p:spPr>
          <a:xfrm>
            <a:off x="4617720" y="2514600"/>
            <a:ext cx="3044952" cy="105156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1"/>
                </a:solidFill>
              </a:rPr>
              <a:t>Whisper-small</a:t>
            </a:r>
            <a:endParaRPr lang="en-US" sz="1500" dirty="0"/>
          </a:p>
          <a:p>
            <a:pPr marL="177800" indent="-177800">
              <a:spcAft>
                <a:spcPts val="400"/>
              </a:spcAft>
              <a:buSzPct val="100000"/>
              <a:buChar char="•"/>
            </a:pPr>
            <a:r>
              <a:rPr lang="en-US" sz="1500" dirty="0">
                <a:solidFill>
                  <a:schemeClr val="tx1"/>
                </a:solidFill>
              </a:rPr>
              <a:t>Fine-tuned only on OpenSLR 42</a:t>
            </a:r>
            <a:endParaRPr lang="en-US" sz="1500" dirty="0"/>
          </a:p>
          <a:p>
            <a:pPr marL="177800" indent="-177800">
              <a:spcAft>
                <a:spcPts val="400"/>
              </a:spcAft>
              <a:buSzPct val="100000"/>
              <a:buChar char="•"/>
            </a:pPr>
            <a:r>
              <a:rPr lang="en-US" sz="1500" dirty="0">
                <a:solidFill>
                  <a:schemeClr val="tx1"/>
                </a:solidFill>
              </a:rPr>
              <a:t>One speaker, 3.6 h</a:t>
            </a:r>
            <a:endParaRPr lang="en-US" sz="1500" dirty="0"/>
          </a:p>
        </p:txBody>
      </p:sp>
      <p:sp>
        <p:nvSpPr>
          <p:cNvPr id="18" name="line"/>
          <p:cNvSpPr/>
          <p:nvPr/>
        </p:nvSpPr>
        <p:spPr>
          <a:xfrm>
            <a:off x="4617720" y="3703320"/>
            <a:ext cx="2953512" cy="0"/>
          </a:xfrm>
          <a:prstGeom prst="line">
            <a:avLst/>
          </a:prstGeom>
          <a:noFill/>
          <a:ln w="12700">
            <a:solidFill>
              <a:schemeClr val="accent6"/>
            </a:solidFill>
            <a:prstDash val="solid"/>
          </a:ln>
        </p:spPr>
        <p:txBody>
          <a:bodyPr/>
          <a:lstStyle/>
          <a:p>
            <a:endParaRPr lang="en-US"/>
          </a:p>
        </p:txBody>
      </p:sp>
      <p:sp>
        <p:nvSpPr>
          <p:cNvPr id="19" name="Text 17"/>
          <p:cNvSpPr txBox="1"/>
          <p:nvPr/>
        </p:nvSpPr>
        <p:spPr>
          <a:xfrm>
            <a:off x="4617720" y="3813048"/>
            <a:ext cx="1828800" cy="256032"/>
          </a:xfrm>
          <a:prstGeom prst="rect">
            <a:avLst/>
          </a:prstGeom>
          <a:noFill/>
          <a:ln/>
        </p:spPr>
        <p:txBody>
          <a:bodyPr wrap="square" lIns="0" tIns="0" rIns="0" bIns="0" rtlCol="0" anchor="t"/>
          <a:lstStyle/>
          <a:p>
            <a:pPr marL="0" indent="0">
              <a:buNone/>
            </a:pPr>
            <a:r>
              <a:rPr lang="en-US" sz="1200" b="1" dirty="0">
                <a:solidFill>
                  <a:schemeClr val="accent5"/>
                </a:solidFill>
              </a:rPr>
              <a:t>Question</a:t>
            </a:r>
            <a:endParaRPr lang="en-US" sz="1200" dirty="0"/>
          </a:p>
        </p:txBody>
      </p:sp>
      <p:sp>
        <p:nvSpPr>
          <p:cNvPr id="20" name="Text 18"/>
          <p:cNvSpPr txBox="1"/>
          <p:nvPr/>
        </p:nvSpPr>
        <p:spPr>
          <a:xfrm>
            <a:off x="4617720" y="4087368"/>
            <a:ext cx="2953512" cy="822960"/>
          </a:xfrm>
          <a:prstGeom prst="rect">
            <a:avLst/>
          </a:prstGeom>
          <a:noFill/>
          <a:ln/>
        </p:spPr>
        <p:txBody>
          <a:bodyPr wrap="square" lIns="0" tIns="0" rIns="0" bIns="0" rtlCol="0" anchor="t"/>
          <a:lstStyle/>
          <a:p>
            <a:pPr marL="0" indent="0">
              <a:buNone/>
            </a:pPr>
            <a:r>
              <a:rPr lang="en-US" sz="1600" i="1" dirty="0">
                <a:solidFill>
                  <a:schemeClr val="tx2"/>
                </a:solidFill>
              </a:rPr>
              <a:t>Does limited Khmer fine-tuning help?</a:t>
            </a:r>
            <a:endParaRPr lang="en-US" sz="1600" dirty="0"/>
          </a:p>
        </p:txBody>
      </p:sp>
      <p:sp>
        <p:nvSpPr>
          <p:cNvPr id="21" name="MAIN MODEL card"/>
          <p:cNvSpPr/>
          <p:nvPr/>
        </p:nvSpPr>
        <p:spPr>
          <a:xfrm>
            <a:off x="8138160" y="1783080"/>
            <a:ext cx="3502152" cy="3154680"/>
          </a:xfrm>
          <a:prstGeom prst="roundRect">
            <a:avLst>
              <a:gd name="adj" fmla="val 2319"/>
            </a:avLst>
          </a:prstGeom>
          <a:solidFill>
            <a:schemeClr val="bg1"/>
          </a:solidFill>
          <a:ln w="31750">
            <a:solidFill>
              <a:schemeClr val="accent3"/>
            </a:solidFill>
            <a:prstDash val="solid"/>
          </a:ln>
        </p:spPr>
        <p:txBody>
          <a:bodyPr/>
          <a:lstStyle/>
          <a:p>
            <a:endParaRPr lang="en-US"/>
          </a:p>
        </p:txBody>
      </p:sp>
      <p:sp>
        <p:nvSpPr>
          <p:cNvPr id="22" name="MAIN MODEL header"/>
          <p:cNvSpPr/>
          <p:nvPr/>
        </p:nvSpPr>
        <p:spPr>
          <a:xfrm>
            <a:off x="8156448" y="1801368"/>
            <a:ext cx="3465576" cy="502920"/>
          </a:xfrm>
          <a:prstGeom prst="rect">
            <a:avLst/>
          </a:prstGeom>
          <a:solidFill>
            <a:schemeClr val="accent3"/>
          </a:solidFill>
          <a:ln w="12700">
            <a:solidFill>
              <a:schemeClr val="accent3"/>
            </a:solidFill>
            <a:prstDash val="solid"/>
          </a:ln>
        </p:spPr>
        <p:txBody>
          <a:bodyPr/>
          <a:lstStyle/>
          <a:p>
            <a:endParaRPr lang="en-US"/>
          </a:p>
        </p:txBody>
      </p:sp>
      <p:sp>
        <p:nvSpPr>
          <p:cNvPr id="23" name="Text 21"/>
          <p:cNvSpPr txBox="1"/>
          <p:nvPr/>
        </p:nvSpPr>
        <p:spPr>
          <a:xfrm>
            <a:off x="8138160" y="1801368"/>
            <a:ext cx="3502152" cy="502920"/>
          </a:xfrm>
          <a:prstGeom prst="rect">
            <a:avLst/>
          </a:prstGeom>
          <a:noFill/>
          <a:ln/>
        </p:spPr>
        <p:txBody>
          <a:bodyPr wrap="square" lIns="0" tIns="0" rIns="0" bIns="0" rtlCol="0" anchor="ctr"/>
          <a:lstStyle/>
          <a:p>
            <a:pPr marL="0" indent="0" algn="ctr">
              <a:buNone/>
            </a:pPr>
            <a:r>
              <a:rPr lang="en-US" sz="1700" b="1" dirty="0">
                <a:solidFill>
                  <a:schemeClr val="bg1"/>
                </a:solidFill>
              </a:rPr>
              <a:t>MAIN MODEL</a:t>
            </a:r>
            <a:endParaRPr lang="en-US" sz="1700" dirty="0"/>
          </a:p>
        </p:txBody>
      </p:sp>
      <p:sp>
        <p:nvSpPr>
          <p:cNvPr id="24" name="Text 22"/>
          <p:cNvSpPr txBox="1"/>
          <p:nvPr/>
        </p:nvSpPr>
        <p:spPr>
          <a:xfrm>
            <a:off x="8412480" y="2514600"/>
            <a:ext cx="3044952" cy="105156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1"/>
                </a:solidFill>
              </a:rPr>
              <a:t>Whisper-small</a:t>
            </a:r>
            <a:endParaRPr lang="en-US" sz="1500" dirty="0"/>
          </a:p>
          <a:p>
            <a:pPr marL="177800" indent="-177800">
              <a:spcAft>
                <a:spcPts val="400"/>
              </a:spcAft>
              <a:buSzPct val="100000"/>
              <a:buChar char="•"/>
            </a:pPr>
            <a:r>
              <a:rPr lang="en-US" sz="1500" dirty="0">
                <a:solidFill>
                  <a:schemeClr val="tx1"/>
                </a:solidFill>
              </a:rPr>
              <a:t>Fine-tuned on all five datasets</a:t>
            </a:r>
            <a:endParaRPr lang="en-US" sz="1500" dirty="0"/>
          </a:p>
          <a:p>
            <a:pPr marL="177800" indent="-177800">
              <a:spcAft>
                <a:spcPts val="400"/>
              </a:spcAft>
              <a:buSzPct val="100000"/>
              <a:buChar char="•"/>
            </a:pPr>
            <a:r>
              <a:rPr lang="en-US" sz="1500" dirty="0">
                <a:solidFill>
                  <a:schemeClr val="tx1"/>
                </a:solidFill>
              </a:rPr>
              <a:t>Many speakers, 16 h</a:t>
            </a:r>
            <a:endParaRPr lang="en-US" sz="1500" dirty="0"/>
          </a:p>
        </p:txBody>
      </p:sp>
      <p:sp>
        <p:nvSpPr>
          <p:cNvPr id="25" name="line"/>
          <p:cNvSpPr/>
          <p:nvPr/>
        </p:nvSpPr>
        <p:spPr>
          <a:xfrm>
            <a:off x="8412480" y="3703320"/>
            <a:ext cx="2953512" cy="0"/>
          </a:xfrm>
          <a:prstGeom prst="line">
            <a:avLst/>
          </a:prstGeom>
          <a:noFill/>
          <a:ln w="12700">
            <a:solidFill>
              <a:schemeClr val="accent6"/>
            </a:solidFill>
            <a:prstDash val="solid"/>
          </a:ln>
        </p:spPr>
        <p:txBody>
          <a:bodyPr/>
          <a:lstStyle/>
          <a:p>
            <a:endParaRPr lang="en-US"/>
          </a:p>
        </p:txBody>
      </p:sp>
      <p:sp>
        <p:nvSpPr>
          <p:cNvPr id="26" name="Text 24"/>
          <p:cNvSpPr txBox="1"/>
          <p:nvPr/>
        </p:nvSpPr>
        <p:spPr>
          <a:xfrm>
            <a:off x="8412480" y="3813048"/>
            <a:ext cx="1828800" cy="256032"/>
          </a:xfrm>
          <a:prstGeom prst="rect">
            <a:avLst/>
          </a:prstGeom>
          <a:noFill/>
          <a:ln/>
        </p:spPr>
        <p:txBody>
          <a:bodyPr wrap="square" lIns="0" tIns="0" rIns="0" bIns="0" rtlCol="0" anchor="t"/>
          <a:lstStyle/>
          <a:p>
            <a:pPr marL="0" indent="0">
              <a:buNone/>
            </a:pPr>
            <a:r>
              <a:rPr lang="en-US" sz="1200" b="1" dirty="0">
                <a:solidFill>
                  <a:schemeClr val="accent5"/>
                </a:solidFill>
              </a:rPr>
              <a:t>Question</a:t>
            </a:r>
            <a:endParaRPr lang="en-US" sz="1200" dirty="0"/>
          </a:p>
        </p:txBody>
      </p:sp>
      <p:sp>
        <p:nvSpPr>
          <p:cNvPr id="27" name="Text 25"/>
          <p:cNvSpPr txBox="1"/>
          <p:nvPr/>
        </p:nvSpPr>
        <p:spPr>
          <a:xfrm>
            <a:off x="8412480" y="4087368"/>
            <a:ext cx="2953512" cy="822960"/>
          </a:xfrm>
          <a:prstGeom prst="rect">
            <a:avLst/>
          </a:prstGeom>
          <a:noFill/>
          <a:ln/>
        </p:spPr>
        <p:txBody>
          <a:bodyPr wrap="square" lIns="0" tIns="0" rIns="0" bIns="0" rtlCol="0" anchor="t"/>
          <a:lstStyle/>
          <a:p>
            <a:pPr marL="0" indent="0">
              <a:buNone/>
            </a:pPr>
            <a:r>
              <a:rPr lang="en-US" sz="1600" i="1" dirty="0">
                <a:solidFill>
                  <a:schemeClr val="tx2"/>
                </a:solidFill>
              </a:rPr>
              <a:t>How well does the full approach generalize?</a:t>
            </a:r>
            <a:endParaRPr lang="en-US" sz="1600" dirty="0"/>
          </a:p>
        </p:txBody>
      </p:sp>
      <p:sp>
        <p:nvSpPr>
          <p:cNvPr id="28" name="Text 26"/>
          <p:cNvSpPr txBox="1"/>
          <p:nvPr/>
        </p:nvSpPr>
        <p:spPr>
          <a:xfrm>
            <a:off x="548640" y="5001768"/>
            <a:ext cx="11091672" cy="274320"/>
          </a:xfrm>
          <a:prstGeom prst="rect">
            <a:avLst/>
          </a:prstGeom>
          <a:noFill/>
          <a:ln/>
        </p:spPr>
        <p:txBody>
          <a:bodyPr wrap="square" lIns="0" tIns="0" rIns="0" bIns="0" rtlCol="0" anchor="t"/>
          <a:lstStyle/>
          <a:p>
            <a:pPr marL="0" indent="0">
              <a:buNone/>
            </a:pPr>
            <a:r>
              <a:rPr lang="en-US" sz="1300" dirty="0">
                <a:solidFill>
                  <a:schemeClr val="accent5"/>
                </a:solidFill>
              </a:rPr>
              <a:t>All three models use the same greedy decoding.</a:t>
            </a:r>
            <a:endParaRPr lang="en-US" sz="1300" dirty="0"/>
          </a:p>
        </p:txBody>
      </p:sp>
      <p:sp>
        <p:nvSpPr>
          <p:cNvPr id="30" name="caveat box"/>
          <p:cNvSpPr/>
          <p:nvPr/>
        </p:nvSpPr>
        <p:spPr>
          <a:xfrm>
            <a:off x="548640" y="5349240"/>
            <a:ext cx="11091672" cy="685800"/>
          </a:xfrm>
          <a:prstGeom prst="roundRect">
            <a:avLst>
              <a:gd name="adj" fmla="val 10667"/>
            </a:avLst>
          </a:prstGeom>
          <a:solidFill>
            <a:schemeClr val="bg1"/>
          </a:solidFill>
          <a:ln w="19050">
            <a:solidFill>
              <a:schemeClr val="accent2"/>
            </a:solidFill>
            <a:prstDash val="solid"/>
          </a:ln>
        </p:spPr>
        <p:txBody>
          <a:bodyPr/>
          <a:lstStyle/>
          <a:p>
            <a:endParaRPr lang="en-US"/>
          </a:p>
        </p:txBody>
      </p:sp>
      <p:sp>
        <p:nvSpPr>
          <p:cNvPr id="31" name="Text 28"/>
          <p:cNvSpPr txBox="1"/>
          <p:nvPr/>
        </p:nvSpPr>
        <p:spPr>
          <a:xfrm>
            <a:off x="777240" y="5349240"/>
            <a:ext cx="10698480" cy="685800"/>
          </a:xfrm>
          <a:prstGeom prst="rect">
            <a:avLst/>
          </a:prstGeom>
          <a:noFill/>
          <a:ln/>
        </p:spPr>
        <p:txBody>
          <a:bodyPr wrap="square" lIns="0" tIns="0" rIns="0" bIns="0" rtlCol="0" anchor="ctr"/>
          <a:lstStyle/>
          <a:p>
            <a:pPr marL="0" indent="0">
              <a:buNone/>
            </a:pPr>
            <a:r>
              <a:rPr lang="en-US" sz="1400" b="1" dirty="0">
                <a:solidFill>
                  <a:schemeClr val="tx2"/>
                </a:solidFill>
              </a:rPr>
              <a:t>Caveat: </a:t>
            </a:r>
            <a:r>
              <a:rPr lang="en-US" sz="1400" dirty="0">
                <a:solidFill>
                  <a:schemeClr val="tx1"/>
                </a:solidFill>
              </a:rPr>
              <a:t>Ablation used only 410 optimizer steps (7.5 min) compared with 3,245 (44 min) for the main model, so the difference cannot be attributed only to dataset diversity.</a:t>
            </a:r>
            <a:endParaRPr lang="en-US" sz="1400" dirty="0"/>
          </a:p>
        </p:txBody>
      </p:sp>
      <p:sp>
        <p:nvSpPr>
          <p:cNvPr id="29"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b="1" dirty="0">
                <a:solidFill>
                  <a:schemeClr val="accent3"/>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the results on unseen speakers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10</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10. Evaluation metrics</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accent3"/>
                </a:solidFill>
                <a:latin typeface="Calibri" pitchFamily="34" charset="0"/>
                <a:ea typeface="Calibri" pitchFamily="34" charset="-122"/>
                <a:cs typeface="Calibri" pitchFamily="34" charset="-120"/>
              </a:rPr>
              <a:t>CER without spaces</a:t>
            </a:r>
            <a:r>
              <a:rPr lang="en-US" sz="3200" b="1" dirty="0">
                <a:solidFill>
                  <a:schemeClr val="tx2"/>
                </a:solidFill>
                <a:latin typeface="Calibri" pitchFamily="34" charset="0"/>
                <a:ea typeface="Calibri" pitchFamily="34" charset="-122"/>
                <a:cs typeface="Calibri" pitchFamily="34" charset="-120"/>
              </a:rPr>
              <a:t> is our primary metric</a:t>
            </a:r>
            <a:endParaRPr lang="en-US" sz="3200" dirty="0"/>
          </a:p>
        </p:txBody>
      </p:sp>
      <p:sp>
        <p:nvSpPr>
          <p:cNvPr id="7" name="formula panel"/>
          <p:cNvSpPr/>
          <p:nvPr/>
        </p:nvSpPr>
        <p:spPr>
          <a:xfrm>
            <a:off x="548640" y="1783080"/>
            <a:ext cx="11091672" cy="1554480"/>
          </a:xfrm>
          <a:prstGeom prst="roundRect">
            <a:avLst>
              <a:gd name="adj" fmla="val 4706"/>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777240" y="1965960"/>
            <a:ext cx="1463040" cy="914400"/>
          </a:xfrm>
          <a:prstGeom prst="rect">
            <a:avLst/>
          </a:prstGeom>
          <a:noFill/>
          <a:ln/>
        </p:spPr>
        <p:txBody>
          <a:bodyPr wrap="square" lIns="0" tIns="0" rIns="0" bIns="0" rtlCol="0" anchor="ctr"/>
          <a:lstStyle/>
          <a:p>
            <a:pPr marL="0" indent="0">
              <a:buNone/>
            </a:pPr>
            <a:r>
              <a:rPr lang="en-US" sz="2600" b="1" i="1" dirty="0">
                <a:solidFill>
                  <a:schemeClr val="tx2"/>
                </a:solidFill>
                <a:latin typeface="Cambria Math" pitchFamily="34" charset="0"/>
                <a:ea typeface="Cambria Math" pitchFamily="34" charset="-122"/>
                <a:cs typeface="Cambria Math" pitchFamily="34" charset="-120"/>
              </a:rPr>
              <a:t>CER</a:t>
            </a:r>
            <a:r>
              <a:rPr lang="en-US" sz="2600" b="1" dirty="0">
                <a:solidFill>
                  <a:schemeClr val="tx2"/>
                </a:solidFill>
                <a:latin typeface="Cambria Math" pitchFamily="34" charset="0"/>
                <a:ea typeface="Cambria Math" pitchFamily="34" charset="-122"/>
                <a:cs typeface="Cambria Math" pitchFamily="34" charset="-120"/>
              </a:rPr>
              <a:t>  =</a:t>
            </a:r>
            <a:endParaRPr lang="en-US" sz="2600" dirty="0"/>
          </a:p>
        </p:txBody>
      </p:sp>
      <p:sp>
        <p:nvSpPr>
          <p:cNvPr id="9" name="Text 7"/>
          <p:cNvSpPr txBox="1"/>
          <p:nvPr/>
        </p:nvSpPr>
        <p:spPr>
          <a:xfrm>
            <a:off x="2148840" y="1947672"/>
            <a:ext cx="1737360" cy="438912"/>
          </a:xfrm>
          <a:prstGeom prst="rect">
            <a:avLst/>
          </a:prstGeom>
          <a:noFill/>
          <a:ln/>
        </p:spPr>
        <p:txBody>
          <a:bodyPr wrap="square" lIns="0" tIns="0" rIns="0" bIns="0" rtlCol="0" anchor="ctr"/>
          <a:lstStyle/>
          <a:p>
            <a:pPr marL="0" indent="0" algn="ctr">
              <a:buNone/>
            </a:pPr>
            <a:r>
              <a:rPr lang="en-US" sz="2400" i="1" dirty="0">
                <a:solidFill>
                  <a:schemeClr val="tx1"/>
                </a:solidFill>
                <a:latin typeface="Cambria Math" pitchFamily="34" charset="0"/>
                <a:ea typeface="Cambria Math" pitchFamily="34" charset="-122"/>
                <a:cs typeface="Cambria Math" pitchFamily="34" charset="-120"/>
              </a:rPr>
              <a:t>S</a:t>
            </a:r>
            <a:r>
              <a:rPr lang="en-US" sz="2400" dirty="0">
                <a:solidFill>
                  <a:schemeClr val="tx1"/>
                </a:solidFill>
                <a:latin typeface="Cambria Math" pitchFamily="34" charset="0"/>
                <a:ea typeface="Cambria Math" pitchFamily="34" charset="-122"/>
                <a:cs typeface="Cambria Math" pitchFamily="34" charset="-120"/>
              </a:rPr>
              <a:t> + </a:t>
            </a:r>
            <a:r>
              <a:rPr lang="en-US" sz="2400" i="1" dirty="0">
                <a:solidFill>
                  <a:schemeClr val="tx1"/>
                </a:solidFill>
                <a:latin typeface="Cambria Math" pitchFamily="34" charset="0"/>
                <a:ea typeface="Cambria Math" pitchFamily="34" charset="-122"/>
                <a:cs typeface="Cambria Math" pitchFamily="34" charset="-120"/>
              </a:rPr>
              <a:t>I</a:t>
            </a:r>
            <a:r>
              <a:rPr lang="en-US" sz="2400" dirty="0">
                <a:solidFill>
                  <a:schemeClr val="tx1"/>
                </a:solidFill>
                <a:latin typeface="Cambria Math" pitchFamily="34" charset="0"/>
                <a:ea typeface="Cambria Math" pitchFamily="34" charset="-122"/>
                <a:cs typeface="Cambria Math" pitchFamily="34" charset="-120"/>
              </a:rPr>
              <a:t> + </a:t>
            </a:r>
            <a:r>
              <a:rPr lang="en-US" sz="2400" i="1" dirty="0">
                <a:solidFill>
                  <a:schemeClr val="tx1"/>
                </a:solidFill>
                <a:latin typeface="Cambria Math" pitchFamily="34" charset="0"/>
                <a:ea typeface="Cambria Math" pitchFamily="34" charset="-122"/>
                <a:cs typeface="Cambria Math" pitchFamily="34" charset="-120"/>
              </a:rPr>
              <a:t>D</a:t>
            </a:r>
            <a:endParaRPr lang="en-US" sz="2400" dirty="0"/>
          </a:p>
        </p:txBody>
      </p:sp>
      <p:sp>
        <p:nvSpPr>
          <p:cNvPr id="10" name="line"/>
          <p:cNvSpPr/>
          <p:nvPr/>
        </p:nvSpPr>
        <p:spPr>
          <a:xfrm>
            <a:off x="2240280" y="2423160"/>
            <a:ext cx="1554480" cy="0"/>
          </a:xfrm>
          <a:prstGeom prst="line">
            <a:avLst/>
          </a:prstGeom>
          <a:noFill/>
          <a:ln w="19050">
            <a:solidFill>
              <a:schemeClr val="tx2"/>
            </a:solidFill>
            <a:prstDash val="solid"/>
          </a:ln>
        </p:spPr>
        <p:txBody>
          <a:bodyPr/>
          <a:lstStyle/>
          <a:p>
            <a:endParaRPr lang="en-US"/>
          </a:p>
        </p:txBody>
      </p:sp>
      <p:sp>
        <p:nvSpPr>
          <p:cNvPr id="11" name="Text 9"/>
          <p:cNvSpPr txBox="1"/>
          <p:nvPr/>
        </p:nvSpPr>
        <p:spPr>
          <a:xfrm>
            <a:off x="2148840" y="2450592"/>
            <a:ext cx="1737360" cy="438912"/>
          </a:xfrm>
          <a:prstGeom prst="rect">
            <a:avLst/>
          </a:prstGeom>
          <a:noFill/>
          <a:ln/>
        </p:spPr>
        <p:txBody>
          <a:bodyPr wrap="square" lIns="0" tIns="0" rIns="0" bIns="0" rtlCol="0" anchor="ctr"/>
          <a:lstStyle/>
          <a:p>
            <a:pPr marL="0" indent="0" algn="ctr">
              <a:buNone/>
            </a:pPr>
            <a:r>
              <a:rPr lang="en-US" sz="2400" i="1" dirty="0">
                <a:solidFill>
                  <a:schemeClr val="tx1"/>
                </a:solidFill>
                <a:latin typeface="Cambria Math" pitchFamily="34" charset="0"/>
                <a:ea typeface="Cambria Math" pitchFamily="34" charset="-122"/>
                <a:cs typeface="Cambria Math" pitchFamily="34" charset="-120"/>
              </a:rPr>
              <a:t>N</a:t>
            </a:r>
            <a:endParaRPr lang="en-US" sz="2400" dirty="0"/>
          </a:p>
        </p:txBody>
      </p:sp>
      <p:sp>
        <p:nvSpPr>
          <p:cNvPr id="12" name="Text 10"/>
          <p:cNvSpPr txBox="1"/>
          <p:nvPr/>
        </p:nvSpPr>
        <p:spPr>
          <a:xfrm>
            <a:off x="4572000" y="1965960"/>
            <a:ext cx="4937760" cy="292608"/>
          </a:xfrm>
          <a:prstGeom prst="rect">
            <a:avLst/>
          </a:prstGeom>
          <a:noFill/>
          <a:ln/>
        </p:spPr>
        <p:txBody>
          <a:bodyPr wrap="square" lIns="0" tIns="0" rIns="0" bIns="0" rtlCol="0" anchor="ctr"/>
          <a:lstStyle/>
          <a:p>
            <a:pPr marL="0" indent="0">
              <a:buNone/>
            </a:pPr>
            <a:r>
              <a:rPr lang="en-US" sz="1400" b="1" i="1" dirty="0">
                <a:solidFill>
                  <a:schemeClr val="tx2"/>
                </a:solidFill>
                <a:latin typeface="Cambria Math" pitchFamily="34" charset="0"/>
                <a:ea typeface="Cambria Math" pitchFamily="34" charset="-122"/>
                <a:cs typeface="Cambria Math" pitchFamily="34" charset="-120"/>
              </a:rPr>
              <a:t>S</a:t>
            </a:r>
            <a:r>
              <a:rPr lang="en-US" sz="1400" dirty="0">
                <a:solidFill>
                  <a:schemeClr val="tx1"/>
                </a:solidFill>
              </a:rPr>
              <a:t>   substitutions: a wrong character</a:t>
            </a:r>
            <a:endParaRPr lang="en-US" sz="1400" dirty="0"/>
          </a:p>
        </p:txBody>
      </p:sp>
      <p:sp>
        <p:nvSpPr>
          <p:cNvPr id="13" name="Text 11"/>
          <p:cNvSpPr txBox="1"/>
          <p:nvPr/>
        </p:nvSpPr>
        <p:spPr>
          <a:xfrm>
            <a:off x="4572000" y="2276856"/>
            <a:ext cx="4937760" cy="292608"/>
          </a:xfrm>
          <a:prstGeom prst="rect">
            <a:avLst/>
          </a:prstGeom>
          <a:noFill/>
          <a:ln/>
        </p:spPr>
        <p:txBody>
          <a:bodyPr wrap="square" lIns="0" tIns="0" rIns="0" bIns="0" rtlCol="0" anchor="ctr"/>
          <a:lstStyle/>
          <a:p>
            <a:pPr marL="0" indent="0">
              <a:buNone/>
            </a:pPr>
            <a:r>
              <a:rPr lang="en-US" sz="1400" b="1" i="1" dirty="0">
                <a:solidFill>
                  <a:schemeClr val="tx2"/>
                </a:solidFill>
                <a:latin typeface="Cambria Math" pitchFamily="34" charset="0"/>
                <a:ea typeface="Cambria Math" pitchFamily="34" charset="-122"/>
                <a:cs typeface="Cambria Math" pitchFamily="34" charset="-120"/>
              </a:rPr>
              <a:t>I</a:t>
            </a:r>
            <a:r>
              <a:rPr lang="en-US" sz="1400" dirty="0">
                <a:solidFill>
                  <a:schemeClr val="tx1"/>
                </a:solidFill>
              </a:rPr>
              <a:t>   insertions: an extra character</a:t>
            </a:r>
            <a:endParaRPr lang="en-US" sz="1400" dirty="0"/>
          </a:p>
        </p:txBody>
      </p:sp>
      <p:sp>
        <p:nvSpPr>
          <p:cNvPr id="14" name="Text 12"/>
          <p:cNvSpPr txBox="1"/>
          <p:nvPr/>
        </p:nvSpPr>
        <p:spPr>
          <a:xfrm>
            <a:off x="4572000" y="2587752"/>
            <a:ext cx="4937760" cy="292608"/>
          </a:xfrm>
          <a:prstGeom prst="rect">
            <a:avLst/>
          </a:prstGeom>
          <a:noFill/>
          <a:ln/>
        </p:spPr>
        <p:txBody>
          <a:bodyPr wrap="square" lIns="0" tIns="0" rIns="0" bIns="0" rtlCol="0" anchor="ctr"/>
          <a:lstStyle/>
          <a:p>
            <a:pPr marL="0" indent="0">
              <a:buNone/>
            </a:pPr>
            <a:r>
              <a:rPr lang="en-US" sz="1400" b="1" i="1" dirty="0">
                <a:solidFill>
                  <a:schemeClr val="tx2"/>
                </a:solidFill>
                <a:latin typeface="Cambria Math" pitchFamily="34" charset="0"/>
                <a:ea typeface="Cambria Math" pitchFamily="34" charset="-122"/>
                <a:cs typeface="Cambria Math" pitchFamily="34" charset="-120"/>
              </a:rPr>
              <a:t>D</a:t>
            </a:r>
            <a:r>
              <a:rPr lang="en-US" sz="1400" dirty="0">
                <a:solidFill>
                  <a:schemeClr val="tx1"/>
                </a:solidFill>
              </a:rPr>
              <a:t>   deletions: a missing character</a:t>
            </a:r>
            <a:endParaRPr lang="en-US" sz="1400" dirty="0"/>
          </a:p>
        </p:txBody>
      </p:sp>
      <p:sp>
        <p:nvSpPr>
          <p:cNvPr id="15" name="Text 13"/>
          <p:cNvSpPr txBox="1"/>
          <p:nvPr/>
        </p:nvSpPr>
        <p:spPr>
          <a:xfrm>
            <a:off x="4572000" y="2898648"/>
            <a:ext cx="4937760" cy="292608"/>
          </a:xfrm>
          <a:prstGeom prst="rect">
            <a:avLst/>
          </a:prstGeom>
          <a:noFill/>
          <a:ln/>
        </p:spPr>
        <p:txBody>
          <a:bodyPr wrap="square" lIns="0" tIns="0" rIns="0" bIns="0" rtlCol="0" anchor="ctr"/>
          <a:lstStyle/>
          <a:p>
            <a:pPr marL="0" indent="0">
              <a:buNone/>
            </a:pPr>
            <a:r>
              <a:rPr lang="en-US" sz="1400" b="1" i="1" dirty="0">
                <a:solidFill>
                  <a:schemeClr val="tx2"/>
                </a:solidFill>
                <a:latin typeface="Cambria Math" pitchFamily="34" charset="0"/>
                <a:ea typeface="Cambria Math" pitchFamily="34" charset="-122"/>
                <a:cs typeface="Cambria Math" pitchFamily="34" charset="-120"/>
              </a:rPr>
              <a:t>N</a:t>
            </a:r>
            <a:r>
              <a:rPr lang="en-US" sz="1400" dirty="0">
                <a:solidFill>
                  <a:schemeClr val="tx1"/>
                </a:solidFill>
              </a:rPr>
              <a:t>   number of characters in the reference</a:t>
            </a:r>
            <a:endParaRPr lang="en-US" sz="1400" dirty="0"/>
          </a:p>
        </p:txBody>
      </p:sp>
      <p:sp>
        <p:nvSpPr>
          <p:cNvPr id="16" name="lower is better"/>
          <p:cNvSpPr/>
          <p:nvPr/>
        </p:nvSpPr>
        <p:spPr>
          <a:xfrm>
            <a:off x="9829800" y="2286000"/>
            <a:ext cx="1645920" cy="502920"/>
          </a:xfrm>
          <a:prstGeom prst="roundRect">
            <a:avLst>
              <a:gd name="adj" fmla="val 49091"/>
            </a:avLst>
          </a:prstGeom>
          <a:solidFill>
            <a:schemeClr val="bg1"/>
          </a:solidFill>
          <a:ln w="15875">
            <a:solidFill>
              <a:schemeClr val="tx2"/>
            </a:solidFill>
            <a:prstDash val="solid"/>
          </a:ln>
        </p:spPr>
        <p:txBody>
          <a:bodyPr/>
          <a:lstStyle/>
          <a:p>
            <a:endParaRPr lang="en-US"/>
          </a:p>
        </p:txBody>
      </p:sp>
      <p:sp>
        <p:nvSpPr>
          <p:cNvPr id="17" name="Text 15"/>
          <p:cNvSpPr txBox="1"/>
          <p:nvPr/>
        </p:nvSpPr>
        <p:spPr>
          <a:xfrm>
            <a:off x="9829800" y="2286000"/>
            <a:ext cx="1645920" cy="502920"/>
          </a:xfrm>
          <a:prstGeom prst="rect">
            <a:avLst/>
          </a:prstGeom>
          <a:noFill/>
          <a:ln/>
        </p:spPr>
        <p:txBody>
          <a:bodyPr wrap="square" lIns="0" tIns="0" rIns="0" bIns="0" rtlCol="0" anchor="ctr"/>
          <a:lstStyle/>
          <a:p>
            <a:pPr marL="0" indent="0" algn="ctr">
              <a:buNone/>
            </a:pPr>
            <a:r>
              <a:rPr lang="en-US" sz="1300" b="1" dirty="0">
                <a:solidFill>
                  <a:schemeClr val="tx2"/>
                </a:solidFill>
              </a:rPr>
              <a:t>↓ Lower is better</a:t>
            </a:r>
            <a:endParaRPr lang="en-US" sz="1300" dirty="0"/>
          </a:p>
        </p:txBody>
      </p:sp>
      <p:sp>
        <p:nvSpPr>
          <p:cNvPr id="18" name="Text 16"/>
          <p:cNvSpPr txBox="1"/>
          <p:nvPr/>
        </p:nvSpPr>
        <p:spPr>
          <a:xfrm>
            <a:off x="548640" y="3383280"/>
            <a:ext cx="11091672" cy="274320"/>
          </a:xfrm>
          <a:prstGeom prst="rect">
            <a:avLst/>
          </a:prstGeom>
          <a:noFill/>
          <a:ln/>
        </p:spPr>
        <p:txBody>
          <a:bodyPr wrap="square" lIns="0" tIns="0" rIns="0" bIns="0" rtlCol="0" anchor="t"/>
          <a:lstStyle/>
          <a:p>
            <a:pPr marL="0" indent="0">
              <a:buNone/>
            </a:pPr>
            <a:r>
              <a:rPr lang="en-US" sz="1200" i="1" dirty="0">
                <a:solidFill>
                  <a:schemeClr val="accent5"/>
                </a:solidFill>
              </a:rPr>
              <a:t>Source: </a:t>
            </a:r>
            <a:r>
              <a:rPr lang="en-US" sz="1200" i="1" u="sng" dirty="0">
                <a:solidFill>
                  <a:schemeClr val="accent5"/>
                </a:solidFill>
                <a:hlinkClick r:id="rId3" tooltip="huggingface.co/learn/audio-course/chapter5/evaluation">
                  <a:extLst>
                    <a:ext uri="{A12FA001-AC4F-418D-AE19-62706E023703}">
                      <ahyp:hlinkClr xmlns:ahyp="http://schemas.microsoft.com/office/drawing/2018/hyperlinkcolor" val="tx"/>
                    </a:ext>
                  </a:extLst>
                </a:hlinkClick>
              </a:rPr>
              <a:t>Hugging Face Audio Course, “Evaluation metrics for ASR”</a:t>
            </a:r>
            <a:r>
              <a:rPr lang="en-US" sz="1200" i="1" dirty="0">
                <a:solidFill>
                  <a:schemeClr val="accent5"/>
                </a:solidFill>
              </a:rPr>
              <a:t>. WER uses the same formula with words instead of characters.</a:t>
            </a:r>
            <a:endParaRPr lang="en-US" sz="1200" dirty="0"/>
          </a:p>
        </p:txBody>
      </p:sp>
      <p:sp>
        <p:nvSpPr>
          <p:cNvPr id="19" name="WER card"/>
          <p:cNvSpPr/>
          <p:nvPr/>
        </p:nvSpPr>
        <p:spPr>
          <a:xfrm>
            <a:off x="548640" y="3730752"/>
            <a:ext cx="3502152" cy="1417320"/>
          </a:xfrm>
          <a:prstGeom prst="roundRect">
            <a:avLst>
              <a:gd name="adj" fmla="val 5161"/>
            </a:avLst>
          </a:prstGeom>
          <a:solidFill>
            <a:schemeClr val="bg1"/>
          </a:solidFill>
          <a:ln w="15875">
            <a:solidFill>
              <a:schemeClr val="accent6"/>
            </a:solidFill>
            <a:prstDash val="solid"/>
          </a:ln>
        </p:spPr>
        <p:txBody>
          <a:bodyPr/>
          <a:lstStyle/>
          <a:p>
            <a:endParaRPr lang="en-US"/>
          </a:p>
        </p:txBody>
      </p:sp>
      <p:sp>
        <p:nvSpPr>
          <p:cNvPr id="20" name="Text 18"/>
          <p:cNvSpPr txBox="1"/>
          <p:nvPr/>
        </p:nvSpPr>
        <p:spPr>
          <a:xfrm>
            <a:off x="822960" y="3794760"/>
            <a:ext cx="2953512" cy="365760"/>
          </a:xfrm>
          <a:prstGeom prst="rect">
            <a:avLst/>
          </a:prstGeom>
          <a:noFill/>
          <a:ln/>
        </p:spPr>
        <p:txBody>
          <a:bodyPr wrap="square" lIns="0" tIns="0" rIns="0" bIns="0" rtlCol="0" anchor="t"/>
          <a:lstStyle/>
          <a:p>
            <a:pPr marL="0" indent="0">
              <a:buNone/>
            </a:pPr>
            <a:r>
              <a:rPr lang="en-US" sz="1900" b="1" dirty="0">
                <a:solidFill>
                  <a:schemeClr val="tx2"/>
                </a:solidFill>
              </a:rPr>
              <a:t>WER</a:t>
            </a:r>
            <a:endParaRPr lang="en-US" sz="1900" dirty="0"/>
          </a:p>
        </p:txBody>
      </p:sp>
      <p:sp>
        <p:nvSpPr>
          <p:cNvPr id="21" name="Text 19"/>
          <p:cNvSpPr txBox="1"/>
          <p:nvPr/>
        </p:nvSpPr>
        <p:spPr>
          <a:xfrm>
            <a:off x="822960" y="4142232"/>
            <a:ext cx="2953512" cy="256032"/>
          </a:xfrm>
          <a:prstGeom prst="rect">
            <a:avLst/>
          </a:prstGeom>
          <a:noFill/>
          <a:ln/>
        </p:spPr>
        <p:txBody>
          <a:bodyPr wrap="square" lIns="0" tIns="0" rIns="0" bIns="0" rtlCol="0" anchor="t"/>
          <a:lstStyle/>
          <a:p>
            <a:pPr marL="0" indent="0">
              <a:buNone/>
            </a:pPr>
            <a:r>
              <a:rPr lang="en-US" sz="1200" dirty="0">
                <a:solidFill>
                  <a:schemeClr val="accent5"/>
                </a:solidFill>
              </a:rPr>
              <a:t>Word Error Rate</a:t>
            </a:r>
            <a:endParaRPr lang="en-US" sz="1200" dirty="0"/>
          </a:p>
        </p:txBody>
      </p:sp>
      <p:sp>
        <p:nvSpPr>
          <p:cNvPr id="22" name="Text 20"/>
          <p:cNvSpPr txBox="1"/>
          <p:nvPr/>
        </p:nvSpPr>
        <p:spPr>
          <a:xfrm>
            <a:off x="822960" y="4434840"/>
            <a:ext cx="3044952" cy="640080"/>
          </a:xfrm>
          <a:prstGeom prst="rect">
            <a:avLst/>
          </a:prstGeom>
          <a:noFill/>
          <a:ln/>
        </p:spPr>
        <p:txBody>
          <a:bodyPr wrap="square" lIns="0" tIns="0" rIns="0" bIns="0" rtlCol="0" anchor="t"/>
          <a:lstStyle/>
          <a:p>
            <a:pPr marL="0" indent="0">
              <a:buNone/>
            </a:pPr>
            <a:r>
              <a:rPr lang="en-US" sz="1300" dirty="0">
                <a:solidFill>
                  <a:schemeClr val="tx1"/>
                </a:solidFill>
              </a:rPr>
              <a:t>Unreliable for Khmer: spacing is inconsistent, so one “word” is often a phrase.</a:t>
            </a:r>
            <a:endParaRPr lang="en-US" sz="1300" dirty="0"/>
          </a:p>
        </p:txBody>
      </p:sp>
      <p:sp>
        <p:nvSpPr>
          <p:cNvPr id="23" name="CER card"/>
          <p:cNvSpPr/>
          <p:nvPr/>
        </p:nvSpPr>
        <p:spPr>
          <a:xfrm>
            <a:off x="4343400" y="3730752"/>
            <a:ext cx="3502152" cy="1417320"/>
          </a:xfrm>
          <a:prstGeom prst="roundRect">
            <a:avLst>
              <a:gd name="adj" fmla="val 5161"/>
            </a:avLst>
          </a:prstGeom>
          <a:solidFill>
            <a:schemeClr val="bg1"/>
          </a:solidFill>
          <a:ln w="15875">
            <a:solidFill>
              <a:schemeClr val="accent6"/>
            </a:solidFill>
            <a:prstDash val="solid"/>
          </a:ln>
        </p:spPr>
        <p:txBody>
          <a:bodyPr/>
          <a:lstStyle/>
          <a:p>
            <a:endParaRPr lang="en-US"/>
          </a:p>
        </p:txBody>
      </p:sp>
      <p:sp>
        <p:nvSpPr>
          <p:cNvPr id="24" name="Text 22"/>
          <p:cNvSpPr txBox="1"/>
          <p:nvPr/>
        </p:nvSpPr>
        <p:spPr>
          <a:xfrm>
            <a:off x="4617720" y="3794760"/>
            <a:ext cx="2953512" cy="365760"/>
          </a:xfrm>
          <a:prstGeom prst="rect">
            <a:avLst/>
          </a:prstGeom>
          <a:noFill/>
          <a:ln/>
        </p:spPr>
        <p:txBody>
          <a:bodyPr wrap="square" lIns="0" tIns="0" rIns="0" bIns="0" rtlCol="0" anchor="t"/>
          <a:lstStyle/>
          <a:p>
            <a:pPr marL="0" indent="0">
              <a:buNone/>
            </a:pPr>
            <a:r>
              <a:rPr lang="en-US" sz="1900" b="1" dirty="0">
                <a:solidFill>
                  <a:schemeClr val="tx2"/>
                </a:solidFill>
              </a:rPr>
              <a:t>CER</a:t>
            </a:r>
            <a:endParaRPr lang="en-US" sz="1900" dirty="0"/>
          </a:p>
        </p:txBody>
      </p:sp>
      <p:sp>
        <p:nvSpPr>
          <p:cNvPr id="25" name="Text 23"/>
          <p:cNvSpPr txBox="1"/>
          <p:nvPr/>
        </p:nvSpPr>
        <p:spPr>
          <a:xfrm>
            <a:off x="4617720" y="4142232"/>
            <a:ext cx="2953512" cy="256032"/>
          </a:xfrm>
          <a:prstGeom prst="rect">
            <a:avLst/>
          </a:prstGeom>
          <a:noFill/>
          <a:ln/>
        </p:spPr>
        <p:txBody>
          <a:bodyPr wrap="square" lIns="0" tIns="0" rIns="0" bIns="0" rtlCol="0" anchor="t"/>
          <a:lstStyle/>
          <a:p>
            <a:pPr marL="0" indent="0">
              <a:buNone/>
            </a:pPr>
            <a:r>
              <a:rPr lang="en-US" sz="1200" dirty="0">
                <a:solidFill>
                  <a:schemeClr val="accent5"/>
                </a:solidFill>
              </a:rPr>
              <a:t>Character Error Rate</a:t>
            </a:r>
            <a:endParaRPr lang="en-US" sz="1200" dirty="0"/>
          </a:p>
        </p:txBody>
      </p:sp>
      <p:sp>
        <p:nvSpPr>
          <p:cNvPr id="26" name="Text 24"/>
          <p:cNvSpPr txBox="1"/>
          <p:nvPr/>
        </p:nvSpPr>
        <p:spPr>
          <a:xfrm>
            <a:off x="4617720" y="4434840"/>
            <a:ext cx="3044952" cy="640080"/>
          </a:xfrm>
          <a:prstGeom prst="rect">
            <a:avLst/>
          </a:prstGeom>
          <a:noFill/>
          <a:ln/>
        </p:spPr>
        <p:txBody>
          <a:bodyPr wrap="square" lIns="0" tIns="0" rIns="0" bIns="0" rtlCol="0" anchor="t"/>
          <a:lstStyle/>
          <a:p>
            <a:pPr marL="0" indent="0">
              <a:buNone/>
            </a:pPr>
            <a:r>
              <a:rPr lang="en-US" sz="1300" dirty="0">
                <a:solidFill>
                  <a:schemeClr val="tx1"/>
                </a:solidFill>
              </a:rPr>
              <a:t>Counts character-level transcription errors.</a:t>
            </a:r>
            <a:endParaRPr lang="en-US" sz="1300" dirty="0"/>
          </a:p>
        </p:txBody>
      </p:sp>
      <p:sp>
        <p:nvSpPr>
          <p:cNvPr id="27" name="CER without spaces card"/>
          <p:cNvSpPr/>
          <p:nvPr/>
        </p:nvSpPr>
        <p:spPr>
          <a:xfrm>
            <a:off x="8138160" y="3730752"/>
            <a:ext cx="3502152" cy="1417320"/>
          </a:xfrm>
          <a:prstGeom prst="roundRect">
            <a:avLst>
              <a:gd name="adj" fmla="val 5161"/>
            </a:avLst>
          </a:prstGeom>
          <a:solidFill>
            <a:schemeClr val="tx2"/>
          </a:solidFill>
          <a:ln w="12700">
            <a:solidFill>
              <a:schemeClr val="tx2"/>
            </a:solidFill>
            <a:prstDash val="solid"/>
          </a:ln>
        </p:spPr>
        <p:txBody>
          <a:bodyPr/>
          <a:lstStyle/>
          <a:p>
            <a:endParaRPr lang="en-US"/>
          </a:p>
        </p:txBody>
      </p:sp>
      <p:sp>
        <p:nvSpPr>
          <p:cNvPr id="28" name="Text 26"/>
          <p:cNvSpPr txBox="1"/>
          <p:nvPr/>
        </p:nvSpPr>
        <p:spPr>
          <a:xfrm>
            <a:off x="8412480" y="3794760"/>
            <a:ext cx="2953512" cy="365760"/>
          </a:xfrm>
          <a:prstGeom prst="rect">
            <a:avLst/>
          </a:prstGeom>
          <a:noFill/>
          <a:ln/>
        </p:spPr>
        <p:txBody>
          <a:bodyPr wrap="square" lIns="0" tIns="0" rIns="0" bIns="0" rtlCol="0" anchor="t"/>
          <a:lstStyle/>
          <a:p>
            <a:pPr marL="0" indent="0">
              <a:buNone/>
            </a:pPr>
            <a:r>
              <a:rPr lang="en-US" sz="1900" b="1" dirty="0">
                <a:solidFill>
                  <a:schemeClr val="bg1"/>
                </a:solidFill>
              </a:rPr>
              <a:t>CER without spaces</a:t>
            </a:r>
            <a:endParaRPr lang="en-US" sz="1900" dirty="0"/>
          </a:p>
        </p:txBody>
      </p:sp>
      <p:sp>
        <p:nvSpPr>
          <p:cNvPr id="29" name="Text 27"/>
          <p:cNvSpPr txBox="1"/>
          <p:nvPr/>
        </p:nvSpPr>
        <p:spPr>
          <a:xfrm>
            <a:off x="8412480" y="4142232"/>
            <a:ext cx="2953512" cy="256032"/>
          </a:xfrm>
          <a:prstGeom prst="rect">
            <a:avLst/>
          </a:prstGeom>
          <a:noFill/>
          <a:ln/>
        </p:spPr>
        <p:txBody>
          <a:bodyPr wrap="square" lIns="0" tIns="0" rIns="0" bIns="0" rtlCol="0" anchor="t"/>
          <a:lstStyle/>
          <a:p>
            <a:pPr marL="0" indent="0">
              <a:buNone/>
            </a:pPr>
            <a:r>
              <a:rPr lang="en-US" sz="1200" b="1" dirty="0">
                <a:solidFill>
                  <a:schemeClr val="accent2"/>
                </a:solidFill>
              </a:rPr>
              <a:t>PRIMARY METRIC</a:t>
            </a:r>
            <a:endParaRPr lang="en-US" sz="1200" dirty="0"/>
          </a:p>
        </p:txBody>
      </p:sp>
      <p:sp>
        <p:nvSpPr>
          <p:cNvPr id="30" name="Text 28"/>
          <p:cNvSpPr txBox="1"/>
          <p:nvPr/>
        </p:nvSpPr>
        <p:spPr>
          <a:xfrm>
            <a:off x="8412480" y="4434840"/>
            <a:ext cx="3044952" cy="640080"/>
          </a:xfrm>
          <a:prstGeom prst="rect">
            <a:avLst/>
          </a:prstGeom>
          <a:noFill/>
          <a:ln/>
        </p:spPr>
        <p:txBody>
          <a:bodyPr wrap="square" lIns="0" tIns="0" rIns="0" bIns="0" rtlCol="0" anchor="t"/>
          <a:lstStyle/>
          <a:p>
            <a:pPr marL="0" indent="0">
              <a:buNone/>
            </a:pPr>
            <a:r>
              <a:rPr lang="en-US" sz="1300" dirty="0">
                <a:solidFill>
                  <a:schemeClr val="bg1"/>
                </a:solidFill>
              </a:rPr>
              <a:t>Remove all spaces from both sides, then compute CER. Used only for scoring.</a:t>
            </a:r>
            <a:endParaRPr lang="en-US" sz="1300" dirty="0"/>
          </a:p>
        </p:txBody>
      </p:sp>
      <p:sp>
        <p:nvSpPr>
          <p:cNvPr id="31" name="CER example"/>
          <p:cNvSpPr/>
          <p:nvPr/>
        </p:nvSpPr>
        <p:spPr>
          <a:xfrm>
            <a:off x="548640" y="5303520"/>
            <a:ext cx="6812280" cy="987552"/>
          </a:xfrm>
          <a:prstGeom prst="roundRect">
            <a:avLst>
              <a:gd name="adj" fmla="val 7407"/>
            </a:avLst>
          </a:prstGeom>
          <a:solidFill>
            <a:schemeClr val="bg2"/>
          </a:solidFill>
          <a:ln w="12700">
            <a:solidFill>
              <a:schemeClr val="bg2"/>
            </a:solidFill>
            <a:prstDash val="solid"/>
          </a:ln>
        </p:spPr>
        <p:txBody>
          <a:bodyPr/>
          <a:lstStyle/>
          <a:p>
            <a:endParaRPr lang="en-US"/>
          </a:p>
        </p:txBody>
      </p:sp>
      <p:sp>
        <p:nvSpPr>
          <p:cNvPr id="32" name="Text 30"/>
          <p:cNvSpPr txBox="1"/>
          <p:nvPr/>
        </p:nvSpPr>
        <p:spPr>
          <a:xfrm>
            <a:off x="731520" y="5340096"/>
            <a:ext cx="2743200" cy="256032"/>
          </a:xfrm>
          <a:prstGeom prst="rect">
            <a:avLst/>
          </a:prstGeom>
          <a:noFill/>
          <a:ln/>
        </p:spPr>
        <p:txBody>
          <a:bodyPr wrap="square" lIns="0" tIns="0" rIns="0" bIns="0" rtlCol="0" anchor="t"/>
          <a:lstStyle/>
          <a:p>
            <a:pPr marL="0" indent="0">
              <a:buNone/>
            </a:pPr>
            <a:r>
              <a:rPr lang="en-US" sz="1200" b="1" dirty="0">
                <a:solidFill>
                  <a:schemeClr val="tx2"/>
                </a:solidFill>
              </a:rPr>
              <a:t>Example: CER</a:t>
            </a:r>
            <a:endParaRPr lang="en-US" sz="1200" dirty="0"/>
          </a:p>
        </p:txBody>
      </p:sp>
      <p:sp>
        <p:nvSpPr>
          <p:cNvPr id="33" name="Text 31"/>
          <p:cNvSpPr txBox="1"/>
          <p:nvPr/>
        </p:nvSpPr>
        <p:spPr>
          <a:xfrm>
            <a:off x="731520" y="5605272"/>
            <a:ext cx="1005840" cy="292608"/>
          </a:xfrm>
          <a:prstGeom prst="rect">
            <a:avLst/>
          </a:prstGeom>
          <a:noFill/>
          <a:ln/>
        </p:spPr>
        <p:txBody>
          <a:bodyPr wrap="square" lIns="0" tIns="0" rIns="0" bIns="0" rtlCol="0" anchor="ctr"/>
          <a:lstStyle/>
          <a:p>
            <a:pPr marL="0" indent="0">
              <a:buNone/>
            </a:pPr>
            <a:r>
              <a:rPr lang="en-US" sz="1200" dirty="0">
                <a:solidFill>
                  <a:schemeClr val="accent5"/>
                </a:solidFill>
              </a:rPr>
              <a:t>Reference</a:t>
            </a:r>
            <a:endParaRPr lang="en-US" sz="1200" dirty="0"/>
          </a:p>
        </p:txBody>
      </p:sp>
      <p:sp>
        <p:nvSpPr>
          <p:cNvPr id="34" name="Text 32"/>
          <p:cNvSpPr txBox="1"/>
          <p:nvPr/>
        </p:nvSpPr>
        <p:spPr>
          <a:xfrm>
            <a:off x="731520" y="5943600"/>
            <a:ext cx="1005840" cy="292608"/>
          </a:xfrm>
          <a:prstGeom prst="rect">
            <a:avLst/>
          </a:prstGeom>
          <a:noFill/>
          <a:ln/>
        </p:spPr>
        <p:txBody>
          <a:bodyPr wrap="square" lIns="0" tIns="0" rIns="0" bIns="0" rtlCol="0" anchor="ctr"/>
          <a:lstStyle/>
          <a:p>
            <a:pPr marL="0" indent="0">
              <a:buNone/>
            </a:pPr>
            <a:r>
              <a:rPr lang="en-US" sz="1200" dirty="0">
                <a:solidFill>
                  <a:schemeClr val="accent5"/>
                </a:solidFill>
              </a:rPr>
              <a:t>Prediction</a:t>
            </a:r>
            <a:endParaRPr lang="en-US" sz="1200" dirty="0"/>
          </a:p>
        </p:txBody>
      </p:sp>
      <p:sp>
        <p:nvSpPr>
          <p:cNvPr id="35" name="tile"/>
          <p:cNvSpPr/>
          <p:nvPr/>
        </p:nvSpPr>
        <p:spPr>
          <a:xfrm>
            <a:off x="1828800" y="5605272"/>
            <a:ext cx="329184" cy="292608"/>
          </a:xfrm>
          <a:prstGeom prst="roundRect">
            <a:avLst>
              <a:gd name="adj" fmla="val 15625"/>
            </a:avLst>
          </a:prstGeom>
          <a:solidFill>
            <a:schemeClr val="bg1"/>
          </a:solidFill>
          <a:ln w="12700">
            <a:solidFill>
              <a:schemeClr val="accent6"/>
            </a:solidFill>
            <a:prstDash val="solid"/>
          </a:ln>
        </p:spPr>
        <p:txBody>
          <a:bodyPr/>
          <a:lstStyle/>
          <a:p>
            <a:endParaRPr lang="en-US"/>
          </a:p>
        </p:txBody>
      </p:sp>
      <p:sp>
        <p:nvSpPr>
          <p:cNvPr id="36" name="Text 34"/>
          <p:cNvSpPr txBox="1"/>
          <p:nvPr/>
        </p:nvSpPr>
        <p:spPr>
          <a:xfrm>
            <a:off x="1828800" y="5605272"/>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K</a:t>
            </a:r>
            <a:endParaRPr lang="en-US" sz="1400" dirty="0"/>
          </a:p>
        </p:txBody>
      </p:sp>
      <p:sp>
        <p:nvSpPr>
          <p:cNvPr id="37" name="tile"/>
          <p:cNvSpPr/>
          <p:nvPr/>
        </p:nvSpPr>
        <p:spPr>
          <a:xfrm>
            <a:off x="1828800" y="5943600"/>
            <a:ext cx="329184" cy="292608"/>
          </a:xfrm>
          <a:prstGeom prst="roundRect">
            <a:avLst>
              <a:gd name="adj" fmla="val 15625"/>
            </a:avLst>
          </a:prstGeom>
          <a:solidFill>
            <a:schemeClr val="bg1"/>
          </a:solidFill>
          <a:ln w="12700">
            <a:solidFill>
              <a:schemeClr val="accent6"/>
            </a:solidFill>
            <a:prstDash val="solid"/>
          </a:ln>
        </p:spPr>
        <p:txBody>
          <a:bodyPr/>
          <a:lstStyle/>
          <a:p>
            <a:endParaRPr lang="en-US"/>
          </a:p>
        </p:txBody>
      </p:sp>
      <p:sp>
        <p:nvSpPr>
          <p:cNvPr id="38" name="Text 36"/>
          <p:cNvSpPr txBox="1"/>
          <p:nvPr/>
        </p:nvSpPr>
        <p:spPr>
          <a:xfrm>
            <a:off x="1828800" y="5943600"/>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K</a:t>
            </a:r>
            <a:endParaRPr lang="en-US" sz="1400" dirty="0"/>
          </a:p>
        </p:txBody>
      </p:sp>
      <p:sp>
        <p:nvSpPr>
          <p:cNvPr id="39" name="tile"/>
          <p:cNvSpPr/>
          <p:nvPr/>
        </p:nvSpPr>
        <p:spPr>
          <a:xfrm>
            <a:off x="2212848" y="5605272"/>
            <a:ext cx="329184" cy="292608"/>
          </a:xfrm>
          <a:prstGeom prst="roundRect">
            <a:avLst>
              <a:gd name="adj" fmla="val 15625"/>
            </a:avLst>
          </a:prstGeom>
          <a:solidFill>
            <a:schemeClr val="accent2"/>
          </a:solidFill>
          <a:ln w="12700">
            <a:solidFill>
              <a:schemeClr val="accent2"/>
            </a:solidFill>
            <a:prstDash val="solid"/>
          </a:ln>
        </p:spPr>
        <p:txBody>
          <a:bodyPr/>
          <a:lstStyle/>
          <a:p>
            <a:endParaRPr lang="en-US"/>
          </a:p>
        </p:txBody>
      </p:sp>
      <p:sp>
        <p:nvSpPr>
          <p:cNvPr id="40" name="Text 38"/>
          <p:cNvSpPr txBox="1"/>
          <p:nvPr/>
        </p:nvSpPr>
        <p:spPr>
          <a:xfrm>
            <a:off x="2212848" y="5605272"/>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H</a:t>
            </a:r>
            <a:endParaRPr lang="en-US" sz="1400" dirty="0"/>
          </a:p>
        </p:txBody>
      </p:sp>
      <p:sp>
        <p:nvSpPr>
          <p:cNvPr id="41" name="tile"/>
          <p:cNvSpPr/>
          <p:nvPr/>
        </p:nvSpPr>
        <p:spPr>
          <a:xfrm>
            <a:off x="2212848" y="5943600"/>
            <a:ext cx="329184" cy="292608"/>
          </a:xfrm>
          <a:prstGeom prst="roundRect">
            <a:avLst>
              <a:gd name="adj" fmla="val 15625"/>
            </a:avLst>
          </a:prstGeom>
          <a:solidFill>
            <a:schemeClr val="accent2"/>
          </a:solidFill>
          <a:ln w="12700">
            <a:solidFill>
              <a:schemeClr val="accent2"/>
            </a:solidFill>
            <a:prstDash val="solid"/>
          </a:ln>
        </p:spPr>
        <p:txBody>
          <a:bodyPr/>
          <a:lstStyle/>
          <a:p>
            <a:endParaRPr lang="en-US"/>
          </a:p>
        </p:txBody>
      </p:sp>
      <p:sp>
        <p:nvSpPr>
          <p:cNvPr id="42" name="Text 40"/>
          <p:cNvSpPr txBox="1"/>
          <p:nvPr/>
        </p:nvSpPr>
        <p:spPr>
          <a:xfrm>
            <a:off x="2212848" y="5943600"/>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a:t>
            </a:r>
            <a:endParaRPr lang="en-US" sz="1400" dirty="0"/>
          </a:p>
        </p:txBody>
      </p:sp>
      <p:sp>
        <p:nvSpPr>
          <p:cNvPr id="43" name="tile"/>
          <p:cNvSpPr/>
          <p:nvPr/>
        </p:nvSpPr>
        <p:spPr>
          <a:xfrm>
            <a:off x="2596896" y="5605272"/>
            <a:ext cx="329184" cy="292608"/>
          </a:xfrm>
          <a:prstGeom prst="roundRect">
            <a:avLst>
              <a:gd name="adj" fmla="val 15625"/>
            </a:avLst>
          </a:prstGeom>
          <a:solidFill>
            <a:schemeClr val="bg1"/>
          </a:solidFill>
          <a:ln w="12700">
            <a:solidFill>
              <a:schemeClr val="accent6"/>
            </a:solidFill>
            <a:prstDash val="solid"/>
          </a:ln>
        </p:spPr>
        <p:txBody>
          <a:bodyPr/>
          <a:lstStyle/>
          <a:p>
            <a:endParaRPr lang="en-US"/>
          </a:p>
        </p:txBody>
      </p:sp>
      <p:sp>
        <p:nvSpPr>
          <p:cNvPr id="44" name="Text 42"/>
          <p:cNvSpPr txBox="1"/>
          <p:nvPr/>
        </p:nvSpPr>
        <p:spPr>
          <a:xfrm>
            <a:off x="2596896" y="5605272"/>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M</a:t>
            </a:r>
            <a:endParaRPr lang="en-US" sz="1400" dirty="0"/>
          </a:p>
        </p:txBody>
      </p:sp>
      <p:sp>
        <p:nvSpPr>
          <p:cNvPr id="45" name="tile"/>
          <p:cNvSpPr/>
          <p:nvPr/>
        </p:nvSpPr>
        <p:spPr>
          <a:xfrm>
            <a:off x="2596896" y="5943600"/>
            <a:ext cx="329184" cy="292608"/>
          </a:xfrm>
          <a:prstGeom prst="roundRect">
            <a:avLst>
              <a:gd name="adj" fmla="val 15625"/>
            </a:avLst>
          </a:prstGeom>
          <a:solidFill>
            <a:schemeClr val="bg1"/>
          </a:solidFill>
          <a:ln w="12700">
            <a:solidFill>
              <a:schemeClr val="accent6"/>
            </a:solidFill>
            <a:prstDash val="solid"/>
          </a:ln>
        </p:spPr>
        <p:txBody>
          <a:bodyPr/>
          <a:lstStyle/>
          <a:p>
            <a:endParaRPr lang="en-US"/>
          </a:p>
        </p:txBody>
      </p:sp>
      <p:sp>
        <p:nvSpPr>
          <p:cNvPr id="46" name="Text 44"/>
          <p:cNvSpPr txBox="1"/>
          <p:nvPr/>
        </p:nvSpPr>
        <p:spPr>
          <a:xfrm>
            <a:off x="2596896" y="5943600"/>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M</a:t>
            </a:r>
            <a:endParaRPr lang="en-US" sz="1400" dirty="0"/>
          </a:p>
        </p:txBody>
      </p:sp>
      <p:sp>
        <p:nvSpPr>
          <p:cNvPr id="47" name="tile"/>
          <p:cNvSpPr/>
          <p:nvPr/>
        </p:nvSpPr>
        <p:spPr>
          <a:xfrm>
            <a:off x="2980944" y="5605272"/>
            <a:ext cx="329184" cy="292608"/>
          </a:xfrm>
          <a:prstGeom prst="roundRect">
            <a:avLst>
              <a:gd name="adj" fmla="val 15625"/>
            </a:avLst>
          </a:prstGeom>
          <a:solidFill>
            <a:schemeClr val="accent2"/>
          </a:solidFill>
          <a:ln w="12700">
            <a:solidFill>
              <a:schemeClr val="accent2"/>
            </a:solidFill>
            <a:prstDash val="solid"/>
          </a:ln>
        </p:spPr>
        <p:txBody>
          <a:bodyPr/>
          <a:lstStyle/>
          <a:p>
            <a:endParaRPr lang="en-US"/>
          </a:p>
        </p:txBody>
      </p:sp>
      <p:sp>
        <p:nvSpPr>
          <p:cNvPr id="48" name="Text 46"/>
          <p:cNvSpPr txBox="1"/>
          <p:nvPr/>
        </p:nvSpPr>
        <p:spPr>
          <a:xfrm>
            <a:off x="2980944" y="5605272"/>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E</a:t>
            </a:r>
            <a:endParaRPr lang="en-US" sz="1400" dirty="0"/>
          </a:p>
        </p:txBody>
      </p:sp>
      <p:sp>
        <p:nvSpPr>
          <p:cNvPr id="49" name="tile"/>
          <p:cNvSpPr/>
          <p:nvPr/>
        </p:nvSpPr>
        <p:spPr>
          <a:xfrm>
            <a:off x="2980944" y="5943600"/>
            <a:ext cx="329184" cy="292608"/>
          </a:xfrm>
          <a:prstGeom prst="roundRect">
            <a:avLst>
              <a:gd name="adj" fmla="val 15625"/>
            </a:avLst>
          </a:prstGeom>
          <a:solidFill>
            <a:schemeClr val="accent2"/>
          </a:solidFill>
          <a:ln w="12700">
            <a:solidFill>
              <a:schemeClr val="accent2"/>
            </a:solidFill>
            <a:prstDash val="solid"/>
          </a:ln>
        </p:spPr>
        <p:txBody>
          <a:bodyPr/>
          <a:lstStyle/>
          <a:p>
            <a:endParaRPr lang="en-US"/>
          </a:p>
        </p:txBody>
      </p:sp>
      <p:sp>
        <p:nvSpPr>
          <p:cNvPr id="50" name="Text 48"/>
          <p:cNvSpPr txBox="1"/>
          <p:nvPr/>
        </p:nvSpPr>
        <p:spPr>
          <a:xfrm>
            <a:off x="2980944" y="5943600"/>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A</a:t>
            </a:r>
            <a:endParaRPr lang="en-US" sz="1400" dirty="0"/>
          </a:p>
        </p:txBody>
      </p:sp>
      <p:sp>
        <p:nvSpPr>
          <p:cNvPr id="51" name="tile"/>
          <p:cNvSpPr/>
          <p:nvPr/>
        </p:nvSpPr>
        <p:spPr>
          <a:xfrm>
            <a:off x="3364992" y="5605272"/>
            <a:ext cx="329184" cy="292608"/>
          </a:xfrm>
          <a:prstGeom prst="roundRect">
            <a:avLst>
              <a:gd name="adj" fmla="val 15625"/>
            </a:avLst>
          </a:prstGeom>
          <a:solidFill>
            <a:schemeClr val="bg1"/>
          </a:solidFill>
          <a:ln w="12700">
            <a:solidFill>
              <a:schemeClr val="accent6"/>
            </a:solidFill>
            <a:prstDash val="solid"/>
          </a:ln>
        </p:spPr>
        <p:txBody>
          <a:bodyPr/>
          <a:lstStyle/>
          <a:p>
            <a:endParaRPr lang="en-US"/>
          </a:p>
        </p:txBody>
      </p:sp>
      <p:sp>
        <p:nvSpPr>
          <p:cNvPr id="52" name="Text 50"/>
          <p:cNvSpPr txBox="1"/>
          <p:nvPr/>
        </p:nvSpPr>
        <p:spPr>
          <a:xfrm>
            <a:off x="3364992" y="5605272"/>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R</a:t>
            </a:r>
            <a:endParaRPr lang="en-US" sz="1400" dirty="0"/>
          </a:p>
        </p:txBody>
      </p:sp>
      <p:sp>
        <p:nvSpPr>
          <p:cNvPr id="53" name="tile"/>
          <p:cNvSpPr/>
          <p:nvPr/>
        </p:nvSpPr>
        <p:spPr>
          <a:xfrm>
            <a:off x="3364992" y="5943600"/>
            <a:ext cx="329184" cy="292608"/>
          </a:xfrm>
          <a:prstGeom prst="roundRect">
            <a:avLst>
              <a:gd name="adj" fmla="val 15625"/>
            </a:avLst>
          </a:prstGeom>
          <a:solidFill>
            <a:schemeClr val="bg1"/>
          </a:solidFill>
          <a:ln w="12700">
            <a:solidFill>
              <a:schemeClr val="accent6"/>
            </a:solidFill>
            <a:prstDash val="solid"/>
          </a:ln>
        </p:spPr>
        <p:txBody>
          <a:bodyPr/>
          <a:lstStyle/>
          <a:p>
            <a:endParaRPr lang="en-US"/>
          </a:p>
        </p:txBody>
      </p:sp>
      <p:sp>
        <p:nvSpPr>
          <p:cNvPr id="54" name="Text 52"/>
          <p:cNvSpPr txBox="1"/>
          <p:nvPr/>
        </p:nvSpPr>
        <p:spPr>
          <a:xfrm>
            <a:off x="3364992" y="5943600"/>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R</a:t>
            </a:r>
            <a:endParaRPr lang="en-US" sz="1400" dirty="0"/>
          </a:p>
        </p:txBody>
      </p:sp>
      <p:sp>
        <p:nvSpPr>
          <p:cNvPr id="55" name="tile"/>
          <p:cNvSpPr/>
          <p:nvPr/>
        </p:nvSpPr>
        <p:spPr>
          <a:xfrm>
            <a:off x="3749040" y="5943600"/>
            <a:ext cx="329184" cy="292608"/>
          </a:xfrm>
          <a:prstGeom prst="roundRect">
            <a:avLst>
              <a:gd name="adj" fmla="val 15625"/>
            </a:avLst>
          </a:prstGeom>
          <a:solidFill>
            <a:schemeClr val="accent2"/>
          </a:solidFill>
          <a:ln w="12700">
            <a:solidFill>
              <a:schemeClr val="accent2"/>
            </a:solidFill>
            <a:prstDash val="solid"/>
          </a:ln>
        </p:spPr>
        <p:txBody>
          <a:bodyPr/>
          <a:lstStyle/>
          <a:p>
            <a:endParaRPr lang="en-US"/>
          </a:p>
        </p:txBody>
      </p:sp>
      <p:sp>
        <p:nvSpPr>
          <p:cNvPr id="56" name="Text 54"/>
          <p:cNvSpPr txBox="1"/>
          <p:nvPr/>
        </p:nvSpPr>
        <p:spPr>
          <a:xfrm>
            <a:off x="3749040" y="5943600"/>
            <a:ext cx="329184" cy="292608"/>
          </a:xfrm>
          <a:prstGeom prst="rect">
            <a:avLst/>
          </a:prstGeom>
          <a:noFill/>
          <a:ln/>
        </p:spPr>
        <p:txBody>
          <a:bodyPr wrap="square" lIns="0" tIns="0" rIns="0" bIns="0" rtlCol="0" anchor="ctr"/>
          <a:lstStyle/>
          <a:p>
            <a:pPr marL="0" indent="0" algn="ctr">
              <a:buNone/>
            </a:pPr>
            <a:r>
              <a:rPr lang="en-US" sz="1400" b="1" dirty="0">
                <a:solidFill>
                  <a:schemeClr val="tx2"/>
                </a:solidFill>
                <a:latin typeface="Consolas" pitchFamily="34" charset="0"/>
                <a:ea typeface="Consolas" pitchFamily="34" charset="-122"/>
                <a:cs typeface="Consolas" pitchFamily="34" charset="-120"/>
              </a:rPr>
              <a:t>S</a:t>
            </a:r>
            <a:endParaRPr lang="en-US" sz="1400" dirty="0"/>
          </a:p>
        </p:txBody>
      </p:sp>
      <p:sp>
        <p:nvSpPr>
          <p:cNvPr id="57" name="Text 55"/>
          <p:cNvSpPr txBox="1"/>
          <p:nvPr/>
        </p:nvSpPr>
        <p:spPr>
          <a:xfrm>
            <a:off x="4343400" y="5577840"/>
            <a:ext cx="2971800" cy="292608"/>
          </a:xfrm>
          <a:prstGeom prst="rect">
            <a:avLst/>
          </a:prstGeom>
          <a:noFill/>
          <a:ln/>
        </p:spPr>
        <p:txBody>
          <a:bodyPr wrap="square" lIns="0" tIns="0" rIns="0" bIns="0" rtlCol="0" anchor="ctr"/>
          <a:lstStyle/>
          <a:p>
            <a:pPr marL="0" indent="0">
              <a:buNone/>
            </a:pPr>
            <a:r>
              <a:rPr lang="en-US" sz="1200" b="1" dirty="0">
                <a:solidFill>
                  <a:schemeClr val="tx1"/>
                </a:solidFill>
              </a:rPr>
              <a:t>S = 1</a:t>
            </a:r>
            <a:r>
              <a:rPr lang="en-US" sz="1200" dirty="0">
                <a:solidFill>
                  <a:schemeClr val="tx1"/>
                </a:solidFill>
              </a:rPr>
              <a:t> (E→A),  </a:t>
            </a:r>
            <a:r>
              <a:rPr lang="en-US" sz="1200" b="1" dirty="0">
                <a:solidFill>
                  <a:schemeClr val="tx1"/>
                </a:solidFill>
              </a:rPr>
              <a:t>D = 1</a:t>
            </a:r>
            <a:r>
              <a:rPr lang="en-US" sz="1200" dirty="0">
                <a:solidFill>
                  <a:schemeClr val="tx1"/>
                </a:solidFill>
              </a:rPr>
              <a:t> (H),  </a:t>
            </a:r>
            <a:r>
              <a:rPr lang="en-US" sz="1200" b="1" dirty="0">
                <a:solidFill>
                  <a:schemeClr val="tx1"/>
                </a:solidFill>
              </a:rPr>
              <a:t>I = 1</a:t>
            </a:r>
            <a:r>
              <a:rPr lang="en-US" sz="1200" dirty="0">
                <a:solidFill>
                  <a:schemeClr val="tx1"/>
                </a:solidFill>
              </a:rPr>
              <a:t> (S),  N = 5</a:t>
            </a:r>
            <a:endParaRPr lang="en-US" sz="1200" dirty="0"/>
          </a:p>
        </p:txBody>
      </p:sp>
      <p:sp>
        <p:nvSpPr>
          <p:cNvPr id="58" name="Text 56"/>
          <p:cNvSpPr txBox="1"/>
          <p:nvPr/>
        </p:nvSpPr>
        <p:spPr>
          <a:xfrm>
            <a:off x="4343400" y="5897880"/>
            <a:ext cx="2971800" cy="347472"/>
          </a:xfrm>
          <a:prstGeom prst="rect">
            <a:avLst/>
          </a:prstGeom>
          <a:noFill/>
          <a:ln/>
        </p:spPr>
        <p:txBody>
          <a:bodyPr wrap="square" lIns="0" tIns="0" rIns="0" bIns="0" rtlCol="0" anchor="ctr"/>
          <a:lstStyle/>
          <a:p>
            <a:pPr marL="0" indent="0">
              <a:buNone/>
            </a:pPr>
            <a:r>
              <a:rPr lang="en-US" sz="1600" b="1" dirty="0">
                <a:solidFill>
                  <a:schemeClr val="tx2"/>
                </a:solidFill>
              </a:rPr>
              <a:t>CER = (1 + 1 + 1) / 5 = 60%</a:t>
            </a:r>
            <a:endParaRPr lang="en-US" sz="1600" dirty="0"/>
          </a:p>
        </p:txBody>
      </p:sp>
      <p:sp>
        <p:nvSpPr>
          <p:cNvPr id="59" name="spacing example"/>
          <p:cNvSpPr/>
          <p:nvPr/>
        </p:nvSpPr>
        <p:spPr>
          <a:xfrm>
            <a:off x="7543800" y="5303520"/>
            <a:ext cx="4096512" cy="987552"/>
          </a:xfrm>
          <a:prstGeom prst="roundRect">
            <a:avLst>
              <a:gd name="adj" fmla="val 7407"/>
            </a:avLst>
          </a:prstGeom>
          <a:solidFill>
            <a:schemeClr val="bg2"/>
          </a:solidFill>
          <a:ln w="12700">
            <a:solidFill>
              <a:schemeClr val="bg2"/>
            </a:solidFill>
            <a:prstDash val="solid"/>
          </a:ln>
        </p:spPr>
        <p:txBody>
          <a:bodyPr/>
          <a:lstStyle/>
          <a:p>
            <a:endParaRPr lang="en-US"/>
          </a:p>
        </p:txBody>
      </p:sp>
      <p:sp>
        <p:nvSpPr>
          <p:cNvPr id="60" name="Text 58"/>
          <p:cNvSpPr txBox="1"/>
          <p:nvPr/>
        </p:nvSpPr>
        <p:spPr>
          <a:xfrm>
            <a:off x="7726680" y="5340096"/>
            <a:ext cx="3840480" cy="256032"/>
          </a:xfrm>
          <a:prstGeom prst="rect">
            <a:avLst/>
          </a:prstGeom>
          <a:noFill/>
          <a:ln/>
        </p:spPr>
        <p:txBody>
          <a:bodyPr wrap="square" lIns="0" tIns="0" rIns="0" bIns="0" rtlCol="0" anchor="t"/>
          <a:lstStyle/>
          <a:p>
            <a:pPr marL="0" indent="0">
              <a:buNone/>
            </a:pPr>
            <a:r>
              <a:rPr lang="en-US" sz="1200" b="1" dirty="0">
                <a:solidFill>
                  <a:schemeClr val="tx2"/>
                </a:solidFill>
              </a:rPr>
              <a:t>Why remove spaces? </a:t>
            </a:r>
            <a:r>
              <a:rPr lang="en-US" sz="1200" i="1" dirty="0">
                <a:solidFill>
                  <a:schemeClr val="accent5"/>
                </a:solidFill>
              </a:rPr>
              <a:t>Scoring only; subtitles keep spaces</a:t>
            </a:r>
            <a:endParaRPr lang="en-US" sz="1200" dirty="0"/>
          </a:p>
        </p:txBody>
      </p:sp>
      <p:sp>
        <p:nvSpPr>
          <p:cNvPr id="61" name="Text 59"/>
          <p:cNvSpPr txBox="1"/>
          <p:nvPr/>
        </p:nvSpPr>
        <p:spPr>
          <a:xfrm>
            <a:off x="7726680" y="5605272"/>
            <a:ext cx="868680" cy="292608"/>
          </a:xfrm>
          <a:prstGeom prst="rect">
            <a:avLst/>
          </a:prstGeom>
          <a:noFill/>
          <a:ln/>
        </p:spPr>
        <p:txBody>
          <a:bodyPr wrap="square" lIns="0" tIns="0" rIns="0" bIns="0" rtlCol="0" anchor="ctr"/>
          <a:lstStyle/>
          <a:p>
            <a:pPr marL="0" indent="0">
              <a:buNone/>
            </a:pPr>
            <a:r>
              <a:rPr lang="en-US" sz="1200" dirty="0">
                <a:solidFill>
                  <a:schemeClr val="accent5"/>
                </a:solidFill>
              </a:rPr>
              <a:t>Reference</a:t>
            </a:r>
            <a:endParaRPr lang="en-US" sz="1200" dirty="0"/>
          </a:p>
        </p:txBody>
      </p:sp>
      <p:sp>
        <p:nvSpPr>
          <p:cNvPr id="62" name="Text 60"/>
          <p:cNvSpPr txBox="1"/>
          <p:nvPr/>
        </p:nvSpPr>
        <p:spPr>
          <a:xfrm>
            <a:off x="7726680" y="5943600"/>
            <a:ext cx="868680" cy="292608"/>
          </a:xfrm>
          <a:prstGeom prst="rect">
            <a:avLst/>
          </a:prstGeom>
          <a:noFill/>
          <a:ln/>
        </p:spPr>
        <p:txBody>
          <a:bodyPr wrap="square" lIns="0" tIns="0" rIns="0" bIns="0" rtlCol="0" anchor="ctr"/>
          <a:lstStyle/>
          <a:p>
            <a:pPr marL="0" indent="0">
              <a:buNone/>
            </a:pPr>
            <a:r>
              <a:rPr lang="en-US" sz="1200" dirty="0">
                <a:solidFill>
                  <a:schemeClr val="accent5"/>
                </a:solidFill>
              </a:rPr>
              <a:t>Prediction</a:t>
            </a:r>
            <a:endParaRPr lang="en-US" sz="1200" dirty="0"/>
          </a:p>
        </p:txBody>
      </p:sp>
      <p:pic>
        <p:nvPicPr>
          <p:cNvPr id="63" name="Image 0" descr="Reference: two Khmer words with a space between them"/>
          <p:cNvPicPr>
            <a:picLocks noChangeAspect="1"/>
          </p:cNvPicPr>
          <p:nvPr/>
        </p:nvPicPr>
        <p:blipFill>
          <a:blip r:embed="rId4"/>
          <a:stretch>
            <a:fillRect/>
          </a:stretch>
        </p:blipFill>
        <p:spPr>
          <a:xfrm>
            <a:off x="8595360" y="5605272"/>
            <a:ext cx="624230" cy="292608"/>
          </a:xfrm>
          <a:prstGeom prst="rect">
            <a:avLst/>
          </a:prstGeom>
        </p:spPr>
      </p:pic>
      <p:pic>
        <p:nvPicPr>
          <p:cNvPr id="64" name="Image 1" descr="Prediction: the same Khmer words written without a space"/>
          <p:cNvPicPr>
            <a:picLocks noChangeAspect="1"/>
          </p:cNvPicPr>
          <p:nvPr/>
        </p:nvPicPr>
        <p:blipFill>
          <a:blip r:embed="rId5"/>
          <a:stretch>
            <a:fillRect/>
          </a:stretch>
        </p:blipFill>
        <p:spPr>
          <a:xfrm>
            <a:off x="8595360" y="5943600"/>
            <a:ext cx="526694" cy="292608"/>
          </a:xfrm>
          <a:prstGeom prst="rect">
            <a:avLst/>
          </a:prstGeom>
        </p:spPr>
      </p:pic>
      <p:sp>
        <p:nvSpPr>
          <p:cNvPr id="65" name="Text 61"/>
          <p:cNvSpPr txBox="1"/>
          <p:nvPr/>
        </p:nvSpPr>
        <p:spPr>
          <a:xfrm>
            <a:off x="9692640" y="5605272"/>
            <a:ext cx="1874520" cy="630936"/>
          </a:xfrm>
          <a:prstGeom prst="rect">
            <a:avLst/>
          </a:prstGeom>
          <a:noFill/>
          <a:ln/>
        </p:spPr>
        <p:txBody>
          <a:bodyPr wrap="square" lIns="0" tIns="0" rIns="0" bIns="0" rtlCol="0" anchor="ctr"/>
          <a:lstStyle/>
          <a:p>
            <a:pPr marL="0" indent="0">
              <a:spcAft>
                <a:spcPts val="600"/>
              </a:spcAft>
              <a:buNone/>
            </a:pPr>
            <a:r>
              <a:rPr lang="en-US" sz="1200" dirty="0">
                <a:solidFill>
                  <a:schemeClr val="tx1"/>
                </a:solidFill>
              </a:rPr>
              <a:t>CER = 1/9 = 11.1%</a:t>
            </a:r>
            <a:endParaRPr lang="en-US" sz="1200" dirty="0"/>
          </a:p>
          <a:p>
            <a:pPr marL="0" indent="0">
              <a:spcAft>
                <a:spcPts val="600"/>
              </a:spcAft>
              <a:buNone/>
            </a:pPr>
            <a:r>
              <a:rPr lang="en-US" sz="1200" b="1" dirty="0">
                <a:solidFill>
                  <a:schemeClr val="tx2"/>
                </a:solidFill>
              </a:rPr>
              <a:t>No spaces: 0%</a:t>
            </a:r>
            <a:endParaRPr lang="en-US" sz="1200" dirty="0"/>
          </a:p>
        </p:txBody>
      </p:sp>
      <p:sp>
        <p:nvSpPr>
          <p:cNvPr id="66"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b="1" dirty="0">
                <a:solidFill>
                  <a:schemeClr val="accent3"/>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how we chose the best checkpoint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11</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11. Main results</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Fine-tuning reduced error on unseen speakers</a:t>
            </a:r>
            <a:endParaRPr lang="en-US" sz="3200" dirty="0"/>
          </a:p>
          <a:p>
            <a:pPr marL="0" indent="0" algn="l">
              <a:buNone/>
            </a:pPr>
            <a:r>
              <a:rPr lang="en-US" sz="3200" b="1" dirty="0">
                <a:solidFill>
                  <a:schemeClr val="tx2"/>
                </a:solidFill>
                <a:latin typeface="Calibri" pitchFamily="34" charset="0"/>
                <a:ea typeface="Calibri" pitchFamily="34" charset="-122"/>
                <a:cs typeface="Calibri" pitchFamily="34" charset="-120"/>
              </a:rPr>
              <a:t>from 147.6% to </a:t>
            </a:r>
            <a:r>
              <a:rPr lang="en-US" sz="3200" b="1" dirty="0">
                <a:solidFill>
                  <a:schemeClr val="accent3"/>
                </a:solidFill>
                <a:latin typeface="Calibri" pitchFamily="34" charset="0"/>
                <a:ea typeface="Calibri" pitchFamily="34" charset="-122"/>
                <a:cs typeface="Calibri" pitchFamily="34" charset="-120"/>
              </a:rPr>
              <a:t>18.9%</a:t>
            </a:r>
            <a:endParaRPr lang="en-US" sz="3200" dirty="0"/>
          </a:p>
        </p:txBody>
      </p:sp>
      <p:graphicFrame>
        <p:nvGraphicFramePr>
          <p:cNvPr id="7" name="DDD_TEST results chart"/>
          <p:cNvGraphicFramePr/>
          <p:nvPr/>
        </p:nvGraphicFramePr>
        <p:xfrm>
          <a:off x="457200" y="1874520"/>
          <a:ext cx="70408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48640" y="5989320"/>
            <a:ext cx="6949440" cy="274320"/>
          </a:xfrm>
          <a:prstGeom prst="rect">
            <a:avLst/>
          </a:prstGeom>
          <a:noFill/>
          <a:ln/>
        </p:spPr>
        <p:txBody>
          <a:bodyPr wrap="square" lIns="0" tIns="0" rIns="0" bIns="0" rtlCol="0" anchor="t"/>
          <a:lstStyle/>
          <a:p>
            <a:pPr marL="0" indent="0">
              <a:buNone/>
            </a:pPr>
            <a:r>
              <a:rPr lang="en-US" sz="1200" i="1" dirty="0">
                <a:solidFill>
                  <a:schemeClr val="accent5"/>
                </a:solidFill>
              </a:rPr>
              <a:t>Error rates can exceed 100% when the model produces many extra characters.</a:t>
            </a:r>
            <a:endParaRPr lang="en-US" sz="1200" dirty="0"/>
          </a:p>
        </p:txBody>
      </p:sp>
      <p:sp>
        <p:nvSpPr>
          <p:cNvPr id="9" name="relative reduction"/>
          <p:cNvSpPr/>
          <p:nvPr/>
        </p:nvSpPr>
        <p:spPr>
          <a:xfrm>
            <a:off x="7863840" y="1965960"/>
            <a:ext cx="3776472" cy="1600200"/>
          </a:xfrm>
          <a:prstGeom prst="roundRect">
            <a:avLst>
              <a:gd name="adj" fmla="val 4571"/>
            </a:avLst>
          </a:prstGeom>
          <a:solidFill>
            <a:schemeClr val="accent3"/>
          </a:solidFill>
          <a:ln w="12700">
            <a:solidFill>
              <a:schemeClr val="accent3"/>
            </a:solidFill>
            <a:prstDash val="solid"/>
          </a:ln>
        </p:spPr>
        <p:txBody>
          <a:bodyPr/>
          <a:lstStyle/>
          <a:p>
            <a:endParaRPr lang="en-US"/>
          </a:p>
        </p:txBody>
      </p:sp>
      <p:sp>
        <p:nvSpPr>
          <p:cNvPr id="10" name="Text 7"/>
          <p:cNvSpPr txBox="1"/>
          <p:nvPr/>
        </p:nvSpPr>
        <p:spPr>
          <a:xfrm>
            <a:off x="8138160" y="2011680"/>
            <a:ext cx="3291840" cy="822960"/>
          </a:xfrm>
          <a:prstGeom prst="rect">
            <a:avLst/>
          </a:prstGeom>
          <a:noFill/>
          <a:ln/>
        </p:spPr>
        <p:txBody>
          <a:bodyPr wrap="square" lIns="0" tIns="0" rIns="0" bIns="0" rtlCol="0" anchor="t"/>
          <a:lstStyle/>
          <a:p>
            <a:pPr marL="0" indent="0">
              <a:buNone/>
            </a:pPr>
            <a:r>
              <a:rPr lang="en-US" sz="5400" b="1" dirty="0">
                <a:solidFill>
                  <a:schemeClr val="bg1"/>
                </a:solidFill>
              </a:rPr>
              <a:t>~87%</a:t>
            </a:r>
            <a:endParaRPr lang="en-US" sz="5400" dirty="0"/>
          </a:p>
        </p:txBody>
      </p:sp>
      <p:sp>
        <p:nvSpPr>
          <p:cNvPr id="11" name="Text 8"/>
          <p:cNvSpPr txBox="1"/>
          <p:nvPr/>
        </p:nvSpPr>
        <p:spPr>
          <a:xfrm>
            <a:off x="8138160" y="2816352"/>
            <a:ext cx="3383280" cy="640080"/>
          </a:xfrm>
          <a:prstGeom prst="rect">
            <a:avLst/>
          </a:prstGeom>
          <a:noFill/>
          <a:ln/>
        </p:spPr>
        <p:txBody>
          <a:bodyPr wrap="square" lIns="0" tIns="0" rIns="0" bIns="0" rtlCol="0" anchor="t"/>
          <a:lstStyle/>
          <a:p>
            <a:pPr marL="0" indent="0">
              <a:buNone/>
            </a:pPr>
            <a:r>
              <a:rPr lang="en-US" sz="1400" b="1" dirty="0">
                <a:solidFill>
                  <a:schemeClr val="bg1"/>
                </a:solidFill>
              </a:rPr>
              <a:t>relative error reduction</a:t>
            </a:r>
            <a:endParaRPr lang="en-US" sz="1400" dirty="0"/>
          </a:p>
          <a:p>
            <a:pPr marL="0" indent="0">
              <a:buNone/>
            </a:pPr>
            <a:r>
              <a:rPr lang="en-US" sz="1400" dirty="0">
                <a:solidFill>
                  <a:schemeClr val="bg1"/>
                </a:solidFill>
              </a:rPr>
              <a:t>Main model vs zero-shot baseline</a:t>
            </a:r>
            <a:endParaRPr lang="en-US" sz="1400" dirty="0"/>
          </a:p>
        </p:txBody>
      </p:sp>
      <p:sp>
        <p:nvSpPr>
          <p:cNvPr id="12" name="in-domain test result"/>
          <p:cNvSpPr/>
          <p:nvPr/>
        </p:nvSpPr>
        <p:spPr>
          <a:xfrm>
            <a:off x="7863840" y="3749040"/>
            <a:ext cx="3776472" cy="1188720"/>
          </a:xfrm>
          <a:prstGeom prst="roundRect">
            <a:avLst>
              <a:gd name="adj" fmla="val 6154"/>
            </a:avLst>
          </a:prstGeom>
          <a:solidFill>
            <a:schemeClr val="bg2"/>
          </a:solidFill>
          <a:ln w="12700">
            <a:solidFill>
              <a:schemeClr val="bg2"/>
            </a:solidFill>
            <a:prstDash val="solid"/>
          </a:ln>
        </p:spPr>
        <p:txBody>
          <a:bodyPr/>
          <a:lstStyle/>
          <a:p>
            <a:endParaRPr lang="en-US"/>
          </a:p>
        </p:txBody>
      </p:sp>
      <p:sp>
        <p:nvSpPr>
          <p:cNvPr id="13" name="Text 10"/>
          <p:cNvSpPr txBox="1"/>
          <p:nvPr/>
        </p:nvSpPr>
        <p:spPr>
          <a:xfrm>
            <a:off x="8092440" y="3822192"/>
            <a:ext cx="3383280" cy="274320"/>
          </a:xfrm>
          <a:prstGeom prst="rect">
            <a:avLst/>
          </a:prstGeom>
          <a:noFill/>
          <a:ln/>
        </p:spPr>
        <p:txBody>
          <a:bodyPr wrap="square" lIns="0" tIns="0" rIns="0" bIns="0" rtlCol="0" anchor="t"/>
          <a:lstStyle/>
          <a:p>
            <a:pPr marL="0" indent="0">
              <a:buNone/>
            </a:pPr>
            <a:r>
              <a:rPr lang="en-US" sz="1200" b="1" dirty="0">
                <a:solidFill>
                  <a:schemeClr val="accent5"/>
                </a:solidFill>
              </a:rPr>
              <a:t>In-domain test set, CER without spaces</a:t>
            </a:r>
            <a:endParaRPr lang="en-US" sz="1200" dirty="0"/>
          </a:p>
        </p:txBody>
      </p:sp>
      <p:sp>
        <p:nvSpPr>
          <p:cNvPr id="14" name="Text 11"/>
          <p:cNvSpPr txBox="1"/>
          <p:nvPr/>
        </p:nvSpPr>
        <p:spPr>
          <a:xfrm>
            <a:off x="8092440" y="4087368"/>
            <a:ext cx="3383280" cy="457200"/>
          </a:xfrm>
          <a:prstGeom prst="rect">
            <a:avLst/>
          </a:prstGeom>
          <a:noFill/>
          <a:ln/>
        </p:spPr>
        <p:txBody>
          <a:bodyPr wrap="square" lIns="0" tIns="0" rIns="0" bIns="0" rtlCol="0" anchor="ctr"/>
          <a:lstStyle/>
          <a:p>
            <a:pPr marL="0" indent="0">
              <a:buNone/>
            </a:pPr>
            <a:r>
              <a:rPr lang="en-US" sz="1500" dirty="0">
                <a:solidFill>
                  <a:schemeClr val="tx1"/>
                </a:solidFill>
              </a:rPr>
              <a:t>Main model  </a:t>
            </a:r>
            <a:r>
              <a:rPr lang="en-US" sz="2400" b="1" dirty="0">
                <a:solidFill>
                  <a:schemeClr val="tx2"/>
                </a:solidFill>
              </a:rPr>
              <a:t>24.9%</a:t>
            </a:r>
            <a:endParaRPr lang="en-US" sz="1500" dirty="0"/>
          </a:p>
        </p:txBody>
      </p:sp>
      <p:sp>
        <p:nvSpPr>
          <p:cNvPr id="15" name="Text 12"/>
          <p:cNvSpPr txBox="1"/>
          <p:nvPr/>
        </p:nvSpPr>
        <p:spPr>
          <a:xfrm>
            <a:off x="8092440" y="4553712"/>
            <a:ext cx="3383280" cy="274320"/>
          </a:xfrm>
          <a:prstGeom prst="rect">
            <a:avLst/>
          </a:prstGeom>
          <a:noFill/>
          <a:ln/>
        </p:spPr>
        <p:txBody>
          <a:bodyPr wrap="square" lIns="0" tIns="0" rIns="0" bIns="0" rtlCol="0" anchor="t"/>
          <a:lstStyle/>
          <a:p>
            <a:pPr marL="0" indent="0">
              <a:buNone/>
            </a:pPr>
            <a:r>
              <a:rPr lang="en-US" sz="1200" dirty="0">
                <a:solidFill>
                  <a:schemeClr val="accent5"/>
                </a:solidFill>
              </a:rPr>
              <a:t>Baseline 383.1%,  Ablation 59.1%</a:t>
            </a:r>
            <a:endParaRPr lang="en-US" sz="1200" dirty="0"/>
          </a:p>
        </p:txBody>
      </p:sp>
      <p:sp>
        <p:nvSpPr>
          <p:cNvPr id="16" name="Text 13"/>
          <p:cNvSpPr txBox="1"/>
          <p:nvPr/>
        </p:nvSpPr>
        <p:spPr>
          <a:xfrm>
            <a:off x="7863840" y="5074920"/>
            <a:ext cx="3776472" cy="1188720"/>
          </a:xfrm>
          <a:prstGeom prst="rect">
            <a:avLst/>
          </a:prstGeom>
          <a:noFill/>
          <a:ln/>
        </p:spPr>
        <p:txBody>
          <a:bodyPr wrap="square" lIns="0" tIns="0" rIns="0" bIns="0" rtlCol="0" anchor="t"/>
          <a:lstStyle/>
          <a:p>
            <a:pPr marL="0" indent="0">
              <a:buNone/>
            </a:pPr>
            <a:r>
              <a:rPr lang="en-US" sz="1200" b="1" dirty="0">
                <a:solidFill>
                  <a:schemeClr val="tx2"/>
                </a:solidFill>
              </a:rPr>
              <a:t>vs the ablation: </a:t>
            </a:r>
            <a:r>
              <a:rPr lang="en-US" sz="1200" dirty="0">
                <a:solidFill>
                  <a:schemeClr val="tx1"/>
                </a:solidFill>
              </a:rPr>
              <a:t>58% less error on test, 52% less on unseen speakers.</a:t>
            </a:r>
            <a:endParaRPr lang="en-US" sz="1200" dirty="0"/>
          </a:p>
          <a:p>
            <a:pPr marL="0" indent="0">
              <a:buNone/>
            </a:pPr>
            <a:r>
              <a:rPr lang="en-US" sz="1200" i="1" dirty="0">
                <a:solidFill>
                  <a:schemeClr val="tx1"/>
                </a:solidFill>
              </a:rPr>
              <a:t>The results suggest that broader Khmer training improves generalization, although the ablation model also received fewer training steps.</a:t>
            </a:r>
            <a:endParaRPr lang="en-US" sz="12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b="1" dirty="0">
                <a:solidFill>
                  <a:schemeClr val="accent3"/>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what the remaining errors look like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12</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12. Validation and best checkpoint</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Validation selected </a:t>
            </a:r>
            <a:r>
              <a:rPr lang="en-US" sz="3200" b="1" dirty="0">
                <a:solidFill>
                  <a:schemeClr val="accent3"/>
                </a:solidFill>
                <a:latin typeface="Calibri" pitchFamily="34" charset="0"/>
                <a:ea typeface="Calibri" pitchFamily="34" charset="-122"/>
                <a:cs typeface="Calibri" pitchFamily="34" charset="-120"/>
              </a:rPr>
              <a:t>step 3,000</a:t>
            </a:r>
            <a:r>
              <a:rPr lang="en-US" sz="3200" b="1" dirty="0">
                <a:solidFill>
                  <a:schemeClr val="tx2"/>
                </a:solidFill>
                <a:latin typeface="Calibri" pitchFamily="34" charset="0"/>
                <a:ea typeface="Calibri" pitchFamily="34" charset="-122"/>
                <a:cs typeface="Calibri" pitchFamily="34" charset="-120"/>
              </a:rPr>
              <a:t> as the best checkpoint</a:t>
            </a:r>
            <a:endParaRPr lang="en-US" sz="3200" dirty="0"/>
          </a:p>
        </p:txBody>
      </p:sp>
      <p:graphicFrame>
        <p:nvGraphicFramePr>
          <p:cNvPr id="7" name="validation chart"/>
          <p:cNvGraphicFramePr/>
          <p:nvPr/>
        </p:nvGraphicFramePr>
        <p:xfrm>
          <a:off x="457200" y="1691640"/>
          <a:ext cx="69494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8" name="best checkpoint callout"/>
          <p:cNvSpPr/>
          <p:nvPr/>
        </p:nvSpPr>
        <p:spPr>
          <a:xfrm>
            <a:off x="5532120" y="3840480"/>
            <a:ext cx="1737360" cy="384048"/>
          </a:xfrm>
          <a:prstGeom prst="roundRect">
            <a:avLst>
              <a:gd name="adj" fmla="val 50000"/>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5532120" y="3840480"/>
            <a:ext cx="1737360" cy="384048"/>
          </a:xfrm>
          <a:prstGeom prst="rect">
            <a:avLst/>
          </a:prstGeom>
          <a:noFill/>
          <a:ln/>
        </p:spPr>
        <p:txBody>
          <a:bodyPr wrap="square" lIns="0" tIns="0" rIns="0" bIns="0" rtlCol="0" anchor="ctr"/>
          <a:lstStyle/>
          <a:p>
            <a:pPr marL="0" indent="0" algn="ctr">
              <a:buNone/>
            </a:pPr>
            <a:r>
              <a:rPr lang="en-US" sz="1300" b="1" dirty="0">
                <a:solidFill>
                  <a:schemeClr val="bg1"/>
                </a:solidFill>
              </a:rPr>
              <a:t>Best checkpoint</a:t>
            </a:r>
            <a:endParaRPr lang="en-US" sz="1300" dirty="0"/>
          </a:p>
        </p:txBody>
      </p:sp>
      <p:sp>
        <p:nvSpPr>
          <p:cNvPr id="10" name="Text 7"/>
          <p:cNvSpPr txBox="1"/>
          <p:nvPr/>
        </p:nvSpPr>
        <p:spPr>
          <a:xfrm>
            <a:off x="548640" y="5669280"/>
            <a:ext cx="6858000" cy="457200"/>
          </a:xfrm>
          <a:prstGeom prst="rect">
            <a:avLst/>
          </a:prstGeom>
          <a:noFill/>
          <a:ln/>
        </p:spPr>
        <p:txBody>
          <a:bodyPr wrap="square" lIns="0" tIns="0" rIns="0" bIns="0" rtlCol="0" anchor="t"/>
          <a:lstStyle/>
          <a:p>
            <a:pPr marL="0" indent="0">
              <a:buNone/>
            </a:pPr>
            <a:r>
              <a:rPr lang="en-US" sz="1300" dirty="0">
                <a:solidFill>
                  <a:schemeClr val="tx1"/>
                </a:solidFill>
              </a:rPr>
              <a:t>Best: step 3,000 (epoch 4.6). The gains shrank each time, so 5 epochs was about right.</a:t>
            </a:r>
            <a:endParaRPr lang="en-US" sz="1300" dirty="0"/>
          </a:p>
        </p:txBody>
      </p:sp>
      <p:sp>
        <p:nvSpPr>
          <p:cNvPr id="12" name="Text 8"/>
          <p:cNvSpPr txBox="1"/>
          <p:nvPr/>
        </p:nvSpPr>
        <p:spPr>
          <a:xfrm>
            <a:off x="7772400" y="1719072"/>
            <a:ext cx="3840480" cy="320040"/>
          </a:xfrm>
          <a:prstGeom prst="rect">
            <a:avLst/>
          </a:prstGeom>
          <a:noFill/>
          <a:ln/>
        </p:spPr>
        <p:txBody>
          <a:bodyPr wrap="square" lIns="0" tIns="0" rIns="0" bIns="0" rtlCol="0" anchor="t"/>
          <a:lstStyle/>
          <a:p>
            <a:pPr marL="0" indent="0">
              <a:buNone/>
            </a:pPr>
            <a:r>
              <a:rPr lang="en-US" sz="1500" b="1" dirty="0">
                <a:solidFill>
                  <a:schemeClr val="tx2"/>
                </a:solidFill>
              </a:rPr>
              <a:t>Same model, three different data splits</a:t>
            </a:r>
            <a:endParaRPr lang="en-US" sz="1500" dirty="0"/>
          </a:p>
        </p:txBody>
      </p:sp>
      <p:sp>
        <p:nvSpPr>
          <p:cNvPr id="13" name="Validation split card"/>
          <p:cNvSpPr/>
          <p:nvPr/>
        </p:nvSpPr>
        <p:spPr>
          <a:xfrm>
            <a:off x="7772400" y="2103120"/>
            <a:ext cx="3867912" cy="1161288"/>
          </a:xfrm>
          <a:prstGeom prst="roundRect">
            <a:avLst>
              <a:gd name="adj" fmla="val 6299"/>
            </a:avLst>
          </a:prstGeom>
          <a:solidFill>
            <a:schemeClr val="accent3"/>
          </a:solidFill>
          <a:ln w="12700">
            <a:solidFill>
              <a:schemeClr val="accent3"/>
            </a:solidFill>
            <a:prstDash val="solid"/>
          </a:ln>
        </p:spPr>
        <p:txBody>
          <a:bodyPr/>
          <a:lstStyle/>
          <a:p>
            <a:endParaRPr lang="en-US"/>
          </a:p>
        </p:txBody>
      </p:sp>
      <p:sp>
        <p:nvSpPr>
          <p:cNvPr id="14" name="Text 10"/>
          <p:cNvSpPr txBox="1"/>
          <p:nvPr/>
        </p:nvSpPr>
        <p:spPr>
          <a:xfrm>
            <a:off x="8001000" y="2212848"/>
            <a:ext cx="2011680" cy="274320"/>
          </a:xfrm>
          <a:prstGeom prst="rect">
            <a:avLst/>
          </a:prstGeom>
          <a:noFill/>
          <a:ln/>
        </p:spPr>
        <p:txBody>
          <a:bodyPr wrap="square" lIns="0" tIns="0" rIns="0" bIns="0" rtlCol="0" anchor="t"/>
          <a:lstStyle/>
          <a:p>
            <a:pPr marL="0" indent="0">
              <a:buNone/>
            </a:pPr>
            <a:r>
              <a:rPr lang="en-US" sz="1300" b="1" dirty="0">
                <a:solidFill>
                  <a:schemeClr val="bg1"/>
                </a:solidFill>
              </a:rPr>
              <a:t>Validation split</a:t>
            </a:r>
            <a:endParaRPr lang="en-US" sz="1300" dirty="0"/>
          </a:p>
        </p:txBody>
      </p:sp>
      <p:sp>
        <p:nvSpPr>
          <p:cNvPr id="15" name="Text 11"/>
          <p:cNvSpPr txBox="1"/>
          <p:nvPr/>
        </p:nvSpPr>
        <p:spPr>
          <a:xfrm>
            <a:off x="9692640" y="2148840"/>
            <a:ext cx="1783080" cy="548640"/>
          </a:xfrm>
          <a:prstGeom prst="rect">
            <a:avLst/>
          </a:prstGeom>
          <a:noFill/>
          <a:ln/>
        </p:spPr>
        <p:txBody>
          <a:bodyPr wrap="square" lIns="0" tIns="0" rIns="0" bIns="0" rtlCol="0" anchor="t"/>
          <a:lstStyle/>
          <a:p>
            <a:pPr marL="0" indent="0" algn="r">
              <a:buNone/>
            </a:pPr>
            <a:r>
              <a:rPr lang="en-US" sz="2800" b="1" dirty="0">
                <a:solidFill>
                  <a:schemeClr val="bg1"/>
                </a:solidFill>
              </a:rPr>
              <a:t>22.6%</a:t>
            </a:r>
            <a:endParaRPr lang="en-US" sz="2800" dirty="0"/>
          </a:p>
        </p:txBody>
      </p:sp>
      <p:sp>
        <p:nvSpPr>
          <p:cNvPr id="16" name="Text 12"/>
          <p:cNvSpPr txBox="1"/>
          <p:nvPr/>
        </p:nvSpPr>
        <p:spPr>
          <a:xfrm>
            <a:off x="8001000" y="2670048"/>
            <a:ext cx="3474720" cy="502920"/>
          </a:xfrm>
          <a:prstGeom prst="rect">
            <a:avLst/>
          </a:prstGeom>
          <a:noFill/>
          <a:ln/>
        </p:spPr>
        <p:txBody>
          <a:bodyPr wrap="square" lIns="0" tIns="0" rIns="0" bIns="0" rtlCol="0" anchor="t"/>
          <a:lstStyle/>
          <a:p>
            <a:pPr marL="0" indent="0">
              <a:buNone/>
            </a:pPr>
            <a:r>
              <a:rPr lang="en-US" sz="1300" dirty="0">
                <a:solidFill>
                  <a:schemeClr val="bg1"/>
                </a:solidFill>
              </a:rPr>
              <a:t>Used for model selection (best checkpoint, step 3,000)</a:t>
            </a:r>
            <a:endParaRPr lang="en-US" sz="1300" dirty="0"/>
          </a:p>
        </p:txBody>
      </p:sp>
      <p:sp>
        <p:nvSpPr>
          <p:cNvPr id="17" name="Test split card"/>
          <p:cNvSpPr/>
          <p:nvPr/>
        </p:nvSpPr>
        <p:spPr>
          <a:xfrm>
            <a:off x="7772400" y="3401568"/>
            <a:ext cx="3867912" cy="1161288"/>
          </a:xfrm>
          <a:prstGeom prst="roundRect">
            <a:avLst>
              <a:gd name="adj" fmla="val 6299"/>
            </a:avLst>
          </a:prstGeom>
          <a:solidFill>
            <a:schemeClr val="accent5"/>
          </a:solidFill>
          <a:ln w="12700">
            <a:solidFill>
              <a:schemeClr val="accent5"/>
            </a:solidFill>
            <a:prstDash val="solid"/>
          </a:ln>
        </p:spPr>
        <p:txBody>
          <a:bodyPr/>
          <a:lstStyle/>
          <a:p>
            <a:endParaRPr lang="en-US"/>
          </a:p>
        </p:txBody>
      </p:sp>
      <p:sp>
        <p:nvSpPr>
          <p:cNvPr id="18" name="Text 14"/>
          <p:cNvSpPr txBox="1"/>
          <p:nvPr/>
        </p:nvSpPr>
        <p:spPr>
          <a:xfrm>
            <a:off x="8001000" y="3511296"/>
            <a:ext cx="2011680" cy="274320"/>
          </a:xfrm>
          <a:prstGeom prst="rect">
            <a:avLst/>
          </a:prstGeom>
          <a:noFill/>
          <a:ln/>
        </p:spPr>
        <p:txBody>
          <a:bodyPr wrap="square" lIns="0" tIns="0" rIns="0" bIns="0" rtlCol="0" anchor="t"/>
          <a:lstStyle/>
          <a:p>
            <a:pPr marL="0" indent="0">
              <a:buNone/>
            </a:pPr>
            <a:r>
              <a:rPr lang="en-US" sz="1300" b="1" dirty="0">
                <a:solidFill>
                  <a:schemeClr val="bg1"/>
                </a:solidFill>
              </a:rPr>
              <a:t>Test split</a:t>
            </a:r>
            <a:endParaRPr lang="en-US" sz="1300" dirty="0"/>
          </a:p>
        </p:txBody>
      </p:sp>
      <p:sp>
        <p:nvSpPr>
          <p:cNvPr id="19" name="Text 15"/>
          <p:cNvSpPr txBox="1"/>
          <p:nvPr/>
        </p:nvSpPr>
        <p:spPr>
          <a:xfrm>
            <a:off x="9692640" y="3447288"/>
            <a:ext cx="1783080" cy="548640"/>
          </a:xfrm>
          <a:prstGeom prst="rect">
            <a:avLst/>
          </a:prstGeom>
          <a:noFill/>
          <a:ln/>
        </p:spPr>
        <p:txBody>
          <a:bodyPr wrap="square" lIns="0" tIns="0" rIns="0" bIns="0" rtlCol="0" anchor="t"/>
          <a:lstStyle/>
          <a:p>
            <a:pPr marL="0" indent="0" algn="r">
              <a:buNone/>
            </a:pPr>
            <a:r>
              <a:rPr lang="en-US" sz="2800" b="1" dirty="0">
                <a:solidFill>
                  <a:schemeClr val="bg1"/>
                </a:solidFill>
              </a:rPr>
              <a:t>24.9%</a:t>
            </a:r>
            <a:endParaRPr lang="en-US" sz="2800" dirty="0"/>
          </a:p>
        </p:txBody>
      </p:sp>
      <p:sp>
        <p:nvSpPr>
          <p:cNvPr id="20" name="Text 16"/>
          <p:cNvSpPr txBox="1"/>
          <p:nvPr/>
        </p:nvSpPr>
        <p:spPr>
          <a:xfrm>
            <a:off x="8001000" y="3968496"/>
            <a:ext cx="3474720" cy="502920"/>
          </a:xfrm>
          <a:prstGeom prst="rect">
            <a:avLst/>
          </a:prstGeom>
          <a:noFill/>
          <a:ln/>
        </p:spPr>
        <p:txBody>
          <a:bodyPr wrap="square" lIns="0" tIns="0" rIns="0" bIns="0" rtlCol="0" anchor="t"/>
          <a:lstStyle/>
          <a:p>
            <a:pPr marL="0" indent="0">
              <a:buNone/>
            </a:pPr>
            <a:r>
              <a:rPr lang="en-US" sz="1300" dirty="0">
                <a:solidFill>
                  <a:schemeClr val="bg1"/>
                </a:solidFill>
              </a:rPr>
              <a:t>Final in-domain evaluation</a:t>
            </a:r>
            <a:endParaRPr lang="en-US" sz="1300" dirty="0"/>
          </a:p>
        </p:txBody>
      </p:sp>
      <p:sp>
        <p:nvSpPr>
          <p:cNvPr id="21" name="DDD_TEST card"/>
          <p:cNvSpPr/>
          <p:nvPr/>
        </p:nvSpPr>
        <p:spPr>
          <a:xfrm>
            <a:off x="7772400" y="4700016"/>
            <a:ext cx="3867912" cy="1161288"/>
          </a:xfrm>
          <a:prstGeom prst="roundRect">
            <a:avLst>
              <a:gd name="adj" fmla="val 6299"/>
            </a:avLst>
          </a:prstGeom>
          <a:solidFill>
            <a:schemeClr val="accent2"/>
          </a:solidFill>
          <a:ln w="12700">
            <a:solidFill>
              <a:schemeClr val="accent2"/>
            </a:solidFill>
            <a:prstDash val="solid"/>
          </a:ln>
        </p:spPr>
        <p:txBody>
          <a:bodyPr/>
          <a:lstStyle/>
          <a:p>
            <a:endParaRPr lang="en-US"/>
          </a:p>
        </p:txBody>
      </p:sp>
      <p:sp>
        <p:nvSpPr>
          <p:cNvPr id="22" name="Text 18"/>
          <p:cNvSpPr txBox="1"/>
          <p:nvPr/>
        </p:nvSpPr>
        <p:spPr>
          <a:xfrm>
            <a:off x="8001000" y="4809744"/>
            <a:ext cx="2011680" cy="274320"/>
          </a:xfrm>
          <a:prstGeom prst="rect">
            <a:avLst/>
          </a:prstGeom>
          <a:noFill/>
          <a:ln/>
        </p:spPr>
        <p:txBody>
          <a:bodyPr wrap="square" lIns="0" tIns="0" rIns="0" bIns="0" rtlCol="0" anchor="t"/>
          <a:lstStyle/>
          <a:p>
            <a:pPr marL="0" indent="0">
              <a:buNone/>
            </a:pPr>
            <a:r>
              <a:rPr lang="en-US" sz="1300" b="1" dirty="0">
                <a:solidFill>
                  <a:schemeClr val="tx2"/>
                </a:solidFill>
              </a:rPr>
              <a:t>DDD_TEST</a:t>
            </a:r>
            <a:endParaRPr lang="en-US" sz="1300" dirty="0"/>
          </a:p>
        </p:txBody>
      </p:sp>
      <p:sp>
        <p:nvSpPr>
          <p:cNvPr id="23" name="Text 19"/>
          <p:cNvSpPr txBox="1"/>
          <p:nvPr/>
        </p:nvSpPr>
        <p:spPr>
          <a:xfrm>
            <a:off x="9692640" y="4745736"/>
            <a:ext cx="1783080" cy="548640"/>
          </a:xfrm>
          <a:prstGeom prst="rect">
            <a:avLst/>
          </a:prstGeom>
          <a:noFill/>
          <a:ln/>
        </p:spPr>
        <p:txBody>
          <a:bodyPr wrap="square" lIns="0" tIns="0" rIns="0" bIns="0" rtlCol="0" anchor="t"/>
          <a:lstStyle/>
          <a:p>
            <a:pPr marL="0" indent="0" algn="r">
              <a:buNone/>
            </a:pPr>
            <a:r>
              <a:rPr lang="en-US" sz="2800" b="1" dirty="0">
                <a:solidFill>
                  <a:schemeClr val="tx2"/>
                </a:solidFill>
              </a:rPr>
              <a:t>18.9%</a:t>
            </a:r>
            <a:endParaRPr lang="en-US" sz="2800" dirty="0"/>
          </a:p>
        </p:txBody>
      </p:sp>
      <p:sp>
        <p:nvSpPr>
          <p:cNvPr id="24" name="Text 20"/>
          <p:cNvSpPr txBox="1"/>
          <p:nvPr/>
        </p:nvSpPr>
        <p:spPr>
          <a:xfrm>
            <a:off x="8001000" y="5266944"/>
            <a:ext cx="3474720" cy="502920"/>
          </a:xfrm>
          <a:prstGeom prst="rect">
            <a:avLst/>
          </a:prstGeom>
          <a:noFill/>
          <a:ln/>
        </p:spPr>
        <p:txBody>
          <a:bodyPr wrap="square" lIns="0" tIns="0" rIns="0" bIns="0" rtlCol="0" anchor="t"/>
          <a:lstStyle/>
          <a:p>
            <a:pPr marL="0" indent="0">
              <a:buNone/>
            </a:pPr>
            <a:r>
              <a:rPr lang="en-US" sz="1300" dirty="0">
                <a:solidFill>
                  <a:schemeClr val="tx2"/>
                </a:solidFill>
              </a:rPr>
              <a:t>Out-of-domain generalization evaluation</a:t>
            </a:r>
            <a:endParaRPr lang="en-US" sz="1300" dirty="0"/>
          </a:p>
        </p:txBody>
      </p:sp>
      <p:sp>
        <p:nvSpPr>
          <p:cNvPr id="25" name="Text 21"/>
          <p:cNvSpPr txBox="1"/>
          <p:nvPr/>
        </p:nvSpPr>
        <p:spPr>
          <a:xfrm>
            <a:off x="7772400" y="5961888"/>
            <a:ext cx="3867912" cy="365760"/>
          </a:xfrm>
          <a:prstGeom prst="rect">
            <a:avLst/>
          </a:prstGeom>
          <a:noFill/>
          <a:ln/>
        </p:spPr>
        <p:txBody>
          <a:bodyPr wrap="square" lIns="0" tIns="0" rIns="0" bIns="0" rtlCol="0" anchor="t"/>
          <a:lstStyle/>
          <a:p>
            <a:pPr marL="0" indent="0">
              <a:buNone/>
            </a:pPr>
            <a:r>
              <a:rPr lang="en-US" sz="1200" i="1" dirty="0">
                <a:solidFill>
                  <a:schemeClr val="accent5"/>
                </a:solidFill>
              </a:rPr>
              <a:t>All values are CER without spaces. Colors match the splits in section 5.</a:t>
            </a:r>
            <a:endParaRPr lang="en-US" sz="1200" dirty="0"/>
          </a:p>
        </p:txBody>
      </p:sp>
      <p:sp>
        <p:nvSpPr>
          <p:cNvPr id="11"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b="1" dirty="0">
                <a:solidFill>
                  <a:schemeClr val="accent3"/>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what we learned: six insights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13</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13. Error analysis</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Typical mistakes are </a:t>
            </a:r>
            <a:r>
              <a:rPr lang="en-US" sz="3200" b="1" dirty="0">
                <a:solidFill>
                  <a:schemeClr val="accent3"/>
                </a:solidFill>
                <a:latin typeface="Calibri" pitchFamily="34" charset="0"/>
                <a:ea typeface="Calibri" pitchFamily="34" charset="-122"/>
                <a:cs typeface="Calibri" pitchFamily="34" charset="-120"/>
              </a:rPr>
              <a:t>near-miss</a:t>
            </a:r>
            <a:r>
              <a:rPr lang="en-US" sz="3200" b="1" dirty="0">
                <a:solidFill>
                  <a:schemeClr val="tx2"/>
                </a:solidFill>
                <a:latin typeface="Calibri" pitchFamily="34" charset="0"/>
                <a:ea typeface="Calibri" pitchFamily="34" charset="-122"/>
                <a:cs typeface="Calibri" pitchFamily="34" charset="-120"/>
              </a:rPr>
              <a:t> spellings</a:t>
            </a:r>
            <a:endParaRPr lang="en-US" sz="3200" dirty="0"/>
          </a:p>
        </p:txBody>
      </p:sp>
      <p:sp>
        <p:nvSpPr>
          <p:cNvPr id="7" name="example 1"/>
          <p:cNvSpPr/>
          <p:nvPr/>
        </p:nvSpPr>
        <p:spPr>
          <a:xfrm>
            <a:off x="548640" y="1783080"/>
            <a:ext cx="11091672" cy="1051560"/>
          </a:xfrm>
          <a:prstGeom prst="roundRect">
            <a:avLst>
              <a:gd name="adj" fmla="val 6957"/>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777240" y="1947672"/>
            <a:ext cx="2651760" cy="292608"/>
          </a:xfrm>
          <a:prstGeom prst="rect">
            <a:avLst/>
          </a:prstGeom>
          <a:noFill/>
          <a:ln/>
        </p:spPr>
        <p:txBody>
          <a:bodyPr wrap="square" lIns="0" tIns="0" rIns="0" bIns="0" rtlCol="0" anchor="t"/>
          <a:lstStyle/>
          <a:p>
            <a:pPr marL="0" indent="0">
              <a:buNone/>
            </a:pPr>
            <a:r>
              <a:rPr lang="en-US" sz="1500" b="1" dirty="0">
                <a:solidFill>
                  <a:schemeClr val="tx2"/>
                </a:solidFill>
              </a:rPr>
              <a:t>OpenSLR 42</a:t>
            </a:r>
            <a:endParaRPr lang="en-US" sz="1500" dirty="0"/>
          </a:p>
        </p:txBody>
      </p:sp>
      <p:sp>
        <p:nvSpPr>
          <p:cNvPr id="9" name="Text 7"/>
          <p:cNvSpPr txBox="1"/>
          <p:nvPr/>
        </p:nvSpPr>
        <p:spPr>
          <a:xfrm>
            <a:off x="777240" y="2258568"/>
            <a:ext cx="2651760" cy="457200"/>
          </a:xfrm>
          <a:prstGeom prst="rect">
            <a:avLst/>
          </a:prstGeom>
          <a:noFill/>
          <a:ln/>
        </p:spPr>
        <p:txBody>
          <a:bodyPr wrap="square" lIns="0" tIns="0" rIns="0" bIns="0" rtlCol="0" anchor="t"/>
          <a:lstStyle/>
          <a:p>
            <a:pPr marL="0" indent="0">
              <a:buNone/>
            </a:pPr>
            <a:r>
              <a:rPr lang="en-US" sz="1200" dirty="0">
                <a:solidFill>
                  <a:schemeClr val="accent5"/>
                </a:solidFill>
              </a:rPr>
              <a:t>One vowel</a:t>
            </a:r>
            <a:endParaRPr lang="en-US" sz="1200" dirty="0"/>
          </a:p>
        </p:txBody>
      </p:sp>
      <p:sp>
        <p:nvSpPr>
          <p:cNvPr id="10" name="Text 8"/>
          <p:cNvSpPr txBox="1"/>
          <p:nvPr/>
        </p:nvSpPr>
        <p:spPr>
          <a:xfrm>
            <a:off x="3566160" y="1874520"/>
            <a:ext cx="1188720" cy="411480"/>
          </a:xfrm>
          <a:prstGeom prst="rect">
            <a:avLst/>
          </a:prstGeom>
          <a:noFill/>
          <a:ln/>
        </p:spPr>
        <p:txBody>
          <a:bodyPr wrap="square" lIns="0" tIns="0" rIns="0" bIns="0" rtlCol="0" anchor="ctr"/>
          <a:lstStyle/>
          <a:p>
            <a:pPr marL="0" indent="0">
              <a:buNone/>
            </a:pPr>
            <a:r>
              <a:rPr lang="en-US" sz="1200" b="1" dirty="0">
                <a:solidFill>
                  <a:schemeClr val="accent5"/>
                </a:solidFill>
              </a:rPr>
              <a:t>Reference</a:t>
            </a:r>
            <a:endParaRPr lang="en-US" sz="1200" dirty="0"/>
          </a:p>
        </p:txBody>
      </p:sp>
      <p:pic>
        <p:nvPicPr>
          <p:cNvPr id="11" name="Image 0" descr="Reference: សិស្សវិទ្យាល័យទួលទំពូងដេញវាយគ្នាពេញសាលា"/>
          <p:cNvPicPr>
            <a:picLocks noChangeAspect="1"/>
          </p:cNvPicPr>
          <p:nvPr/>
        </p:nvPicPr>
        <p:blipFill>
          <a:blip r:embed="rId3"/>
          <a:stretch>
            <a:fillRect/>
          </a:stretch>
        </p:blipFill>
        <p:spPr>
          <a:xfrm>
            <a:off x="4754880" y="1837944"/>
            <a:ext cx="4058529" cy="457200"/>
          </a:xfrm>
          <a:prstGeom prst="rect">
            <a:avLst/>
          </a:prstGeom>
        </p:spPr>
      </p:pic>
      <p:sp>
        <p:nvSpPr>
          <p:cNvPr id="12" name="Text 9"/>
          <p:cNvSpPr txBox="1"/>
          <p:nvPr/>
        </p:nvSpPr>
        <p:spPr>
          <a:xfrm>
            <a:off x="3566160" y="2331720"/>
            <a:ext cx="1188720" cy="411480"/>
          </a:xfrm>
          <a:prstGeom prst="rect">
            <a:avLst/>
          </a:prstGeom>
          <a:noFill/>
          <a:ln/>
        </p:spPr>
        <p:txBody>
          <a:bodyPr wrap="square" lIns="0" tIns="0" rIns="0" bIns="0" rtlCol="0" anchor="ctr"/>
          <a:lstStyle/>
          <a:p>
            <a:pPr marL="0" indent="0">
              <a:buNone/>
            </a:pPr>
            <a:r>
              <a:rPr lang="en-US" sz="1200" b="1" dirty="0">
                <a:solidFill>
                  <a:schemeClr val="accent5"/>
                </a:solidFill>
              </a:rPr>
              <a:t>Our model</a:t>
            </a:r>
            <a:endParaRPr lang="en-US" sz="1200" dirty="0"/>
          </a:p>
        </p:txBody>
      </p:sp>
      <p:pic>
        <p:nvPicPr>
          <p:cNvPr id="13" name="Image 1" descr="Our model: សិស្សវិទ្យាល័យទួលទំពូងដិញវាយគ្នាពេញសាលា"/>
          <p:cNvPicPr>
            <a:picLocks noChangeAspect="1"/>
          </p:cNvPicPr>
          <p:nvPr/>
        </p:nvPicPr>
        <p:blipFill>
          <a:blip r:embed="rId4"/>
          <a:stretch>
            <a:fillRect/>
          </a:stretch>
        </p:blipFill>
        <p:spPr>
          <a:xfrm>
            <a:off x="4754880" y="2313432"/>
            <a:ext cx="3988191" cy="457200"/>
          </a:xfrm>
          <a:prstGeom prst="rect">
            <a:avLst/>
          </a:prstGeom>
        </p:spPr>
      </p:pic>
      <p:sp>
        <p:nvSpPr>
          <p:cNvPr id="14" name="example 2"/>
          <p:cNvSpPr/>
          <p:nvPr/>
        </p:nvSpPr>
        <p:spPr>
          <a:xfrm>
            <a:off x="548640" y="2971800"/>
            <a:ext cx="11091672" cy="1051560"/>
          </a:xfrm>
          <a:prstGeom prst="roundRect">
            <a:avLst>
              <a:gd name="adj" fmla="val 6957"/>
            </a:avLst>
          </a:prstGeom>
          <a:solidFill>
            <a:schemeClr val="bg1"/>
          </a:solidFill>
          <a:ln w="15875">
            <a:solidFill>
              <a:schemeClr val="accent6"/>
            </a:solidFill>
            <a:prstDash val="solid"/>
          </a:ln>
        </p:spPr>
        <p:txBody>
          <a:bodyPr/>
          <a:lstStyle/>
          <a:p>
            <a:endParaRPr lang="en-US"/>
          </a:p>
        </p:txBody>
      </p:sp>
      <p:sp>
        <p:nvSpPr>
          <p:cNvPr id="15" name="Text 11"/>
          <p:cNvSpPr txBox="1"/>
          <p:nvPr/>
        </p:nvSpPr>
        <p:spPr>
          <a:xfrm>
            <a:off x="777240" y="3136392"/>
            <a:ext cx="2651760" cy="292608"/>
          </a:xfrm>
          <a:prstGeom prst="rect">
            <a:avLst/>
          </a:prstGeom>
          <a:noFill/>
          <a:ln/>
        </p:spPr>
        <p:txBody>
          <a:bodyPr wrap="square" lIns="0" tIns="0" rIns="0" bIns="0" rtlCol="0" anchor="t"/>
          <a:lstStyle/>
          <a:p>
            <a:pPr marL="0" indent="0">
              <a:buNone/>
            </a:pPr>
            <a:r>
              <a:rPr lang="en-US" sz="1500" b="1" dirty="0">
                <a:solidFill>
                  <a:schemeClr val="tx2"/>
                </a:solidFill>
              </a:rPr>
              <a:t>km-speech-corpus</a:t>
            </a:r>
            <a:endParaRPr lang="en-US" sz="1500" dirty="0"/>
          </a:p>
        </p:txBody>
      </p:sp>
      <p:sp>
        <p:nvSpPr>
          <p:cNvPr id="16" name="Text 12"/>
          <p:cNvSpPr txBox="1"/>
          <p:nvPr/>
        </p:nvSpPr>
        <p:spPr>
          <a:xfrm>
            <a:off x="777240" y="3447288"/>
            <a:ext cx="2651760" cy="457200"/>
          </a:xfrm>
          <a:prstGeom prst="rect">
            <a:avLst/>
          </a:prstGeom>
          <a:noFill/>
          <a:ln/>
        </p:spPr>
        <p:txBody>
          <a:bodyPr wrap="square" lIns="0" tIns="0" rIns="0" bIns="0" rtlCol="0" anchor="t"/>
          <a:lstStyle/>
          <a:p>
            <a:pPr marL="0" indent="0">
              <a:buNone/>
            </a:pPr>
            <a:r>
              <a:rPr lang="en-US" sz="1200" dirty="0">
                <a:solidFill>
                  <a:schemeClr val="accent5"/>
                </a:solidFill>
              </a:rPr>
              <a:t>Similar-sounding word (ethnicity → science)</a:t>
            </a:r>
            <a:endParaRPr lang="en-US" sz="1200" dirty="0"/>
          </a:p>
        </p:txBody>
      </p:sp>
      <p:sp>
        <p:nvSpPr>
          <p:cNvPr id="17" name="Text 13"/>
          <p:cNvSpPr txBox="1"/>
          <p:nvPr/>
        </p:nvSpPr>
        <p:spPr>
          <a:xfrm>
            <a:off x="3566160" y="3063240"/>
            <a:ext cx="1188720" cy="411480"/>
          </a:xfrm>
          <a:prstGeom prst="rect">
            <a:avLst/>
          </a:prstGeom>
          <a:noFill/>
          <a:ln/>
        </p:spPr>
        <p:txBody>
          <a:bodyPr wrap="square" lIns="0" tIns="0" rIns="0" bIns="0" rtlCol="0" anchor="ctr"/>
          <a:lstStyle/>
          <a:p>
            <a:pPr marL="0" indent="0">
              <a:buNone/>
            </a:pPr>
            <a:r>
              <a:rPr lang="en-US" sz="1200" b="1" dirty="0">
                <a:solidFill>
                  <a:schemeClr val="accent5"/>
                </a:solidFill>
              </a:rPr>
              <a:t>Reference</a:t>
            </a:r>
            <a:endParaRPr lang="en-US" sz="1200" dirty="0"/>
          </a:p>
        </p:txBody>
      </p:sp>
      <p:pic>
        <p:nvPicPr>
          <p:cNvPr id="18" name="Image 2" descr="Reference: ស្គាល់អត្តសញ្ញាណនៃជាតិសាសន៏របស់ខ្លួន"/>
          <p:cNvPicPr>
            <a:picLocks noChangeAspect="1"/>
          </p:cNvPicPr>
          <p:nvPr/>
        </p:nvPicPr>
        <p:blipFill>
          <a:blip r:embed="rId5"/>
          <a:stretch>
            <a:fillRect/>
          </a:stretch>
        </p:blipFill>
        <p:spPr>
          <a:xfrm>
            <a:off x="4754880" y="3026664"/>
            <a:ext cx="3520440" cy="457200"/>
          </a:xfrm>
          <a:prstGeom prst="rect">
            <a:avLst/>
          </a:prstGeom>
        </p:spPr>
      </p:pic>
      <p:sp>
        <p:nvSpPr>
          <p:cNvPr id="19" name="Text 14"/>
          <p:cNvSpPr txBox="1"/>
          <p:nvPr/>
        </p:nvSpPr>
        <p:spPr>
          <a:xfrm>
            <a:off x="3566160" y="3520440"/>
            <a:ext cx="1188720" cy="411480"/>
          </a:xfrm>
          <a:prstGeom prst="rect">
            <a:avLst/>
          </a:prstGeom>
          <a:noFill/>
          <a:ln/>
        </p:spPr>
        <p:txBody>
          <a:bodyPr wrap="square" lIns="0" tIns="0" rIns="0" bIns="0" rtlCol="0" anchor="ctr"/>
          <a:lstStyle/>
          <a:p>
            <a:pPr marL="0" indent="0">
              <a:buNone/>
            </a:pPr>
            <a:r>
              <a:rPr lang="en-US" sz="1200" b="1" dirty="0">
                <a:solidFill>
                  <a:schemeClr val="accent5"/>
                </a:solidFill>
              </a:rPr>
              <a:t>Our model</a:t>
            </a:r>
            <a:endParaRPr lang="en-US" sz="1200" dirty="0"/>
          </a:p>
        </p:txBody>
      </p:sp>
      <p:pic>
        <p:nvPicPr>
          <p:cNvPr id="20" name="Image 3" descr="Our model: ស្គាល់អត្តសញ្ញាណនៃជាតិសាស្ត្ររបស់ខ្លួន"/>
          <p:cNvPicPr>
            <a:picLocks noChangeAspect="1"/>
          </p:cNvPicPr>
          <p:nvPr/>
        </p:nvPicPr>
        <p:blipFill>
          <a:blip r:embed="rId6"/>
          <a:stretch>
            <a:fillRect/>
          </a:stretch>
        </p:blipFill>
        <p:spPr>
          <a:xfrm>
            <a:off x="4754880" y="3502152"/>
            <a:ext cx="3429000" cy="457200"/>
          </a:xfrm>
          <a:prstGeom prst="rect">
            <a:avLst/>
          </a:prstGeom>
        </p:spPr>
      </p:pic>
      <p:sp>
        <p:nvSpPr>
          <p:cNvPr id="21" name="example 3"/>
          <p:cNvSpPr/>
          <p:nvPr/>
        </p:nvSpPr>
        <p:spPr>
          <a:xfrm>
            <a:off x="548640" y="4160520"/>
            <a:ext cx="11091672" cy="1051560"/>
          </a:xfrm>
          <a:prstGeom prst="roundRect">
            <a:avLst>
              <a:gd name="adj" fmla="val 6957"/>
            </a:avLst>
          </a:prstGeom>
          <a:solidFill>
            <a:schemeClr val="bg2"/>
          </a:solidFill>
          <a:ln w="12700">
            <a:solidFill>
              <a:schemeClr val="bg2"/>
            </a:solidFill>
            <a:prstDash val="solid"/>
          </a:ln>
        </p:spPr>
        <p:txBody>
          <a:bodyPr/>
          <a:lstStyle/>
          <a:p>
            <a:endParaRPr lang="en-US"/>
          </a:p>
        </p:txBody>
      </p:sp>
      <p:sp>
        <p:nvSpPr>
          <p:cNvPr id="22" name="Text 16"/>
          <p:cNvSpPr txBox="1"/>
          <p:nvPr/>
        </p:nvSpPr>
        <p:spPr>
          <a:xfrm>
            <a:off x="777240" y="4325112"/>
            <a:ext cx="2651760" cy="292608"/>
          </a:xfrm>
          <a:prstGeom prst="rect">
            <a:avLst/>
          </a:prstGeom>
          <a:noFill/>
          <a:ln/>
        </p:spPr>
        <p:txBody>
          <a:bodyPr wrap="square" lIns="0" tIns="0" rIns="0" bIns="0" rtlCol="0" anchor="t"/>
          <a:lstStyle/>
          <a:p>
            <a:pPr marL="0" indent="0">
              <a:buNone/>
            </a:pPr>
            <a:r>
              <a:rPr lang="en-US" sz="1500" b="1" dirty="0">
                <a:solidFill>
                  <a:schemeClr val="tx2"/>
                </a:solidFill>
              </a:rPr>
              <a:t>khmer_mpwt_speech</a:t>
            </a:r>
            <a:endParaRPr lang="en-US" sz="1500" dirty="0"/>
          </a:p>
        </p:txBody>
      </p:sp>
      <p:sp>
        <p:nvSpPr>
          <p:cNvPr id="23" name="Text 17"/>
          <p:cNvSpPr txBox="1"/>
          <p:nvPr/>
        </p:nvSpPr>
        <p:spPr>
          <a:xfrm>
            <a:off x="777240" y="4636008"/>
            <a:ext cx="2651760" cy="457200"/>
          </a:xfrm>
          <a:prstGeom prst="rect">
            <a:avLst/>
          </a:prstGeom>
          <a:noFill/>
          <a:ln/>
        </p:spPr>
        <p:txBody>
          <a:bodyPr wrap="square" lIns="0" tIns="0" rIns="0" bIns="0" rtlCol="0" anchor="t"/>
          <a:lstStyle/>
          <a:p>
            <a:pPr marL="0" indent="0">
              <a:buNone/>
            </a:pPr>
            <a:r>
              <a:rPr lang="en-US" sz="1200" dirty="0">
                <a:solidFill>
                  <a:schemeClr val="accent5"/>
                </a:solidFill>
              </a:rPr>
              <a:t>One syllable</a:t>
            </a:r>
            <a:endParaRPr lang="en-US" sz="1200" dirty="0"/>
          </a:p>
        </p:txBody>
      </p:sp>
      <p:sp>
        <p:nvSpPr>
          <p:cNvPr id="24" name="Text 18"/>
          <p:cNvSpPr txBox="1"/>
          <p:nvPr/>
        </p:nvSpPr>
        <p:spPr>
          <a:xfrm>
            <a:off x="3566160" y="4251960"/>
            <a:ext cx="1188720" cy="411480"/>
          </a:xfrm>
          <a:prstGeom prst="rect">
            <a:avLst/>
          </a:prstGeom>
          <a:noFill/>
          <a:ln/>
        </p:spPr>
        <p:txBody>
          <a:bodyPr wrap="square" lIns="0" tIns="0" rIns="0" bIns="0" rtlCol="0" anchor="ctr"/>
          <a:lstStyle/>
          <a:p>
            <a:pPr marL="0" indent="0">
              <a:buNone/>
            </a:pPr>
            <a:r>
              <a:rPr lang="en-US" sz="1200" b="1" dirty="0">
                <a:solidFill>
                  <a:schemeClr val="accent5"/>
                </a:solidFill>
              </a:rPr>
              <a:t>Reference</a:t>
            </a:r>
            <a:endParaRPr lang="en-US" sz="1200" dirty="0"/>
          </a:p>
        </p:txBody>
      </p:sp>
      <p:pic>
        <p:nvPicPr>
          <p:cNvPr id="25" name="Image 4" descr="Reference: ត្រូវប្រុងប្រយ័ត្ន និងឈប់"/>
          <p:cNvPicPr>
            <a:picLocks noChangeAspect="1"/>
          </p:cNvPicPr>
          <p:nvPr/>
        </p:nvPicPr>
        <p:blipFill>
          <a:blip r:embed="rId7"/>
          <a:stretch>
            <a:fillRect/>
          </a:stretch>
        </p:blipFill>
        <p:spPr>
          <a:xfrm>
            <a:off x="4754880" y="4215384"/>
            <a:ext cx="2053883" cy="457200"/>
          </a:xfrm>
          <a:prstGeom prst="rect">
            <a:avLst/>
          </a:prstGeom>
        </p:spPr>
      </p:pic>
      <p:sp>
        <p:nvSpPr>
          <p:cNvPr id="26" name="Text 19"/>
          <p:cNvSpPr txBox="1"/>
          <p:nvPr/>
        </p:nvSpPr>
        <p:spPr>
          <a:xfrm>
            <a:off x="3566160" y="4709160"/>
            <a:ext cx="1188720" cy="411480"/>
          </a:xfrm>
          <a:prstGeom prst="rect">
            <a:avLst/>
          </a:prstGeom>
          <a:noFill/>
          <a:ln/>
        </p:spPr>
        <p:txBody>
          <a:bodyPr wrap="square" lIns="0" tIns="0" rIns="0" bIns="0" rtlCol="0" anchor="ctr"/>
          <a:lstStyle/>
          <a:p>
            <a:pPr marL="0" indent="0">
              <a:buNone/>
            </a:pPr>
            <a:r>
              <a:rPr lang="en-US" sz="1200" b="1" dirty="0">
                <a:solidFill>
                  <a:schemeClr val="accent5"/>
                </a:solidFill>
              </a:rPr>
              <a:t>Our model</a:t>
            </a:r>
            <a:endParaRPr lang="en-US" sz="1200" dirty="0"/>
          </a:p>
        </p:txBody>
      </p:sp>
      <p:pic>
        <p:nvPicPr>
          <p:cNvPr id="27" name="Image 5" descr="Our model: ត្រូវព្រោងប្រយ័ត្ន និងឈប់"/>
          <p:cNvPicPr>
            <a:picLocks noChangeAspect="1"/>
          </p:cNvPicPr>
          <p:nvPr/>
        </p:nvPicPr>
        <p:blipFill>
          <a:blip r:embed="rId8"/>
          <a:stretch>
            <a:fillRect/>
          </a:stretch>
        </p:blipFill>
        <p:spPr>
          <a:xfrm>
            <a:off x="4754880" y="4690872"/>
            <a:ext cx="2187526" cy="457200"/>
          </a:xfrm>
          <a:prstGeom prst="rect">
            <a:avLst/>
          </a:prstGeom>
        </p:spPr>
      </p:pic>
      <p:sp>
        <p:nvSpPr>
          <p:cNvPr id="28" name="baseline contrast"/>
          <p:cNvSpPr/>
          <p:nvPr/>
        </p:nvSpPr>
        <p:spPr>
          <a:xfrm>
            <a:off x="548640" y="5394960"/>
            <a:ext cx="11091672" cy="658368"/>
          </a:xfrm>
          <a:prstGeom prst="roundRect">
            <a:avLst>
              <a:gd name="adj" fmla="val 11111"/>
            </a:avLst>
          </a:prstGeom>
          <a:solidFill>
            <a:schemeClr val="bg1"/>
          </a:solidFill>
          <a:ln w="19050">
            <a:solidFill>
              <a:schemeClr val="accent4"/>
            </a:solidFill>
            <a:prstDash val="solid"/>
          </a:ln>
        </p:spPr>
        <p:txBody>
          <a:bodyPr/>
          <a:lstStyle/>
          <a:p>
            <a:endParaRPr lang="en-US"/>
          </a:p>
        </p:txBody>
      </p:sp>
      <p:sp>
        <p:nvSpPr>
          <p:cNvPr id="29" name="Text 21"/>
          <p:cNvSpPr txBox="1"/>
          <p:nvPr/>
        </p:nvSpPr>
        <p:spPr>
          <a:xfrm>
            <a:off x="777240" y="5394960"/>
            <a:ext cx="10698480" cy="658368"/>
          </a:xfrm>
          <a:prstGeom prst="rect">
            <a:avLst/>
          </a:prstGeom>
          <a:noFill/>
          <a:ln/>
        </p:spPr>
        <p:txBody>
          <a:bodyPr wrap="square" lIns="0" tIns="0" rIns="0" bIns="0" rtlCol="0" anchor="ctr"/>
          <a:lstStyle/>
          <a:p>
            <a:pPr marL="0" indent="0">
              <a:buNone/>
            </a:pPr>
            <a:r>
              <a:rPr lang="en-US" sz="1400" b="1" dirty="0">
                <a:solidFill>
                  <a:schemeClr val="accent4"/>
                </a:solidFill>
              </a:rPr>
              <a:t>Compare the zero-shot baseline: </a:t>
            </a:r>
            <a:r>
              <a:rPr lang="en-US" sz="1400" dirty="0">
                <a:solidFill>
                  <a:schemeClr val="tx1"/>
                </a:solidFill>
              </a:rPr>
              <a:t>it printed one Khmer letter and a space over and over until the token limit, which is why its error rates exceed 100%.</a:t>
            </a:r>
            <a:endParaRPr lang="en-US" sz="1400" dirty="0"/>
          </a:p>
        </p:txBody>
      </p:sp>
      <p:sp>
        <p:nvSpPr>
          <p:cNvPr id="30"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b="1" dirty="0">
                <a:solidFill>
                  <a:schemeClr val="accent3"/>
                </a:solidFill>
              </a:rPr>
              <a:t>Results</a:t>
            </a:r>
            <a:r>
              <a:rPr lang="en-US" sz="1200" dirty="0">
                <a:solidFill>
                  <a:schemeClr val="accent6"/>
                </a:solidFill>
              </a:rPr>
              <a:t>   ›   </a:t>
            </a:r>
            <a:r>
              <a:rPr lang="en-US" sz="1200" dirty="0">
                <a:solidFill>
                  <a:schemeClr val="accent5"/>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how the web app is built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14</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14. Key insights</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Six </a:t>
            </a:r>
            <a:r>
              <a:rPr lang="en-US" sz="3200" b="1" dirty="0">
                <a:solidFill>
                  <a:schemeClr val="accent3"/>
                </a:solidFill>
                <a:latin typeface="Calibri" pitchFamily="34" charset="0"/>
                <a:ea typeface="Calibri" pitchFamily="34" charset="-122"/>
                <a:cs typeface="Calibri" pitchFamily="34" charset="-120"/>
              </a:rPr>
              <a:t>insights</a:t>
            </a:r>
            <a:r>
              <a:rPr lang="en-US" sz="3200" b="1" dirty="0">
                <a:solidFill>
                  <a:schemeClr val="tx2"/>
                </a:solidFill>
                <a:latin typeface="Calibri" pitchFamily="34" charset="0"/>
                <a:ea typeface="Calibri" pitchFamily="34" charset="-122"/>
                <a:cs typeface="Calibri" pitchFamily="34" charset="-120"/>
              </a:rPr>
              <a:t> from this project</a:t>
            </a:r>
            <a:endParaRPr lang="en-US" sz="3200" dirty="0"/>
          </a:p>
        </p:txBody>
      </p:sp>
      <p:sp>
        <p:nvSpPr>
          <p:cNvPr id="7" name="Text 5"/>
          <p:cNvSpPr txBox="1"/>
          <p:nvPr/>
        </p:nvSpPr>
        <p:spPr>
          <a:xfrm>
            <a:off x="548640" y="1691640"/>
            <a:ext cx="5486400" cy="274320"/>
          </a:xfrm>
          <a:prstGeom prst="rect">
            <a:avLst/>
          </a:prstGeom>
          <a:noFill/>
          <a:ln/>
        </p:spPr>
        <p:txBody>
          <a:bodyPr wrap="square" lIns="0" tIns="0" rIns="0" bIns="0" rtlCol="0" anchor="t"/>
          <a:lstStyle/>
          <a:p>
            <a:pPr marL="0" indent="0">
              <a:buNone/>
            </a:pPr>
            <a:r>
              <a:rPr lang="en-US" sz="1300" b="1" dirty="0">
                <a:solidFill>
                  <a:schemeClr val="accent5"/>
                </a:solidFill>
              </a:rPr>
              <a:t>What the results show</a:t>
            </a:r>
            <a:endParaRPr lang="en-US" sz="1300" dirty="0"/>
          </a:p>
        </p:txBody>
      </p:sp>
      <p:sp>
        <p:nvSpPr>
          <p:cNvPr id="8" name="Text 6"/>
          <p:cNvSpPr txBox="1"/>
          <p:nvPr/>
        </p:nvSpPr>
        <p:spPr>
          <a:xfrm>
            <a:off x="548640" y="3904488"/>
            <a:ext cx="5486400" cy="274320"/>
          </a:xfrm>
          <a:prstGeom prst="rect">
            <a:avLst/>
          </a:prstGeom>
          <a:noFill/>
          <a:ln/>
        </p:spPr>
        <p:txBody>
          <a:bodyPr wrap="square" lIns="0" tIns="0" rIns="0" bIns="0" rtlCol="0" anchor="t"/>
          <a:lstStyle/>
          <a:p>
            <a:pPr marL="0" indent="0">
              <a:buNone/>
            </a:pPr>
            <a:r>
              <a:rPr lang="en-US" sz="1300" b="1" dirty="0">
                <a:solidFill>
                  <a:schemeClr val="accent5"/>
                </a:solidFill>
              </a:rPr>
              <a:t>What we learned about Khmer</a:t>
            </a:r>
            <a:endParaRPr lang="en-US" sz="1300" dirty="0"/>
          </a:p>
        </p:txBody>
      </p:sp>
      <p:sp>
        <p:nvSpPr>
          <p:cNvPr id="9" name="insight 1"/>
          <p:cNvSpPr/>
          <p:nvPr/>
        </p:nvSpPr>
        <p:spPr>
          <a:xfrm>
            <a:off x="548640" y="2011680"/>
            <a:ext cx="3502152" cy="1755648"/>
          </a:xfrm>
          <a:prstGeom prst="roundRect">
            <a:avLst>
              <a:gd name="adj" fmla="val 4167"/>
            </a:avLst>
          </a:prstGeom>
          <a:solidFill>
            <a:schemeClr val="bg2"/>
          </a:solidFill>
          <a:ln w="12700">
            <a:solidFill>
              <a:schemeClr val="bg2"/>
            </a:solidFill>
            <a:prstDash val="solid"/>
          </a:ln>
        </p:spPr>
        <p:txBody>
          <a:bodyPr/>
          <a:lstStyle/>
          <a:p>
            <a:endParaRPr lang="en-US"/>
          </a:p>
        </p:txBody>
      </p:sp>
      <p:sp>
        <p:nvSpPr>
          <p:cNvPr id="10" name="Text 8"/>
          <p:cNvSpPr txBox="1"/>
          <p:nvPr/>
        </p:nvSpPr>
        <p:spPr>
          <a:xfrm>
            <a:off x="777240" y="2121408"/>
            <a:ext cx="3108960" cy="530352"/>
          </a:xfrm>
          <a:prstGeom prst="rect">
            <a:avLst/>
          </a:prstGeom>
          <a:noFill/>
          <a:ln/>
        </p:spPr>
        <p:txBody>
          <a:bodyPr wrap="square" lIns="0" tIns="0" rIns="0" bIns="0" rtlCol="0" anchor="ctr"/>
          <a:lstStyle/>
          <a:p>
            <a:pPr marL="0" indent="0">
              <a:buNone/>
            </a:pPr>
            <a:r>
              <a:rPr lang="en-US" sz="2600" b="1" dirty="0">
                <a:solidFill>
                  <a:schemeClr val="tx2"/>
                </a:solidFill>
              </a:rPr>
              <a:t>147.6%</a:t>
            </a:r>
            <a:endParaRPr lang="en-US" sz="2600" dirty="0"/>
          </a:p>
        </p:txBody>
      </p:sp>
      <p:sp>
        <p:nvSpPr>
          <p:cNvPr id="11" name="Text 9"/>
          <p:cNvSpPr txBox="1"/>
          <p:nvPr/>
        </p:nvSpPr>
        <p:spPr>
          <a:xfrm>
            <a:off x="777240" y="2670048"/>
            <a:ext cx="3108960" cy="365760"/>
          </a:xfrm>
          <a:prstGeom prst="rect">
            <a:avLst/>
          </a:prstGeom>
          <a:noFill/>
          <a:ln/>
        </p:spPr>
        <p:txBody>
          <a:bodyPr wrap="square" lIns="0" tIns="0" rIns="0" bIns="0" rtlCol="0" anchor="t"/>
          <a:lstStyle/>
          <a:p>
            <a:pPr marL="0" indent="0">
              <a:buNone/>
            </a:pPr>
            <a:r>
              <a:rPr lang="en-US" sz="1600" b="1" dirty="0">
                <a:solidFill>
                  <a:schemeClr val="accent3"/>
                </a:solidFill>
              </a:rPr>
              <a:t>Whisper alone cannot write Khmer</a:t>
            </a:r>
            <a:endParaRPr lang="en-US" sz="1600" dirty="0"/>
          </a:p>
        </p:txBody>
      </p:sp>
      <p:sp>
        <p:nvSpPr>
          <p:cNvPr id="12" name="Text 10"/>
          <p:cNvSpPr txBox="1"/>
          <p:nvPr/>
        </p:nvSpPr>
        <p:spPr>
          <a:xfrm>
            <a:off x="777240" y="3035808"/>
            <a:ext cx="3108960" cy="658368"/>
          </a:xfrm>
          <a:prstGeom prst="rect">
            <a:avLst/>
          </a:prstGeom>
          <a:noFill/>
          <a:ln/>
        </p:spPr>
        <p:txBody>
          <a:bodyPr wrap="square" lIns="0" tIns="0" rIns="0" bIns="0" rtlCol="0" anchor="t"/>
          <a:lstStyle/>
          <a:p>
            <a:pPr marL="0" indent="0">
              <a:buNone/>
            </a:pPr>
            <a:r>
              <a:rPr lang="en-US" sz="1300" dirty="0">
                <a:solidFill>
                  <a:schemeClr val="tx1"/>
                </a:solidFill>
              </a:rPr>
              <a:t>Without our training, it makes more mistakes than there are letters.</a:t>
            </a:r>
            <a:endParaRPr lang="en-US" sz="1300" dirty="0"/>
          </a:p>
        </p:txBody>
      </p:sp>
      <p:sp>
        <p:nvSpPr>
          <p:cNvPr id="13" name="insight 2"/>
          <p:cNvSpPr/>
          <p:nvPr/>
        </p:nvSpPr>
        <p:spPr>
          <a:xfrm>
            <a:off x="4343400" y="2011680"/>
            <a:ext cx="3502152" cy="1755648"/>
          </a:xfrm>
          <a:prstGeom prst="roundRect">
            <a:avLst>
              <a:gd name="adj" fmla="val 4167"/>
            </a:avLst>
          </a:prstGeom>
          <a:solidFill>
            <a:schemeClr val="bg2"/>
          </a:solidFill>
          <a:ln w="12700">
            <a:solidFill>
              <a:schemeClr val="bg2"/>
            </a:solidFill>
            <a:prstDash val="solid"/>
          </a:ln>
        </p:spPr>
        <p:txBody>
          <a:bodyPr/>
          <a:lstStyle/>
          <a:p>
            <a:endParaRPr lang="en-US"/>
          </a:p>
        </p:txBody>
      </p:sp>
      <p:sp>
        <p:nvSpPr>
          <p:cNvPr id="14" name="Text 12"/>
          <p:cNvSpPr txBox="1"/>
          <p:nvPr/>
        </p:nvSpPr>
        <p:spPr>
          <a:xfrm>
            <a:off x="4572000" y="2121408"/>
            <a:ext cx="3108960" cy="530352"/>
          </a:xfrm>
          <a:prstGeom prst="rect">
            <a:avLst/>
          </a:prstGeom>
          <a:noFill/>
          <a:ln/>
        </p:spPr>
        <p:txBody>
          <a:bodyPr wrap="square" lIns="0" tIns="0" rIns="0" bIns="0" rtlCol="0" anchor="ctr"/>
          <a:lstStyle/>
          <a:p>
            <a:pPr marL="0" indent="0">
              <a:buNone/>
            </a:pPr>
            <a:r>
              <a:rPr lang="en-US" sz="2600" b="1" dirty="0">
                <a:solidFill>
                  <a:schemeClr val="tx2"/>
                </a:solidFill>
              </a:rPr>
              <a:t>18.9%</a:t>
            </a:r>
            <a:endParaRPr lang="en-US" sz="2600" dirty="0"/>
          </a:p>
        </p:txBody>
      </p:sp>
      <p:sp>
        <p:nvSpPr>
          <p:cNvPr id="15" name="Text 13"/>
          <p:cNvSpPr txBox="1"/>
          <p:nvPr/>
        </p:nvSpPr>
        <p:spPr>
          <a:xfrm>
            <a:off x="4572000" y="2670048"/>
            <a:ext cx="3108960" cy="365760"/>
          </a:xfrm>
          <a:prstGeom prst="rect">
            <a:avLst/>
          </a:prstGeom>
          <a:noFill/>
          <a:ln/>
        </p:spPr>
        <p:txBody>
          <a:bodyPr wrap="square" lIns="0" tIns="0" rIns="0" bIns="0" rtlCol="0" anchor="t"/>
          <a:lstStyle/>
          <a:p>
            <a:pPr marL="0" indent="0">
              <a:buNone/>
            </a:pPr>
            <a:r>
              <a:rPr lang="en-US" sz="1600" b="1" dirty="0">
                <a:solidFill>
                  <a:schemeClr val="accent3"/>
                </a:solidFill>
              </a:rPr>
              <a:t>Our training fixed most of it</a:t>
            </a:r>
            <a:endParaRPr lang="en-US" sz="1600" dirty="0"/>
          </a:p>
        </p:txBody>
      </p:sp>
      <p:sp>
        <p:nvSpPr>
          <p:cNvPr id="16" name="Text 14"/>
          <p:cNvSpPr txBox="1"/>
          <p:nvPr/>
        </p:nvSpPr>
        <p:spPr>
          <a:xfrm>
            <a:off x="4572000" y="3035808"/>
            <a:ext cx="3108960" cy="658368"/>
          </a:xfrm>
          <a:prstGeom prst="rect">
            <a:avLst/>
          </a:prstGeom>
          <a:noFill/>
          <a:ln/>
        </p:spPr>
        <p:txBody>
          <a:bodyPr wrap="square" lIns="0" tIns="0" rIns="0" bIns="0" rtlCol="0" anchor="t"/>
          <a:lstStyle/>
          <a:p>
            <a:pPr marL="0" indent="0">
              <a:buNone/>
            </a:pPr>
            <a:r>
              <a:rPr lang="en-US" sz="1300" dirty="0">
                <a:solidFill>
                  <a:schemeClr val="tx1"/>
                </a:solidFill>
              </a:rPr>
              <a:t>Error on new speakers dropped by about 87%, with only 16 hours of data.</a:t>
            </a:r>
            <a:endParaRPr lang="en-US" sz="1300" dirty="0"/>
          </a:p>
        </p:txBody>
      </p:sp>
      <p:sp>
        <p:nvSpPr>
          <p:cNvPr id="17" name="insight 3"/>
          <p:cNvSpPr/>
          <p:nvPr/>
        </p:nvSpPr>
        <p:spPr>
          <a:xfrm>
            <a:off x="8138160" y="2011680"/>
            <a:ext cx="3502152" cy="1755648"/>
          </a:xfrm>
          <a:prstGeom prst="roundRect">
            <a:avLst>
              <a:gd name="adj" fmla="val 4167"/>
            </a:avLst>
          </a:prstGeom>
          <a:solidFill>
            <a:schemeClr val="bg2"/>
          </a:solidFill>
          <a:ln w="12700">
            <a:solidFill>
              <a:schemeClr val="bg2"/>
            </a:solidFill>
            <a:prstDash val="solid"/>
          </a:ln>
        </p:spPr>
        <p:txBody>
          <a:bodyPr/>
          <a:lstStyle/>
          <a:p>
            <a:endParaRPr lang="en-US"/>
          </a:p>
        </p:txBody>
      </p:sp>
      <p:sp>
        <p:nvSpPr>
          <p:cNvPr id="18" name="Text 16"/>
          <p:cNvSpPr txBox="1"/>
          <p:nvPr/>
        </p:nvSpPr>
        <p:spPr>
          <a:xfrm>
            <a:off x="8366760" y="2121408"/>
            <a:ext cx="3108960" cy="530352"/>
          </a:xfrm>
          <a:prstGeom prst="rect">
            <a:avLst/>
          </a:prstGeom>
          <a:noFill/>
          <a:ln/>
        </p:spPr>
        <p:txBody>
          <a:bodyPr wrap="square" lIns="0" tIns="0" rIns="0" bIns="0" rtlCol="0" anchor="ctr"/>
          <a:lstStyle/>
          <a:p>
            <a:pPr marL="0" indent="0">
              <a:buNone/>
            </a:pPr>
            <a:r>
              <a:rPr lang="en-US" sz="2600" b="1" dirty="0">
                <a:solidFill>
                  <a:schemeClr val="tx2"/>
                </a:solidFill>
              </a:rPr>
              <a:t>39.4% → 18.9%</a:t>
            </a:r>
            <a:endParaRPr lang="en-US" sz="2600" dirty="0"/>
          </a:p>
        </p:txBody>
      </p:sp>
      <p:sp>
        <p:nvSpPr>
          <p:cNvPr id="19" name="Text 17"/>
          <p:cNvSpPr txBox="1"/>
          <p:nvPr/>
        </p:nvSpPr>
        <p:spPr>
          <a:xfrm>
            <a:off x="8366760" y="2670048"/>
            <a:ext cx="3108960" cy="365760"/>
          </a:xfrm>
          <a:prstGeom prst="rect">
            <a:avLst/>
          </a:prstGeom>
          <a:noFill/>
          <a:ln/>
        </p:spPr>
        <p:txBody>
          <a:bodyPr wrap="square" lIns="0" tIns="0" rIns="0" bIns="0" rtlCol="0" anchor="t"/>
          <a:lstStyle/>
          <a:p>
            <a:pPr marL="0" indent="0">
              <a:buNone/>
            </a:pPr>
            <a:r>
              <a:rPr lang="en-US" sz="1600" b="1" dirty="0">
                <a:solidFill>
                  <a:schemeClr val="accent3"/>
                </a:solidFill>
              </a:rPr>
              <a:t>More voices, better model</a:t>
            </a:r>
            <a:endParaRPr lang="en-US" sz="1600" dirty="0"/>
          </a:p>
        </p:txBody>
      </p:sp>
      <p:sp>
        <p:nvSpPr>
          <p:cNvPr id="20" name="Text 18"/>
          <p:cNvSpPr txBox="1"/>
          <p:nvPr/>
        </p:nvSpPr>
        <p:spPr>
          <a:xfrm>
            <a:off x="8366760" y="3035808"/>
            <a:ext cx="3108960" cy="658368"/>
          </a:xfrm>
          <a:prstGeom prst="rect">
            <a:avLst/>
          </a:prstGeom>
          <a:noFill/>
          <a:ln/>
        </p:spPr>
        <p:txBody>
          <a:bodyPr wrap="square" lIns="0" tIns="0" rIns="0" bIns="0" rtlCol="0" anchor="t"/>
          <a:lstStyle/>
          <a:p>
            <a:pPr marL="0" indent="0">
              <a:buNone/>
            </a:pPr>
            <a:r>
              <a:rPr lang="en-US" sz="1300" dirty="0">
                <a:solidFill>
                  <a:schemeClr val="tx1"/>
                </a:solidFill>
              </a:rPr>
              <a:t>Five sources beat one speaker (the one-speaker model also trained less).</a:t>
            </a:r>
            <a:endParaRPr lang="en-US" sz="1300" dirty="0"/>
          </a:p>
        </p:txBody>
      </p:sp>
      <p:sp>
        <p:nvSpPr>
          <p:cNvPr id="21" name="insight 4"/>
          <p:cNvSpPr/>
          <p:nvPr/>
        </p:nvSpPr>
        <p:spPr>
          <a:xfrm>
            <a:off x="548640" y="4224528"/>
            <a:ext cx="3502152" cy="1755648"/>
          </a:xfrm>
          <a:prstGeom prst="roundRect">
            <a:avLst>
              <a:gd name="adj" fmla="val 4167"/>
            </a:avLst>
          </a:prstGeom>
          <a:solidFill>
            <a:schemeClr val="bg2"/>
          </a:solidFill>
          <a:ln w="12700">
            <a:solidFill>
              <a:schemeClr val="bg2"/>
            </a:solidFill>
            <a:prstDash val="solid"/>
          </a:ln>
        </p:spPr>
        <p:txBody>
          <a:bodyPr/>
          <a:lstStyle/>
          <a:p>
            <a:endParaRPr lang="en-US"/>
          </a:p>
        </p:txBody>
      </p:sp>
      <p:sp>
        <p:nvSpPr>
          <p:cNvPr id="22" name="Text 20"/>
          <p:cNvSpPr txBox="1"/>
          <p:nvPr/>
        </p:nvSpPr>
        <p:spPr>
          <a:xfrm>
            <a:off x="777240" y="4334256"/>
            <a:ext cx="3108960" cy="530352"/>
          </a:xfrm>
          <a:prstGeom prst="rect">
            <a:avLst/>
          </a:prstGeom>
          <a:noFill/>
          <a:ln/>
        </p:spPr>
        <p:txBody>
          <a:bodyPr wrap="square" lIns="0" tIns="0" rIns="0" bIns="0" rtlCol="0" anchor="ctr"/>
          <a:lstStyle/>
          <a:p>
            <a:pPr marL="0" indent="0">
              <a:buNone/>
            </a:pPr>
            <a:r>
              <a:rPr lang="en-US" sz="2600" b="1" dirty="0">
                <a:solidFill>
                  <a:schemeClr val="tx2"/>
                </a:solidFill>
              </a:rPr>
              <a:t>No spaces</a:t>
            </a:r>
            <a:endParaRPr lang="en-US" sz="2600" dirty="0"/>
          </a:p>
        </p:txBody>
      </p:sp>
      <p:sp>
        <p:nvSpPr>
          <p:cNvPr id="23" name="Text 21"/>
          <p:cNvSpPr txBox="1"/>
          <p:nvPr/>
        </p:nvSpPr>
        <p:spPr>
          <a:xfrm>
            <a:off x="777240" y="4882896"/>
            <a:ext cx="3108960" cy="365760"/>
          </a:xfrm>
          <a:prstGeom prst="rect">
            <a:avLst/>
          </a:prstGeom>
          <a:noFill/>
          <a:ln/>
        </p:spPr>
        <p:txBody>
          <a:bodyPr wrap="square" lIns="0" tIns="0" rIns="0" bIns="0" rtlCol="0" anchor="t"/>
          <a:lstStyle/>
          <a:p>
            <a:pPr marL="0" indent="0">
              <a:buNone/>
            </a:pPr>
            <a:r>
              <a:rPr lang="en-US" sz="1600" b="1" dirty="0">
                <a:solidFill>
                  <a:schemeClr val="accent3"/>
                </a:solidFill>
              </a:rPr>
              <a:t>Judge Khmer by its letters</a:t>
            </a:r>
            <a:endParaRPr lang="en-US" sz="1600" dirty="0"/>
          </a:p>
        </p:txBody>
      </p:sp>
      <p:sp>
        <p:nvSpPr>
          <p:cNvPr id="24" name="Text 22"/>
          <p:cNvSpPr txBox="1"/>
          <p:nvPr/>
        </p:nvSpPr>
        <p:spPr>
          <a:xfrm>
            <a:off x="777240" y="5248656"/>
            <a:ext cx="3108960" cy="658368"/>
          </a:xfrm>
          <a:prstGeom prst="rect">
            <a:avLst/>
          </a:prstGeom>
          <a:noFill/>
          <a:ln/>
        </p:spPr>
        <p:txBody>
          <a:bodyPr wrap="square" lIns="0" tIns="0" rIns="0" bIns="0" rtlCol="0" anchor="t"/>
          <a:lstStyle/>
          <a:p>
            <a:pPr marL="0" indent="0">
              <a:buNone/>
            </a:pPr>
            <a:r>
              <a:rPr lang="en-US" sz="1300" dirty="0">
                <a:solidFill>
                  <a:schemeClr val="tx1"/>
                </a:solidFill>
              </a:rPr>
              <a:t>Writers use spaces differently, so we ignore spaces when scoring.</a:t>
            </a:r>
            <a:endParaRPr lang="en-US" sz="1300" dirty="0"/>
          </a:p>
        </p:txBody>
      </p:sp>
      <p:sp>
        <p:nvSpPr>
          <p:cNvPr id="25" name="insight 5"/>
          <p:cNvSpPr/>
          <p:nvPr/>
        </p:nvSpPr>
        <p:spPr>
          <a:xfrm>
            <a:off x="4343400" y="4224528"/>
            <a:ext cx="3502152" cy="1755648"/>
          </a:xfrm>
          <a:prstGeom prst="roundRect">
            <a:avLst>
              <a:gd name="adj" fmla="val 4167"/>
            </a:avLst>
          </a:prstGeom>
          <a:solidFill>
            <a:schemeClr val="bg2"/>
          </a:solidFill>
          <a:ln w="12700">
            <a:solidFill>
              <a:schemeClr val="bg2"/>
            </a:solidFill>
            <a:prstDash val="solid"/>
          </a:ln>
        </p:spPr>
        <p:txBody>
          <a:bodyPr/>
          <a:lstStyle/>
          <a:p>
            <a:endParaRPr lang="en-US"/>
          </a:p>
        </p:txBody>
      </p:sp>
      <p:sp>
        <p:nvSpPr>
          <p:cNvPr id="26" name="Text 24"/>
          <p:cNvSpPr txBox="1"/>
          <p:nvPr/>
        </p:nvSpPr>
        <p:spPr>
          <a:xfrm>
            <a:off x="4572000" y="4334256"/>
            <a:ext cx="3108960" cy="530352"/>
          </a:xfrm>
          <a:prstGeom prst="rect">
            <a:avLst/>
          </a:prstGeom>
          <a:noFill/>
          <a:ln/>
        </p:spPr>
        <p:txBody>
          <a:bodyPr wrap="square" lIns="0" tIns="0" rIns="0" bIns="0" rtlCol="0" anchor="ctr"/>
          <a:lstStyle/>
          <a:p>
            <a:pPr marL="0" indent="0">
              <a:buNone/>
            </a:pPr>
            <a:r>
              <a:rPr lang="en-US" sz="2600" b="1" dirty="0">
                <a:solidFill>
                  <a:schemeClr val="tx2"/>
                </a:solidFill>
              </a:rPr>
              <a:t>1 sentence, 1 split</a:t>
            </a:r>
            <a:endParaRPr lang="en-US" sz="2600" dirty="0"/>
          </a:p>
        </p:txBody>
      </p:sp>
      <p:sp>
        <p:nvSpPr>
          <p:cNvPr id="27" name="Text 25"/>
          <p:cNvSpPr txBox="1"/>
          <p:nvPr/>
        </p:nvSpPr>
        <p:spPr>
          <a:xfrm>
            <a:off x="4572000" y="4882896"/>
            <a:ext cx="3108960" cy="365760"/>
          </a:xfrm>
          <a:prstGeom prst="rect">
            <a:avLst/>
          </a:prstGeom>
          <a:noFill/>
          <a:ln/>
        </p:spPr>
        <p:txBody>
          <a:bodyPr wrap="square" lIns="0" tIns="0" rIns="0" bIns="0" rtlCol="0" anchor="t"/>
          <a:lstStyle/>
          <a:p>
            <a:pPr marL="0" indent="0">
              <a:buNone/>
            </a:pPr>
            <a:r>
              <a:rPr lang="en-US" sz="1600" b="1" dirty="0">
                <a:solidFill>
                  <a:schemeClr val="accent3"/>
                </a:solidFill>
              </a:rPr>
              <a:t>Keep the test honest</a:t>
            </a:r>
            <a:endParaRPr lang="en-US" sz="1600" dirty="0"/>
          </a:p>
        </p:txBody>
      </p:sp>
      <p:sp>
        <p:nvSpPr>
          <p:cNvPr id="28" name="Text 26"/>
          <p:cNvSpPr txBox="1"/>
          <p:nvPr/>
        </p:nvSpPr>
        <p:spPr>
          <a:xfrm>
            <a:off x="4572000" y="5248656"/>
            <a:ext cx="3108960" cy="658368"/>
          </a:xfrm>
          <a:prstGeom prst="rect">
            <a:avLst/>
          </a:prstGeom>
          <a:noFill/>
          <a:ln/>
        </p:spPr>
        <p:txBody>
          <a:bodyPr wrap="square" lIns="0" tIns="0" rIns="0" bIns="0" rtlCol="0" anchor="t"/>
          <a:lstStyle/>
          <a:p>
            <a:pPr marL="0" indent="0">
              <a:buNone/>
            </a:pPr>
            <a:r>
              <a:rPr lang="en-US" sz="1300" dirty="0">
                <a:solidFill>
                  <a:schemeClr val="tx1"/>
                </a:solidFill>
              </a:rPr>
              <a:t>A sentence never appears in both training and test.</a:t>
            </a:r>
            <a:endParaRPr lang="en-US" sz="1300" dirty="0"/>
          </a:p>
        </p:txBody>
      </p:sp>
      <p:sp>
        <p:nvSpPr>
          <p:cNvPr id="29" name="insight 6"/>
          <p:cNvSpPr/>
          <p:nvPr/>
        </p:nvSpPr>
        <p:spPr>
          <a:xfrm>
            <a:off x="8138160" y="4224528"/>
            <a:ext cx="3502152" cy="1755648"/>
          </a:xfrm>
          <a:prstGeom prst="roundRect">
            <a:avLst>
              <a:gd name="adj" fmla="val 4167"/>
            </a:avLst>
          </a:prstGeom>
          <a:solidFill>
            <a:schemeClr val="bg2"/>
          </a:solidFill>
          <a:ln w="12700">
            <a:solidFill>
              <a:schemeClr val="bg2"/>
            </a:solidFill>
            <a:prstDash val="solid"/>
          </a:ln>
        </p:spPr>
        <p:txBody>
          <a:bodyPr/>
          <a:lstStyle/>
          <a:p>
            <a:endParaRPr lang="en-US"/>
          </a:p>
        </p:txBody>
      </p:sp>
      <p:sp>
        <p:nvSpPr>
          <p:cNvPr id="30" name="Text 28"/>
          <p:cNvSpPr txBox="1"/>
          <p:nvPr/>
        </p:nvSpPr>
        <p:spPr>
          <a:xfrm>
            <a:off x="8366760" y="4334256"/>
            <a:ext cx="3108960" cy="530352"/>
          </a:xfrm>
          <a:prstGeom prst="rect">
            <a:avLst/>
          </a:prstGeom>
          <a:noFill/>
          <a:ln/>
        </p:spPr>
        <p:txBody>
          <a:bodyPr wrap="square" lIns="0" tIns="0" rIns="0" bIns="0" rtlCol="0" anchor="ctr"/>
          <a:lstStyle/>
          <a:p>
            <a:pPr marL="0" indent="0">
              <a:buNone/>
            </a:pPr>
            <a:r>
              <a:rPr lang="en-US" sz="2600" b="1" dirty="0">
                <a:solidFill>
                  <a:schemeClr val="tx2"/>
                </a:solidFill>
              </a:rPr>
              <a:t>≤ 10 s</a:t>
            </a:r>
            <a:endParaRPr lang="en-US" sz="2600" dirty="0"/>
          </a:p>
        </p:txBody>
      </p:sp>
      <p:sp>
        <p:nvSpPr>
          <p:cNvPr id="31" name="Text 29"/>
          <p:cNvSpPr txBox="1"/>
          <p:nvPr/>
        </p:nvSpPr>
        <p:spPr>
          <a:xfrm>
            <a:off x="8366760" y="4882896"/>
            <a:ext cx="3108960" cy="365760"/>
          </a:xfrm>
          <a:prstGeom prst="rect">
            <a:avLst/>
          </a:prstGeom>
          <a:noFill/>
          <a:ln/>
        </p:spPr>
        <p:txBody>
          <a:bodyPr wrap="square" lIns="0" tIns="0" rIns="0" bIns="0" rtlCol="0" anchor="t"/>
          <a:lstStyle/>
          <a:p>
            <a:pPr marL="0" indent="0">
              <a:buNone/>
            </a:pPr>
            <a:r>
              <a:rPr lang="en-US" sz="1600" b="1" dirty="0">
                <a:solidFill>
                  <a:schemeClr val="accent3"/>
                </a:solidFill>
              </a:rPr>
              <a:t>Cut audio into short pieces</a:t>
            </a:r>
            <a:endParaRPr lang="en-US" sz="1600" dirty="0"/>
          </a:p>
        </p:txBody>
      </p:sp>
      <p:sp>
        <p:nvSpPr>
          <p:cNvPr id="32" name="Text 30"/>
          <p:cNvSpPr txBox="1"/>
          <p:nvPr/>
        </p:nvSpPr>
        <p:spPr>
          <a:xfrm>
            <a:off x="8366760" y="5248656"/>
            <a:ext cx="3108960" cy="658368"/>
          </a:xfrm>
          <a:prstGeom prst="rect">
            <a:avLst/>
          </a:prstGeom>
          <a:noFill/>
          <a:ln/>
        </p:spPr>
        <p:txBody>
          <a:bodyPr wrap="square" lIns="0" tIns="0" rIns="0" bIns="0" rtlCol="0" anchor="t"/>
          <a:lstStyle/>
          <a:p>
            <a:pPr marL="0" indent="0">
              <a:buNone/>
            </a:pPr>
            <a:r>
              <a:rPr lang="en-US" sz="1300" dirty="0">
                <a:solidFill>
                  <a:schemeClr val="tx1"/>
                </a:solidFill>
              </a:rPr>
              <a:t>Khmer uses many tokens, and the model can only write 448 at a time.</a:t>
            </a:r>
            <a:endParaRPr lang="en-US" sz="1300" dirty="0"/>
          </a:p>
        </p:txBody>
      </p:sp>
      <p:sp>
        <p:nvSpPr>
          <p:cNvPr id="33"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b="1" dirty="0">
                <a:solidFill>
                  <a:schemeClr val="accent3"/>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the app working on a real video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15</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15. System architecture</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A web app, an API and </a:t>
            </a:r>
            <a:r>
              <a:rPr lang="en-US" sz="3200" b="1" dirty="0">
                <a:solidFill>
                  <a:schemeClr val="accent3"/>
                </a:solidFill>
                <a:latin typeface="Calibri" pitchFamily="34" charset="0"/>
                <a:ea typeface="Calibri" pitchFamily="34" charset="-122"/>
                <a:cs typeface="Calibri" pitchFamily="34" charset="-120"/>
              </a:rPr>
              <a:t>our model</a:t>
            </a:r>
            <a:endParaRPr lang="en-US" sz="3200" dirty="0"/>
          </a:p>
        </p:txBody>
      </p:sp>
      <p:sp>
        <p:nvSpPr>
          <p:cNvPr id="7" name="Viewer's browser node"/>
          <p:cNvSpPr/>
          <p:nvPr/>
        </p:nvSpPr>
        <p:spPr>
          <a:xfrm>
            <a:off x="548640" y="1828800"/>
            <a:ext cx="2377440" cy="1783080"/>
          </a:xfrm>
          <a:prstGeom prst="roundRect">
            <a:avLst>
              <a:gd name="adj" fmla="val 4103"/>
            </a:avLst>
          </a:prstGeom>
          <a:solidFill>
            <a:schemeClr val="bg1"/>
          </a:solidFill>
          <a:ln w="12700">
            <a:solidFill>
              <a:schemeClr val="accent6"/>
            </a:solidFill>
            <a:prstDash val="solid"/>
          </a:ln>
        </p:spPr>
        <p:txBody>
          <a:bodyPr/>
          <a:lstStyle/>
          <a:p>
            <a:endParaRPr lang="en-US"/>
          </a:p>
        </p:txBody>
      </p:sp>
      <p:sp>
        <p:nvSpPr>
          <p:cNvPr id="8" name="Text 6"/>
          <p:cNvSpPr txBox="1"/>
          <p:nvPr/>
        </p:nvSpPr>
        <p:spPr>
          <a:xfrm>
            <a:off x="749808" y="2011680"/>
            <a:ext cx="2011680" cy="274320"/>
          </a:xfrm>
          <a:prstGeom prst="rect">
            <a:avLst/>
          </a:prstGeom>
          <a:noFill/>
          <a:ln/>
        </p:spPr>
        <p:txBody>
          <a:bodyPr wrap="square" lIns="0" tIns="0" rIns="0" bIns="0" rtlCol="0" anchor="t"/>
          <a:lstStyle/>
          <a:p>
            <a:pPr marL="0" indent="0">
              <a:buNone/>
            </a:pPr>
            <a:r>
              <a:rPr lang="en-US" sz="1200" b="1" dirty="0">
                <a:solidFill>
                  <a:schemeClr val="accent5"/>
                </a:solidFill>
                <a:latin typeface="Consolas" pitchFamily="34" charset="0"/>
                <a:ea typeface="Consolas" pitchFamily="34" charset="-122"/>
                <a:cs typeface="Consolas" pitchFamily="34" charset="-120"/>
              </a:rPr>
              <a:t>USER</a:t>
            </a:r>
            <a:endParaRPr lang="en-US" sz="1200" dirty="0"/>
          </a:p>
        </p:txBody>
      </p:sp>
      <p:sp>
        <p:nvSpPr>
          <p:cNvPr id="9" name="Text 7"/>
          <p:cNvSpPr txBox="1"/>
          <p:nvPr/>
        </p:nvSpPr>
        <p:spPr>
          <a:xfrm>
            <a:off x="749808" y="2304288"/>
            <a:ext cx="2011680" cy="365760"/>
          </a:xfrm>
          <a:prstGeom prst="rect">
            <a:avLst/>
          </a:prstGeom>
          <a:noFill/>
          <a:ln/>
        </p:spPr>
        <p:txBody>
          <a:bodyPr wrap="square" lIns="0" tIns="0" rIns="0" bIns="0" rtlCol="0" anchor="t"/>
          <a:lstStyle/>
          <a:p>
            <a:pPr marL="0" indent="0">
              <a:buNone/>
            </a:pPr>
            <a:r>
              <a:rPr lang="en-US" sz="1700" b="1" dirty="0">
                <a:solidFill>
                  <a:schemeClr val="tx2"/>
                </a:solidFill>
              </a:rPr>
              <a:t>Viewer's browser</a:t>
            </a:r>
            <a:endParaRPr lang="en-US" sz="1700" dirty="0"/>
          </a:p>
        </p:txBody>
      </p:sp>
      <p:sp>
        <p:nvSpPr>
          <p:cNvPr id="10" name="Text 8"/>
          <p:cNvSpPr txBox="1"/>
          <p:nvPr/>
        </p:nvSpPr>
        <p:spPr>
          <a:xfrm>
            <a:off x="749808" y="2715768"/>
            <a:ext cx="2011680" cy="777240"/>
          </a:xfrm>
          <a:prstGeom prst="rect">
            <a:avLst/>
          </a:prstGeom>
          <a:noFill/>
          <a:ln/>
        </p:spPr>
        <p:txBody>
          <a:bodyPr wrap="square" lIns="0" tIns="0" rIns="0" bIns="0" rtlCol="0" anchor="t"/>
          <a:lstStyle/>
          <a:p>
            <a:pPr marL="0" indent="0">
              <a:buNone/>
            </a:pPr>
            <a:r>
              <a:rPr lang="en-US" sz="1300" dirty="0">
                <a:solidFill>
                  <a:schemeClr val="tx1"/>
                </a:solidFill>
              </a:rPr>
              <a:t>Pastes a YouTube link, watches subtitles appear</a:t>
            </a:r>
            <a:endParaRPr lang="en-US" sz="1300" dirty="0"/>
          </a:p>
        </p:txBody>
      </p:sp>
      <p:sp>
        <p:nvSpPr>
          <p:cNvPr id="11" name="connector"/>
          <p:cNvSpPr/>
          <p:nvPr/>
        </p:nvSpPr>
        <p:spPr>
          <a:xfrm>
            <a:off x="2962656" y="2788920"/>
            <a:ext cx="274320" cy="0"/>
          </a:xfrm>
          <a:prstGeom prst="line">
            <a:avLst/>
          </a:prstGeom>
          <a:noFill/>
          <a:ln w="22225">
            <a:solidFill>
              <a:schemeClr val="tx2"/>
            </a:solidFill>
            <a:prstDash val="solid"/>
            <a:headEnd type="triangle"/>
            <a:tailEnd type="triangle"/>
          </a:ln>
        </p:spPr>
        <p:txBody>
          <a:bodyPr/>
          <a:lstStyle/>
          <a:p>
            <a:endParaRPr lang="en-US"/>
          </a:p>
        </p:txBody>
      </p:sp>
      <p:sp>
        <p:nvSpPr>
          <p:cNvPr id="12" name="Next.js web app node"/>
          <p:cNvSpPr/>
          <p:nvPr/>
        </p:nvSpPr>
        <p:spPr>
          <a:xfrm>
            <a:off x="3273552" y="1828800"/>
            <a:ext cx="2377440" cy="1783080"/>
          </a:xfrm>
          <a:prstGeom prst="roundRect">
            <a:avLst>
              <a:gd name="adj" fmla="val 4103"/>
            </a:avLst>
          </a:prstGeom>
          <a:solidFill>
            <a:schemeClr val="bg1"/>
          </a:solidFill>
          <a:ln w="12700">
            <a:solidFill>
              <a:schemeClr val="accent6"/>
            </a:solidFill>
            <a:prstDash val="solid"/>
          </a:ln>
        </p:spPr>
        <p:txBody>
          <a:bodyPr/>
          <a:lstStyle/>
          <a:p>
            <a:endParaRPr lang="en-US"/>
          </a:p>
        </p:txBody>
      </p:sp>
      <p:sp>
        <p:nvSpPr>
          <p:cNvPr id="13" name="Text 11"/>
          <p:cNvSpPr txBox="1"/>
          <p:nvPr/>
        </p:nvSpPr>
        <p:spPr>
          <a:xfrm>
            <a:off x="3474720" y="2011680"/>
            <a:ext cx="2011680" cy="274320"/>
          </a:xfrm>
          <a:prstGeom prst="rect">
            <a:avLst/>
          </a:prstGeom>
          <a:noFill/>
          <a:ln/>
        </p:spPr>
        <p:txBody>
          <a:bodyPr wrap="square" lIns="0" tIns="0" rIns="0" bIns="0" rtlCol="0" anchor="t"/>
          <a:lstStyle/>
          <a:p>
            <a:pPr marL="0" indent="0">
              <a:buNone/>
            </a:pPr>
            <a:r>
              <a:rPr lang="en-US" sz="1200" b="1" dirty="0">
                <a:solidFill>
                  <a:schemeClr val="accent5"/>
                </a:solidFill>
                <a:latin typeface="Consolas" pitchFamily="34" charset="0"/>
                <a:ea typeface="Consolas" pitchFamily="34" charset="-122"/>
                <a:cs typeface="Consolas" pitchFamily="34" charset="-120"/>
              </a:rPr>
              <a:t>WEB, PORT 3000</a:t>
            </a:r>
            <a:endParaRPr lang="en-US" sz="1200" dirty="0"/>
          </a:p>
        </p:txBody>
      </p:sp>
      <p:sp>
        <p:nvSpPr>
          <p:cNvPr id="14" name="Text 12"/>
          <p:cNvSpPr txBox="1"/>
          <p:nvPr/>
        </p:nvSpPr>
        <p:spPr>
          <a:xfrm>
            <a:off x="3474720" y="2304288"/>
            <a:ext cx="2011680" cy="365760"/>
          </a:xfrm>
          <a:prstGeom prst="rect">
            <a:avLst/>
          </a:prstGeom>
          <a:noFill/>
          <a:ln/>
        </p:spPr>
        <p:txBody>
          <a:bodyPr wrap="square" lIns="0" tIns="0" rIns="0" bIns="0" rtlCol="0" anchor="t"/>
          <a:lstStyle/>
          <a:p>
            <a:pPr marL="0" indent="0">
              <a:buNone/>
            </a:pPr>
            <a:r>
              <a:rPr lang="en-US" sz="1700" b="1" dirty="0">
                <a:solidFill>
                  <a:schemeClr val="tx2"/>
                </a:solidFill>
              </a:rPr>
              <a:t>Next.js web app</a:t>
            </a:r>
            <a:endParaRPr lang="en-US" sz="1700" dirty="0"/>
          </a:p>
        </p:txBody>
      </p:sp>
      <p:sp>
        <p:nvSpPr>
          <p:cNvPr id="15" name="Text 13"/>
          <p:cNvSpPr txBox="1"/>
          <p:nvPr/>
        </p:nvSpPr>
        <p:spPr>
          <a:xfrm>
            <a:off x="3474720" y="2715768"/>
            <a:ext cx="2011680" cy="777240"/>
          </a:xfrm>
          <a:prstGeom prst="rect">
            <a:avLst/>
          </a:prstGeom>
          <a:noFill/>
          <a:ln/>
        </p:spPr>
        <p:txBody>
          <a:bodyPr wrap="square" lIns="0" tIns="0" rIns="0" bIns="0" rtlCol="0" anchor="t"/>
          <a:lstStyle/>
          <a:p>
            <a:pPr marL="0" indent="0">
              <a:buNone/>
            </a:pPr>
            <a:r>
              <a:rPr lang="en-US" sz="1300" dirty="0">
                <a:solidFill>
                  <a:schemeClr val="tx1"/>
                </a:solidFill>
              </a:rPr>
              <a:t>Video player, subtitle timeline, SRT and text export</a:t>
            </a:r>
            <a:endParaRPr lang="en-US" sz="1300" dirty="0"/>
          </a:p>
        </p:txBody>
      </p:sp>
      <p:sp>
        <p:nvSpPr>
          <p:cNvPr id="16" name="connector"/>
          <p:cNvSpPr/>
          <p:nvPr/>
        </p:nvSpPr>
        <p:spPr>
          <a:xfrm>
            <a:off x="5687568" y="2788920"/>
            <a:ext cx="274320" cy="0"/>
          </a:xfrm>
          <a:prstGeom prst="line">
            <a:avLst/>
          </a:prstGeom>
          <a:noFill/>
          <a:ln w="22225">
            <a:solidFill>
              <a:schemeClr val="tx2"/>
            </a:solidFill>
            <a:prstDash val="solid"/>
            <a:headEnd type="triangle"/>
            <a:tailEnd type="triangle"/>
          </a:ln>
        </p:spPr>
        <p:txBody>
          <a:bodyPr/>
          <a:lstStyle/>
          <a:p>
            <a:endParaRPr lang="en-US"/>
          </a:p>
        </p:txBody>
      </p:sp>
      <p:sp>
        <p:nvSpPr>
          <p:cNvPr id="17" name="FastAPI back end node"/>
          <p:cNvSpPr/>
          <p:nvPr/>
        </p:nvSpPr>
        <p:spPr>
          <a:xfrm>
            <a:off x="5998464" y="1828800"/>
            <a:ext cx="2377440" cy="1783080"/>
          </a:xfrm>
          <a:prstGeom prst="roundRect">
            <a:avLst>
              <a:gd name="adj" fmla="val 4103"/>
            </a:avLst>
          </a:prstGeom>
          <a:solidFill>
            <a:schemeClr val="bg1"/>
          </a:solidFill>
          <a:ln w="12700">
            <a:solidFill>
              <a:schemeClr val="accent6"/>
            </a:solidFill>
            <a:prstDash val="solid"/>
          </a:ln>
        </p:spPr>
        <p:txBody>
          <a:bodyPr/>
          <a:lstStyle/>
          <a:p>
            <a:endParaRPr lang="en-US"/>
          </a:p>
        </p:txBody>
      </p:sp>
      <p:sp>
        <p:nvSpPr>
          <p:cNvPr id="18" name="Text 16"/>
          <p:cNvSpPr txBox="1"/>
          <p:nvPr/>
        </p:nvSpPr>
        <p:spPr>
          <a:xfrm>
            <a:off x="6199632" y="2011680"/>
            <a:ext cx="2011680" cy="274320"/>
          </a:xfrm>
          <a:prstGeom prst="rect">
            <a:avLst/>
          </a:prstGeom>
          <a:noFill/>
          <a:ln/>
        </p:spPr>
        <p:txBody>
          <a:bodyPr wrap="square" lIns="0" tIns="0" rIns="0" bIns="0" rtlCol="0" anchor="t"/>
          <a:lstStyle/>
          <a:p>
            <a:pPr marL="0" indent="0">
              <a:buNone/>
            </a:pPr>
            <a:r>
              <a:rPr lang="en-US" sz="1200" b="1" dirty="0">
                <a:solidFill>
                  <a:schemeClr val="accent5"/>
                </a:solidFill>
                <a:latin typeface="Consolas" pitchFamily="34" charset="0"/>
                <a:ea typeface="Consolas" pitchFamily="34" charset="-122"/>
                <a:cs typeface="Consolas" pitchFamily="34" charset="-120"/>
              </a:rPr>
              <a:t>API, PORT 8000</a:t>
            </a:r>
            <a:endParaRPr lang="en-US" sz="1200" dirty="0"/>
          </a:p>
        </p:txBody>
      </p:sp>
      <p:sp>
        <p:nvSpPr>
          <p:cNvPr id="19" name="Text 17"/>
          <p:cNvSpPr txBox="1"/>
          <p:nvPr/>
        </p:nvSpPr>
        <p:spPr>
          <a:xfrm>
            <a:off x="6199632" y="2304288"/>
            <a:ext cx="2011680" cy="365760"/>
          </a:xfrm>
          <a:prstGeom prst="rect">
            <a:avLst/>
          </a:prstGeom>
          <a:noFill/>
          <a:ln/>
        </p:spPr>
        <p:txBody>
          <a:bodyPr wrap="square" lIns="0" tIns="0" rIns="0" bIns="0" rtlCol="0" anchor="t"/>
          <a:lstStyle/>
          <a:p>
            <a:pPr marL="0" indent="0">
              <a:buNone/>
            </a:pPr>
            <a:r>
              <a:rPr lang="en-US" sz="1700" b="1" dirty="0">
                <a:solidFill>
                  <a:schemeClr val="tx2"/>
                </a:solidFill>
              </a:rPr>
              <a:t>FastAPI back end</a:t>
            </a:r>
            <a:endParaRPr lang="en-US" sz="1700" dirty="0"/>
          </a:p>
        </p:txBody>
      </p:sp>
      <p:sp>
        <p:nvSpPr>
          <p:cNvPr id="20" name="Text 18"/>
          <p:cNvSpPr txBox="1"/>
          <p:nvPr/>
        </p:nvSpPr>
        <p:spPr>
          <a:xfrm>
            <a:off x="6199632" y="2715768"/>
            <a:ext cx="2011680" cy="777240"/>
          </a:xfrm>
          <a:prstGeom prst="rect">
            <a:avLst/>
          </a:prstGeom>
          <a:noFill/>
          <a:ln/>
        </p:spPr>
        <p:txBody>
          <a:bodyPr wrap="square" lIns="0" tIns="0" rIns="0" bIns="0" rtlCol="0" anchor="t"/>
          <a:lstStyle/>
          <a:p>
            <a:pPr marL="0" indent="0">
              <a:buNone/>
            </a:pPr>
            <a:r>
              <a:rPr lang="en-US" sz="1300" dirty="0">
                <a:solidFill>
                  <a:schemeClr val="tx1"/>
                </a:solidFill>
              </a:rPr>
              <a:t>Background jobs, one GPU worker, progress polling</a:t>
            </a:r>
            <a:endParaRPr lang="en-US" sz="1300" dirty="0"/>
          </a:p>
        </p:txBody>
      </p:sp>
      <p:sp>
        <p:nvSpPr>
          <p:cNvPr id="21" name="connector"/>
          <p:cNvSpPr/>
          <p:nvPr/>
        </p:nvSpPr>
        <p:spPr>
          <a:xfrm>
            <a:off x="8412480" y="2788920"/>
            <a:ext cx="274320" cy="0"/>
          </a:xfrm>
          <a:prstGeom prst="line">
            <a:avLst/>
          </a:prstGeom>
          <a:noFill/>
          <a:ln w="22225">
            <a:solidFill>
              <a:schemeClr val="tx2"/>
            </a:solidFill>
            <a:prstDash val="solid"/>
            <a:headEnd type="triangle"/>
            <a:tailEnd type="triangle"/>
          </a:ln>
        </p:spPr>
        <p:txBody>
          <a:bodyPr/>
          <a:lstStyle/>
          <a:p>
            <a:endParaRPr lang="en-US"/>
          </a:p>
        </p:txBody>
      </p:sp>
      <p:sp>
        <p:nvSpPr>
          <p:cNvPr id="22" name="Whisper-small Khmer node"/>
          <p:cNvSpPr/>
          <p:nvPr/>
        </p:nvSpPr>
        <p:spPr>
          <a:xfrm>
            <a:off x="8723376" y="1828800"/>
            <a:ext cx="2377440" cy="1783080"/>
          </a:xfrm>
          <a:prstGeom prst="roundRect">
            <a:avLst>
              <a:gd name="adj" fmla="val 4103"/>
            </a:avLst>
          </a:prstGeom>
          <a:solidFill>
            <a:schemeClr val="bg1"/>
          </a:solidFill>
          <a:ln w="25400">
            <a:solidFill>
              <a:schemeClr val="accent2"/>
            </a:solidFill>
            <a:prstDash val="solid"/>
          </a:ln>
        </p:spPr>
        <p:txBody>
          <a:bodyPr/>
          <a:lstStyle/>
          <a:p>
            <a:endParaRPr lang="en-US"/>
          </a:p>
        </p:txBody>
      </p:sp>
      <p:sp>
        <p:nvSpPr>
          <p:cNvPr id="23" name="Text 21"/>
          <p:cNvSpPr txBox="1"/>
          <p:nvPr/>
        </p:nvSpPr>
        <p:spPr>
          <a:xfrm>
            <a:off x="8924544" y="2011680"/>
            <a:ext cx="2011680" cy="274320"/>
          </a:xfrm>
          <a:prstGeom prst="rect">
            <a:avLst/>
          </a:prstGeom>
          <a:noFill/>
          <a:ln/>
        </p:spPr>
        <p:txBody>
          <a:bodyPr wrap="square" lIns="0" tIns="0" rIns="0" bIns="0" rtlCol="0" anchor="t"/>
          <a:lstStyle/>
          <a:p>
            <a:pPr marL="0" indent="0">
              <a:buNone/>
            </a:pPr>
            <a:r>
              <a:rPr lang="en-US" sz="1200" b="1" dirty="0">
                <a:solidFill>
                  <a:schemeClr val="accent2"/>
                </a:solidFill>
                <a:latin typeface="Consolas" pitchFamily="34" charset="0"/>
                <a:ea typeface="Consolas" pitchFamily="34" charset="-122"/>
                <a:cs typeface="Consolas" pitchFamily="34" charset="-120"/>
              </a:rPr>
              <a:t>MODEL</a:t>
            </a:r>
            <a:endParaRPr lang="en-US" sz="1200" dirty="0"/>
          </a:p>
        </p:txBody>
      </p:sp>
      <p:sp>
        <p:nvSpPr>
          <p:cNvPr id="24" name="Text 22"/>
          <p:cNvSpPr txBox="1"/>
          <p:nvPr/>
        </p:nvSpPr>
        <p:spPr>
          <a:xfrm>
            <a:off x="8924544" y="2304288"/>
            <a:ext cx="2011680" cy="365760"/>
          </a:xfrm>
          <a:prstGeom prst="rect">
            <a:avLst/>
          </a:prstGeom>
          <a:noFill/>
          <a:ln/>
        </p:spPr>
        <p:txBody>
          <a:bodyPr wrap="square" lIns="0" tIns="0" rIns="0" bIns="0" rtlCol="0" anchor="t"/>
          <a:lstStyle/>
          <a:p>
            <a:pPr marL="0" indent="0">
              <a:buNone/>
            </a:pPr>
            <a:r>
              <a:rPr lang="en-US" sz="1700" b="1" dirty="0">
                <a:solidFill>
                  <a:schemeClr val="tx2"/>
                </a:solidFill>
              </a:rPr>
              <a:t>Whisper-small Khmer</a:t>
            </a:r>
            <a:endParaRPr lang="en-US" sz="1700" dirty="0"/>
          </a:p>
        </p:txBody>
      </p:sp>
      <p:sp>
        <p:nvSpPr>
          <p:cNvPr id="25" name="Text 23"/>
          <p:cNvSpPr txBox="1"/>
          <p:nvPr/>
        </p:nvSpPr>
        <p:spPr>
          <a:xfrm>
            <a:off x="8924544" y="2715768"/>
            <a:ext cx="2011680" cy="777240"/>
          </a:xfrm>
          <a:prstGeom prst="rect">
            <a:avLst/>
          </a:prstGeom>
          <a:noFill/>
          <a:ln/>
        </p:spPr>
        <p:txBody>
          <a:bodyPr wrap="square" lIns="0" tIns="0" rIns="0" bIns="0" rtlCol="0" anchor="t"/>
          <a:lstStyle/>
          <a:p>
            <a:pPr marL="0" indent="0">
              <a:buNone/>
            </a:pPr>
            <a:r>
              <a:rPr lang="en-US" sz="1300" dirty="0">
                <a:solidFill>
                  <a:schemeClr val="tx1"/>
                </a:solidFill>
              </a:rPr>
              <a:t>Our fine-tuned model, fp16 on GPU</a:t>
            </a:r>
            <a:endParaRPr lang="en-US" sz="1300" dirty="0"/>
          </a:p>
        </p:txBody>
      </p:sp>
      <p:sp>
        <p:nvSpPr>
          <p:cNvPr id="26" name="Cloudflare tunnel external"/>
          <p:cNvSpPr/>
          <p:nvPr/>
        </p:nvSpPr>
        <p:spPr>
          <a:xfrm>
            <a:off x="3273552" y="4160520"/>
            <a:ext cx="2377440" cy="1371600"/>
          </a:xfrm>
          <a:prstGeom prst="roundRect">
            <a:avLst>
              <a:gd name="adj" fmla="val 5333"/>
            </a:avLst>
          </a:prstGeom>
          <a:solidFill>
            <a:schemeClr val="bg2"/>
          </a:solidFill>
          <a:ln w="12700">
            <a:solidFill>
              <a:schemeClr val="accent5"/>
            </a:solidFill>
            <a:prstDash val="dash"/>
          </a:ln>
        </p:spPr>
        <p:txBody>
          <a:bodyPr/>
          <a:lstStyle/>
          <a:p>
            <a:endParaRPr lang="en-US"/>
          </a:p>
        </p:txBody>
      </p:sp>
      <p:sp>
        <p:nvSpPr>
          <p:cNvPr id="27" name="Text 25"/>
          <p:cNvSpPr txBox="1"/>
          <p:nvPr/>
        </p:nvSpPr>
        <p:spPr>
          <a:xfrm>
            <a:off x="3474720" y="4297680"/>
            <a:ext cx="2011680" cy="274320"/>
          </a:xfrm>
          <a:prstGeom prst="rect">
            <a:avLst/>
          </a:prstGeom>
          <a:noFill/>
          <a:ln/>
        </p:spPr>
        <p:txBody>
          <a:bodyPr wrap="square" lIns="0" tIns="0" rIns="0" bIns="0" rtlCol="0" anchor="t"/>
          <a:lstStyle/>
          <a:p>
            <a:pPr marL="0" indent="0">
              <a:buNone/>
            </a:pPr>
            <a:r>
              <a:rPr lang="en-US" sz="1200" b="1" dirty="0">
                <a:solidFill>
                  <a:schemeClr val="accent5"/>
                </a:solidFill>
                <a:latin typeface="Consolas" pitchFamily="34" charset="0"/>
                <a:ea typeface="Consolas" pitchFamily="34" charset="-122"/>
                <a:cs typeface="Consolas" pitchFamily="34" charset="-120"/>
              </a:rPr>
              <a:t>PUBLIC LINK</a:t>
            </a:r>
            <a:endParaRPr lang="en-US" sz="1200" dirty="0"/>
          </a:p>
        </p:txBody>
      </p:sp>
      <p:sp>
        <p:nvSpPr>
          <p:cNvPr id="28" name="Text 26"/>
          <p:cNvSpPr txBox="1"/>
          <p:nvPr/>
        </p:nvSpPr>
        <p:spPr>
          <a:xfrm>
            <a:off x="3474720" y="4572000"/>
            <a:ext cx="2011680" cy="347472"/>
          </a:xfrm>
          <a:prstGeom prst="rect">
            <a:avLst/>
          </a:prstGeom>
          <a:noFill/>
          <a:ln/>
        </p:spPr>
        <p:txBody>
          <a:bodyPr wrap="square" lIns="0" tIns="0" rIns="0" bIns="0" rtlCol="0" anchor="t"/>
          <a:lstStyle/>
          <a:p>
            <a:pPr marL="0" indent="0">
              <a:buNone/>
            </a:pPr>
            <a:r>
              <a:rPr lang="en-US" sz="1600" b="1" dirty="0">
                <a:solidFill>
                  <a:schemeClr val="tx2"/>
                </a:solidFill>
              </a:rPr>
              <a:t>Cloudflare tunnel</a:t>
            </a:r>
            <a:endParaRPr lang="en-US" sz="1600" dirty="0"/>
          </a:p>
        </p:txBody>
      </p:sp>
      <p:sp>
        <p:nvSpPr>
          <p:cNvPr id="29" name="Text 27"/>
          <p:cNvSpPr txBox="1"/>
          <p:nvPr/>
        </p:nvSpPr>
        <p:spPr>
          <a:xfrm>
            <a:off x="3474720" y="4937760"/>
            <a:ext cx="2011680" cy="548640"/>
          </a:xfrm>
          <a:prstGeom prst="rect">
            <a:avLst/>
          </a:prstGeom>
          <a:noFill/>
          <a:ln/>
        </p:spPr>
        <p:txBody>
          <a:bodyPr wrap="square" lIns="0" tIns="0" rIns="0" bIns="0" rtlCol="0" anchor="t"/>
          <a:lstStyle/>
          <a:p>
            <a:pPr marL="0" indent="0">
              <a:buNone/>
            </a:pPr>
            <a:r>
              <a:rPr lang="en-US" sz="1300" dirty="0">
                <a:solidFill>
                  <a:schemeClr val="tx1"/>
                </a:solidFill>
              </a:rPr>
              <a:t>Shares port 3000 for the demo</a:t>
            </a:r>
            <a:endParaRPr lang="en-US" sz="1300" dirty="0"/>
          </a:p>
        </p:txBody>
      </p:sp>
      <p:sp>
        <p:nvSpPr>
          <p:cNvPr id="30" name="YouTube external"/>
          <p:cNvSpPr/>
          <p:nvPr/>
        </p:nvSpPr>
        <p:spPr>
          <a:xfrm>
            <a:off x="5998464" y="4160520"/>
            <a:ext cx="2377440" cy="1371600"/>
          </a:xfrm>
          <a:prstGeom prst="roundRect">
            <a:avLst>
              <a:gd name="adj" fmla="val 5333"/>
            </a:avLst>
          </a:prstGeom>
          <a:solidFill>
            <a:schemeClr val="bg2"/>
          </a:solidFill>
          <a:ln w="12700">
            <a:solidFill>
              <a:schemeClr val="accent5"/>
            </a:solidFill>
            <a:prstDash val="dash"/>
          </a:ln>
        </p:spPr>
        <p:txBody>
          <a:bodyPr/>
          <a:lstStyle/>
          <a:p>
            <a:endParaRPr lang="en-US"/>
          </a:p>
        </p:txBody>
      </p:sp>
      <p:sp>
        <p:nvSpPr>
          <p:cNvPr id="31" name="Text 29"/>
          <p:cNvSpPr txBox="1"/>
          <p:nvPr/>
        </p:nvSpPr>
        <p:spPr>
          <a:xfrm>
            <a:off x="6199632" y="4297680"/>
            <a:ext cx="2011680" cy="274320"/>
          </a:xfrm>
          <a:prstGeom prst="rect">
            <a:avLst/>
          </a:prstGeom>
          <a:noFill/>
          <a:ln/>
        </p:spPr>
        <p:txBody>
          <a:bodyPr wrap="square" lIns="0" tIns="0" rIns="0" bIns="0" rtlCol="0" anchor="t"/>
          <a:lstStyle/>
          <a:p>
            <a:pPr marL="0" indent="0">
              <a:buNone/>
            </a:pPr>
            <a:r>
              <a:rPr lang="en-US" sz="1200" b="1" dirty="0">
                <a:solidFill>
                  <a:schemeClr val="accent5"/>
                </a:solidFill>
                <a:latin typeface="Consolas" pitchFamily="34" charset="0"/>
                <a:ea typeface="Consolas" pitchFamily="34" charset="-122"/>
                <a:cs typeface="Consolas" pitchFamily="34" charset="-120"/>
              </a:rPr>
              <a:t>EXTERNAL</a:t>
            </a:r>
            <a:endParaRPr lang="en-US" sz="1200" dirty="0"/>
          </a:p>
        </p:txBody>
      </p:sp>
      <p:sp>
        <p:nvSpPr>
          <p:cNvPr id="32" name="Text 30"/>
          <p:cNvSpPr txBox="1"/>
          <p:nvPr/>
        </p:nvSpPr>
        <p:spPr>
          <a:xfrm>
            <a:off x="6199632" y="4572000"/>
            <a:ext cx="2011680" cy="347472"/>
          </a:xfrm>
          <a:prstGeom prst="rect">
            <a:avLst/>
          </a:prstGeom>
          <a:noFill/>
          <a:ln/>
        </p:spPr>
        <p:txBody>
          <a:bodyPr wrap="square" lIns="0" tIns="0" rIns="0" bIns="0" rtlCol="0" anchor="t"/>
          <a:lstStyle/>
          <a:p>
            <a:pPr marL="0" indent="0">
              <a:buNone/>
            </a:pPr>
            <a:r>
              <a:rPr lang="en-US" sz="1600" b="1" dirty="0">
                <a:solidFill>
                  <a:schemeClr val="tx2"/>
                </a:solidFill>
              </a:rPr>
              <a:t>YouTube</a:t>
            </a:r>
            <a:endParaRPr lang="en-US" sz="1600" dirty="0"/>
          </a:p>
        </p:txBody>
      </p:sp>
      <p:sp>
        <p:nvSpPr>
          <p:cNvPr id="33" name="Text 31"/>
          <p:cNvSpPr txBox="1"/>
          <p:nvPr/>
        </p:nvSpPr>
        <p:spPr>
          <a:xfrm>
            <a:off x="6199632" y="4937760"/>
            <a:ext cx="2011680" cy="548640"/>
          </a:xfrm>
          <a:prstGeom prst="rect">
            <a:avLst/>
          </a:prstGeom>
          <a:noFill/>
          <a:ln/>
        </p:spPr>
        <p:txBody>
          <a:bodyPr wrap="square" lIns="0" tIns="0" rIns="0" bIns="0" rtlCol="0" anchor="t"/>
          <a:lstStyle/>
          <a:p>
            <a:pPr marL="0" indent="0">
              <a:buNone/>
            </a:pPr>
            <a:r>
              <a:rPr lang="en-US" sz="1300" dirty="0">
                <a:solidFill>
                  <a:schemeClr val="tx1"/>
                </a:solidFill>
              </a:rPr>
              <a:t>Audio via yt-dlp and ffmpeg</a:t>
            </a:r>
            <a:endParaRPr lang="en-US" sz="1300" dirty="0"/>
          </a:p>
        </p:txBody>
      </p:sp>
      <p:sp>
        <p:nvSpPr>
          <p:cNvPr id="34" name="Hugging Face Hub external"/>
          <p:cNvSpPr/>
          <p:nvPr/>
        </p:nvSpPr>
        <p:spPr>
          <a:xfrm>
            <a:off x="8723376" y="4160520"/>
            <a:ext cx="2377440" cy="1371600"/>
          </a:xfrm>
          <a:prstGeom prst="roundRect">
            <a:avLst>
              <a:gd name="adj" fmla="val 5333"/>
            </a:avLst>
          </a:prstGeom>
          <a:solidFill>
            <a:schemeClr val="bg2"/>
          </a:solidFill>
          <a:ln w="12700">
            <a:solidFill>
              <a:schemeClr val="accent5"/>
            </a:solidFill>
            <a:prstDash val="dash"/>
          </a:ln>
        </p:spPr>
        <p:txBody>
          <a:bodyPr/>
          <a:lstStyle/>
          <a:p>
            <a:endParaRPr lang="en-US"/>
          </a:p>
        </p:txBody>
      </p:sp>
      <p:sp>
        <p:nvSpPr>
          <p:cNvPr id="35" name="Text 33"/>
          <p:cNvSpPr txBox="1"/>
          <p:nvPr/>
        </p:nvSpPr>
        <p:spPr>
          <a:xfrm>
            <a:off x="8924544" y="4297680"/>
            <a:ext cx="2011680" cy="274320"/>
          </a:xfrm>
          <a:prstGeom prst="rect">
            <a:avLst/>
          </a:prstGeom>
          <a:noFill/>
          <a:ln/>
        </p:spPr>
        <p:txBody>
          <a:bodyPr wrap="square" lIns="0" tIns="0" rIns="0" bIns="0" rtlCol="0" anchor="t"/>
          <a:lstStyle/>
          <a:p>
            <a:pPr marL="0" indent="0">
              <a:buNone/>
            </a:pPr>
            <a:r>
              <a:rPr lang="en-US" sz="1200" b="1" dirty="0">
                <a:solidFill>
                  <a:schemeClr val="accent5"/>
                </a:solidFill>
                <a:latin typeface="Consolas" pitchFamily="34" charset="0"/>
                <a:ea typeface="Consolas" pitchFamily="34" charset="-122"/>
                <a:cs typeface="Consolas" pitchFamily="34" charset="-120"/>
              </a:rPr>
              <a:t>OFFLINE</a:t>
            </a:r>
            <a:endParaRPr lang="en-US" sz="1200" dirty="0"/>
          </a:p>
        </p:txBody>
      </p:sp>
      <p:sp>
        <p:nvSpPr>
          <p:cNvPr id="36" name="Text 34"/>
          <p:cNvSpPr txBox="1"/>
          <p:nvPr/>
        </p:nvSpPr>
        <p:spPr>
          <a:xfrm>
            <a:off x="8924544" y="4572000"/>
            <a:ext cx="2011680" cy="347472"/>
          </a:xfrm>
          <a:prstGeom prst="rect">
            <a:avLst/>
          </a:prstGeom>
          <a:noFill/>
          <a:ln/>
        </p:spPr>
        <p:txBody>
          <a:bodyPr wrap="square" lIns="0" tIns="0" rIns="0" bIns="0" rtlCol="0" anchor="t"/>
          <a:lstStyle/>
          <a:p>
            <a:pPr marL="0" indent="0">
              <a:buNone/>
            </a:pPr>
            <a:r>
              <a:rPr lang="en-US" sz="1600" b="1" dirty="0">
                <a:solidFill>
                  <a:schemeClr val="tx2"/>
                </a:solidFill>
              </a:rPr>
              <a:t>Hugging Face Hub</a:t>
            </a:r>
            <a:endParaRPr lang="en-US" sz="1600" dirty="0"/>
          </a:p>
        </p:txBody>
      </p:sp>
      <p:sp>
        <p:nvSpPr>
          <p:cNvPr id="37" name="Text 35"/>
          <p:cNvSpPr txBox="1"/>
          <p:nvPr/>
        </p:nvSpPr>
        <p:spPr>
          <a:xfrm>
            <a:off x="8924544" y="4937760"/>
            <a:ext cx="2011680" cy="548640"/>
          </a:xfrm>
          <a:prstGeom prst="rect">
            <a:avLst/>
          </a:prstGeom>
          <a:noFill/>
          <a:ln/>
        </p:spPr>
        <p:txBody>
          <a:bodyPr wrap="square" lIns="0" tIns="0" rIns="0" bIns="0" rtlCol="0" anchor="t"/>
          <a:lstStyle/>
          <a:p>
            <a:pPr marL="0" indent="0">
              <a:buNone/>
            </a:pPr>
            <a:r>
              <a:rPr lang="en-US" sz="1300" dirty="0">
                <a:solidFill>
                  <a:schemeClr val="tx1"/>
                </a:solidFill>
              </a:rPr>
              <a:t>Weights trained on RunPod, downloaded on first start</a:t>
            </a:r>
            <a:endParaRPr lang="en-US" sz="1300" dirty="0"/>
          </a:p>
        </p:txBody>
      </p:sp>
      <p:sp>
        <p:nvSpPr>
          <p:cNvPr id="38" name="connector"/>
          <p:cNvSpPr/>
          <p:nvPr/>
        </p:nvSpPr>
        <p:spPr>
          <a:xfrm>
            <a:off x="4462272" y="3648456"/>
            <a:ext cx="0" cy="475488"/>
          </a:xfrm>
          <a:prstGeom prst="line">
            <a:avLst/>
          </a:prstGeom>
          <a:noFill/>
          <a:ln w="22225">
            <a:solidFill>
              <a:schemeClr val="accent5"/>
            </a:solidFill>
            <a:prstDash val="dash"/>
            <a:headEnd type="triangle"/>
            <a:tailEnd type="triangle"/>
          </a:ln>
        </p:spPr>
        <p:txBody>
          <a:bodyPr/>
          <a:lstStyle/>
          <a:p>
            <a:endParaRPr lang="en-US"/>
          </a:p>
        </p:txBody>
      </p:sp>
      <p:sp>
        <p:nvSpPr>
          <p:cNvPr id="39" name="connector"/>
          <p:cNvSpPr/>
          <p:nvPr/>
        </p:nvSpPr>
        <p:spPr>
          <a:xfrm flipV="1">
            <a:off x="7187184" y="3648456"/>
            <a:ext cx="0" cy="475488"/>
          </a:xfrm>
          <a:prstGeom prst="line">
            <a:avLst/>
          </a:prstGeom>
          <a:noFill/>
          <a:ln w="22225">
            <a:solidFill>
              <a:schemeClr val="tx2"/>
            </a:solidFill>
            <a:prstDash val="solid"/>
            <a:tailEnd type="triangle"/>
          </a:ln>
        </p:spPr>
        <p:txBody>
          <a:bodyPr/>
          <a:lstStyle/>
          <a:p>
            <a:endParaRPr lang="en-US"/>
          </a:p>
        </p:txBody>
      </p:sp>
      <p:sp>
        <p:nvSpPr>
          <p:cNvPr id="40" name="connector"/>
          <p:cNvSpPr/>
          <p:nvPr/>
        </p:nvSpPr>
        <p:spPr>
          <a:xfrm flipV="1">
            <a:off x="9912096" y="3648456"/>
            <a:ext cx="0" cy="475488"/>
          </a:xfrm>
          <a:prstGeom prst="line">
            <a:avLst/>
          </a:prstGeom>
          <a:noFill/>
          <a:ln w="22225">
            <a:solidFill>
              <a:schemeClr val="accent5"/>
            </a:solidFill>
            <a:prstDash val="dash"/>
            <a:tailEnd type="triangle"/>
          </a:ln>
        </p:spPr>
        <p:txBody>
          <a:bodyPr/>
          <a:lstStyle/>
          <a:p>
            <a:endParaRPr lang="en-US"/>
          </a:p>
        </p:txBody>
      </p:sp>
      <p:sp>
        <p:nvSpPr>
          <p:cNvPr id="41" name="Text 39"/>
          <p:cNvSpPr txBox="1"/>
          <p:nvPr/>
        </p:nvSpPr>
        <p:spPr>
          <a:xfrm>
            <a:off x="548640" y="4251960"/>
            <a:ext cx="2377440" cy="1188720"/>
          </a:xfrm>
          <a:prstGeom prst="rect">
            <a:avLst/>
          </a:prstGeom>
          <a:noFill/>
          <a:ln/>
        </p:spPr>
        <p:txBody>
          <a:bodyPr wrap="square" lIns="0" tIns="0" rIns="0" bIns="0" rtlCol="0" anchor="t"/>
          <a:lstStyle/>
          <a:p>
            <a:pPr marL="0" indent="0">
              <a:buNone/>
            </a:pPr>
            <a:r>
              <a:rPr lang="en-US" sz="1300" dirty="0">
                <a:solidFill>
                  <a:schemeClr val="accent5"/>
                </a:solidFill>
              </a:rPr>
              <a:t>Each link becomes a background job. The page polls for progress, so long videos survive Cloudflare's 100-second request limit.</a:t>
            </a:r>
            <a:endParaRPr lang="en-US" sz="1300" dirty="0"/>
          </a:p>
        </p:txBody>
      </p:sp>
      <p:sp>
        <p:nvSpPr>
          <p:cNvPr id="42"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b="1" dirty="0">
                <a:solidFill>
                  <a:schemeClr val="accent3"/>
                </a:solidFill>
              </a:rPr>
              <a:t>Application</a:t>
            </a:r>
            <a:endParaRPr lang="en-US" sz="1200" dirty="0"/>
          </a:p>
        </p:txBody>
      </p:sp>
      <p:sp>
        <p:nvSpPr>
          <p:cNvPr id="3" name="next teaser"/>
          <p:cNvSpPr txBox="1"/>
          <p:nvPr/>
        </p:nvSpPr>
        <p:spPr>
          <a:xfrm>
            <a:off x="6949440" y="6373368"/>
            <a:ext cx="4069080" cy="292608"/>
          </a:xfrm>
          <a:prstGeom prst="rect">
            <a:avLst/>
          </a:prstGeom>
          <a:noFill/>
          <a:ln/>
        </p:spPr>
        <p:txBody>
          <a:bodyPr wrap="square" lIns="0" tIns="0" rIns="0" bIns="0" rtlCol="0" anchor="ctr"/>
          <a:lstStyle/>
          <a:p>
            <a:pPr marL="0" indent="0" algn="r">
              <a:buNone/>
            </a:pPr>
            <a:r>
              <a:rPr lang="en-US" sz="1200" b="1" i="1" dirty="0">
                <a:solidFill>
                  <a:schemeClr val="accent3"/>
                </a:solidFill>
              </a:rPr>
              <a:t>Next: </a:t>
            </a:r>
            <a:r>
              <a:rPr lang="en-US" sz="1200" i="1" dirty="0">
                <a:solidFill>
                  <a:schemeClr val="accent3"/>
                </a:solidFill>
              </a:rPr>
              <a:t>what we achieved and what comes next  →</a:t>
            </a:r>
            <a:endParaRPr lang="en-US" sz="1200" dirty="0"/>
          </a:p>
        </p:txBody>
      </p:sp>
      <p:sp>
        <p:nvSpPr>
          <p:cNvPr id="4"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16</a:t>
            </a:r>
            <a:endParaRPr lang="en-US" sz="11000" dirty="0"/>
          </a:p>
        </p:txBody>
      </p:sp>
      <p:sp>
        <p:nvSpPr>
          <p:cNvPr id="5"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16. Web application</a:t>
            </a:r>
            <a:endParaRPr lang="en-US" sz="1400" dirty="0"/>
          </a:p>
        </p:txBody>
      </p:sp>
      <p:sp>
        <p:nvSpPr>
          <p:cNvPr id="6"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Paste a YouTube link and get </a:t>
            </a:r>
            <a:r>
              <a:rPr lang="en-US" sz="3200" b="1" dirty="0">
                <a:solidFill>
                  <a:schemeClr val="accent3"/>
                </a:solidFill>
                <a:latin typeface="Calibri" pitchFamily="34" charset="0"/>
                <a:ea typeface="Calibri" pitchFamily="34" charset="-122"/>
                <a:cs typeface="Calibri" pitchFamily="34" charset="-120"/>
              </a:rPr>
              <a:t>Khmer subtitles</a:t>
            </a:r>
            <a:endParaRPr lang="en-US" sz="3200" dirty="0"/>
          </a:p>
        </p:txBody>
      </p:sp>
      <p:sp>
        <p:nvSpPr>
          <p:cNvPr id="7" name="screenshot backdrop"/>
          <p:cNvSpPr/>
          <p:nvPr/>
        </p:nvSpPr>
        <p:spPr>
          <a:xfrm>
            <a:off x="731520" y="1965960"/>
            <a:ext cx="5998464" cy="4160520"/>
          </a:xfrm>
          <a:prstGeom prst="roundRect">
            <a:avLst>
              <a:gd name="adj" fmla="val 1758"/>
            </a:avLst>
          </a:prstGeom>
          <a:solidFill>
            <a:schemeClr val="accent2"/>
          </a:solidFill>
          <a:ln w="12700">
            <a:solidFill>
              <a:schemeClr val="accent2"/>
            </a:solidFill>
            <a:prstDash val="solid"/>
          </a:ln>
        </p:spPr>
        <p:txBody>
          <a:bodyPr/>
          <a:lstStyle/>
          <a:p>
            <a:endParaRPr lang="en-US"/>
          </a:p>
        </p:txBody>
      </p:sp>
      <p:pic>
        <p:nvPicPr>
          <p:cNvPr id="8" name="Image 0" descr="Screenshot of the web app showing timestamped Khmer subtitle segments beside a YouTube video preview"/>
          <p:cNvPicPr>
            <a:picLocks noChangeAspect="1"/>
          </p:cNvPicPr>
          <p:nvPr/>
        </p:nvPicPr>
        <p:blipFill>
          <a:blip r:embed="rId3"/>
          <a:stretch>
            <a:fillRect/>
          </a:stretch>
        </p:blipFill>
        <p:spPr>
          <a:xfrm>
            <a:off x="548640" y="1783080"/>
            <a:ext cx="5998464" cy="4160520"/>
          </a:xfrm>
          <a:prstGeom prst="rect">
            <a:avLst/>
          </a:prstGeom>
        </p:spPr>
      </p:pic>
      <p:sp>
        <p:nvSpPr>
          <p:cNvPr id="9" name="Text 6"/>
          <p:cNvSpPr txBox="1"/>
          <p:nvPr/>
        </p:nvSpPr>
        <p:spPr>
          <a:xfrm>
            <a:off x="7269480" y="1783080"/>
            <a:ext cx="4370832" cy="365760"/>
          </a:xfrm>
          <a:prstGeom prst="rect">
            <a:avLst/>
          </a:prstGeom>
          <a:noFill/>
          <a:ln/>
        </p:spPr>
        <p:txBody>
          <a:bodyPr wrap="square" lIns="0" tIns="0" rIns="0" bIns="0" rtlCol="0" anchor="t"/>
          <a:lstStyle/>
          <a:p>
            <a:pPr marL="0" indent="0">
              <a:buNone/>
            </a:pPr>
            <a:r>
              <a:rPr lang="en-US" sz="1600" b="1" dirty="0">
                <a:solidFill>
                  <a:schemeClr val="accent3"/>
                </a:solidFill>
              </a:rPr>
              <a:t>The pipeline from section 3, running our model</a:t>
            </a:r>
            <a:endParaRPr lang="en-US" sz="1600" dirty="0"/>
          </a:p>
        </p:txBody>
      </p:sp>
      <p:sp>
        <p:nvSpPr>
          <p:cNvPr id="10" name="workflow YouTube URL"/>
          <p:cNvSpPr/>
          <p:nvPr/>
        </p:nvSpPr>
        <p:spPr>
          <a:xfrm>
            <a:off x="7269480" y="2331720"/>
            <a:ext cx="4370832" cy="402336"/>
          </a:xfrm>
          <a:prstGeom prst="roundRect">
            <a:avLst>
              <a:gd name="adj" fmla="val 50000"/>
            </a:avLst>
          </a:prstGeom>
          <a:solidFill>
            <a:schemeClr val="bg2"/>
          </a:solidFill>
          <a:ln w="12700">
            <a:solidFill>
              <a:schemeClr val="bg2"/>
            </a:solidFill>
            <a:prstDash val="solid"/>
          </a:ln>
        </p:spPr>
        <p:txBody>
          <a:bodyPr/>
          <a:lstStyle/>
          <a:p>
            <a:endParaRPr lang="en-US"/>
          </a:p>
        </p:txBody>
      </p:sp>
      <p:sp>
        <p:nvSpPr>
          <p:cNvPr id="11" name="Text 8"/>
          <p:cNvSpPr txBox="1"/>
          <p:nvPr/>
        </p:nvSpPr>
        <p:spPr>
          <a:xfrm>
            <a:off x="7269480" y="2331720"/>
            <a:ext cx="4370832" cy="402336"/>
          </a:xfrm>
          <a:prstGeom prst="rect">
            <a:avLst/>
          </a:prstGeom>
          <a:noFill/>
          <a:ln/>
        </p:spPr>
        <p:txBody>
          <a:bodyPr wrap="square" lIns="0" tIns="0" rIns="0" bIns="0" rtlCol="0" anchor="ctr"/>
          <a:lstStyle/>
          <a:p>
            <a:pPr marL="0" indent="0" algn="ctr">
              <a:buNone/>
            </a:pPr>
            <a:r>
              <a:rPr lang="en-US" sz="1500" b="1" dirty="0">
                <a:solidFill>
                  <a:schemeClr val="tx2"/>
                </a:solidFill>
              </a:rPr>
              <a:t>YouTube URL</a:t>
            </a:r>
            <a:endParaRPr lang="en-US" sz="1500" dirty="0"/>
          </a:p>
        </p:txBody>
      </p:sp>
      <p:sp>
        <p:nvSpPr>
          <p:cNvPr id="12" name="arrow"/>
          <p:cNvSpPr/>
          <p:nvPr/>
        </p:nvSpPr>
        <p:spPr>
          <a:xfrm>
            <a:off x="9454896" y="2752344"/>
            <a:ext cx="0" cy="128016"/>
          </a:xfrm>
          <a:prstGeom prst="line">
            <a:avLst/>
          </a:prstGeom>
          <a:noFill/>
          <a:ln w="19050">
            <a:solidFill>
              <a:schemeClr val="accent5"/>
            </a:solidFill>
            <a:prstDash val="solid"/>
            <a:tailEnd type="triangle"/>
          </a:ln>
        </p:spPr>
        <p:txBody>
          <a:bodyPr/>
          <a:lstStyle/>
          <a:p>
            <a:endParaRPr lang="en-US"/>
          </a:p>
        </p:txBody>
      </p:sp>
      <p:sp>
        <p:nvSpPr>
          <p:cNvPr id="13" name="workflow Extract audio"/>
          <p:cNvSpPr/>
          <p:nvPr/>
        </p:nvSpPr>
        <p:spPr>
          <a:xfrm>
            <a:off x="7269480" y="2898648"/>
            <a:ext cx="4370832" cy="402336"/>
          </a:xfrm>
          <a:prstGeom prst="roundRect">
            <a:avLst>
              <a:gd name="adj" fmla="val 50000"/>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7269480" y="2898648"/>
            <a:ext cx="4370832" cy="402336"/>
          </a:xfrm>
          <a:prstGeom prst="rect">
            <a:avLst/>
          </a:prstGeom>
          <a:noFill/>
          <a:ln/>
        </p:spPr>
        <p:txBody>
          <a:bodyPr wrap="square" lIns="0" tIns="0" rIns="0" bIns="0" rtlCol="0" anchor="ctr"/>
          <a:lstStyle/>
          <a:p>
            <a:pPr marL="0" indent="0" algn="ctr">
              <a:buNone/>
            </a:pPr>
            <a:r>
              <a:rPr lang="en-US" sz="1500" b="1" dirty="0">
                <a:solidFill>
                  <a:schemeClr val="tx2"/>
                </a:solidFill>
              </a:rPr>
              <a:t>Extract audio</a:t>
            </a:r>
            <a:endParaRPr lang="en-US" sz="1500" dirty="0"/>
          </a:p>
        </p:txBody>
      </p:sp>
      <p:sp>
        <p:nvSpPr>
          <p:cNvPr id="15" name="arrow"/>
          <p:cNvSpPr/>
          <p:nvPr/>
        </p:nvSpPr>
        <p:spPr>
          <a:xfrm>
            <a:off x="9454896" y="3319272"/>
            <a:ext cx="0" cy="128016"/>
          </a:xfrm>
          <a:prstGeom prst="line">
            <a:avLst/>
          </a:prstGeom>
          <a:noFill/>
          <a:ln w="19050">
            <a:solidFill>
              <a:schemeClr val="accent5"/>
            </a:solidFill>
            <a:prstDash val="solid"/>
            <a:tailEnd type="triangle"/>
          </a:ln>
        </p:spPr>
        <p:txBody>
          <a:bodyPr/>
          <a:lstStyle/>
          <a:p>
            <a:endParaRPr lang="en-US"/>
          </a:p>
        </p:txBody>
      </p:sp>
      <p:sp>
        <p:nvSpPr>
          <p:cNvPr id="16" name="workflow Whisper-small (fine-tuned)"/>
          <p:cNvSpPr/>
          <p:nvPr/>
        </p:nvSpPr>
        <p:spPr>
          <a:xfrm>
            <a:off x="7269480" y="3465576"/>
            <a:ext cx="4370832" cy="402336"/>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17" name="Text 14"/>
          <p:cNvSpPr txBox="1"/>
          <p:nvPr/>
        </p:nvSpPr>
        <p:spPr>
          <a:xfrm>
            <a:off x="7269480" y="3465576"/>
            <a:ext cx="4370832" cy="402336"/>
          </a:xfrm>
          <a:prstGeom prst="rect">
            <a:avLst/>
          </a:prstGeom>
          <a:noFill/>
          <a:ln/>
        </p:spPr>
        <p:txBody>
          <a:bodyPr wrap="square" lIns="0" tIns="0" rIns="0" bIns="0" rtlCol="0" anchor="ctr"/>
          <a:lstStyle/>
          <a:p>
            <a:pPr marL="0" indent="0" algn="ctr">
              <a:buNone/>
            </a:pPr>
            <a:r>
              <a:rPr lang="en-US" sz="1500" b="1" dirty="0">
                <a:solidFill>
                  <a:schemeClr val="tx2"/>
                </a:solidFill>
              </a:rPr>
              <a:t>Whisper-small (fine-tuned)</a:t>
            </a:r>
            <a:endParaRPr lang="en-US" sz="1500" dirty="0"/>
          </a:p>
        </p:txBody>
      </p:sp>
      <p:sp>
        <p:nvSpPr>
          <p:cNvPr id="18" name="arrow"/>
          <p:cNvSpPr/>
          <p:nvPr/>
        </p:nvSpPr>
        <p:spPr>
          <a:xfrm>
            <a:off x="9454896" y="3886200"/>
            <a:ext cx="0" cy="128016"/>
          </a:xfrm>
          <a:prstGeom prst="line">
            <a:avLst/>
          </a:prstGeom>
          <a:noFill/>
          <a:ln w="19050">
            <a:solidFill>
              <a:schemeClr val="accent5"/>
            </a:solidFill>
            <a:prstDash val="solid"/>
            <a:tailEnd type="triangle"/>
          </a:ln>
        </p:spPr>
        <p:txBody>
          <a:bodyPr/>
          <a:lstStyle/>
          <a:p>
            <a:endParaRPr lang="en-US"/>
          </a:p>
        </p:txBody>
      </p:sp>
      <p:sp>
        <p:nvSpPr>
          <p:cNvPr id="19" name="workflow Timestamped Khmer subtitles"/>
          <p:cNvSpPr/>
          <p:nvPr/>
        </p:nvSpPr>
        <p:spPr>
          <a:xfrm>
            <a:off x="7269480" y="4032504"/>
            <a:ext cx="4370832" cy="402336"/>
          </a:xfrm>
          <a:prstGeom prst="roundRect">
            <a:avLst>
              <a:gd name="adj" fmla="val 50000"/>
            </a:avLst>
          </a:prstGeom>
          <a:solidFill>
            <a:schemeClr val="bg2"/>
          </a:solidFill>
          <a:ln w="12700">
            <a:solidFill>
              <a:schemeClr val="bg2"/>
            </a:solidFill>
            <a:prstDash val="solid"/>
          </a:ln>
        </p:spPr>
        <p:txBody>
          <a:bodyPr/>
          <a:lstStyle/>
          <a:p>
            <a:endParaRPr lang="en-US"/>
          </a:p>
        </p:txBody>
      </p:sp>
      <p:sp>
        <p:nvSpPr>
          <p:cNvPr id="20" name="Text 17"/>
          <p:cNvSpPr txBox="1"/>
          <p:nvPr/>
        </p:nvSpPr>
        <p:spPr>
          <a:xfrm>
            <a:off x="7269480" y="4032504"/>
            <a:ext cx="4370832" cy="402336"/>
          </a:xfrm>
          <a:prstGeom prst="rect">
            <a:avLst/>
          </a:prstGeom>
          <a:noFill/>
          <a:ln/>
        </p:spPr>
        <p:txBody>
          <a:bodyPr wrap="square" lIns="0" tIns="0" rIns="0" bIns="0" rtlCol="0" anchor="ctr"/>
          <a:lstStyle/>
          <a:p>
            <a:pPr marL="0" indent="0" algn="ctr">
              <a:buNone/>
            </a:pPr>
            <a:r>
              <a:rPr lang="en-US" sz="1500" b="1" dirty="0">
                <a:solidFill>
                  <a:schemeClr val="tx2"/>
                </a:solidFill>
              </a:rPr>
              <a:t>Timestamped Khmer subtitles</a:t>
            </a:r>
            <a:endParaRPr lang="en-US" sz="1500" dirty="0"/>
          </a:p>
        </p:txBody>
      </p:sp>
      <p:sp>
        <p:nvSpPr>
          <p:cNvPr id="21" name="arrow"/>
          <p:cNvSpPr/>
          <p:nvPr/>
        </p:nvSpPr>
        <p:spPr>
          <a:xfrm>
            <a:off x="9454896" y="4453128"/>
            <a:ext cx="0" cy="128016"/>
          </a:xfrm>
          <a:prstGeom prst="line">
            <a:avLst/>
          </a:prstGeom>
          <a:noFill/>
          <a:ln w="19050">
            <a:solidFill>
              <a:schemeClr val="accent5"/>
            </a:solidFill>
            <a:prstDash val="solid"/>
            <a:tailEnd type="triangle"/>
          </a:ln>
        </p:spPr>
        <p:txBody>
          <a:bodyPr/>
          <a:lstStyle/>
          <a:p>
            <a:endParaRPr lang="en-US"/>
          </a:p>
        </p:txBody>
      </p:sp>
      <p:sp>
        <p:nvSpPr>
          <p:cNvPr id="22" name="workflow SRT / TXT"/>
          <p:cNvSpPr/>
          <p:nvPr/>
        </p:nvSpPr>
        <p:spPr>
          <a:xfrm>
            <a:off x="7269480" y="4599432"/>
            <a:ext cx="4370832" cy="402336"/>
          </a:xfrm>
          <a:prstGeom prst="roundRect">
            <a:avLst>
              <a:gd name="adj" fmla="val 50000"/>
            </a:avLst>
          </a:prstGeom>
          <a:solidFill>
            <a:schemeClr val="bg2"/>
          </a:solidFill>
          <a:ln w="12700">
            <a:solidFill>
              <a:schemeClr val="bg2"/>
            </a:solidFill>
            <a:prstDash val="solid"/>
          </a:ln>
        </p:spPr>
        <p:txBody>
          <a:bodyPr/>
          <a:lstStyle/>
          <a:p>
            <a:endParaRPr lang="en-US"/>
          </a:p>
        </p:txBody>
      </p:sp>
      <p:sp>
        <p:nvSpPr>
          <p:cNvPr id="23" name="Text 20"/>
          <p:cNvSpPr txBox="1"/>
          <p:nvPr/>
        </p:nvSpPr>
        <p:spPr>
          <a:xfrm>
            <a:off x="7269480" y="4599432"/>
            <a:ext cx="4370832" cy="402336"/>
          </a:xfrm>
          <a:prstGeom prst="rect">
            <a:avLst/>
          </a:prstGeom>
          <a:noFill/>
          <a:ln/>
        </p:spPr>
        <p:txBody>
          <a:bodyPr wrap="square" lIns="0" tIns="0" rIns="0" bIns="0" rtlCol="0" anchor="ctr"/>
          <a:lstStyle/>
          <a:p>
            <a:pPr marL="0" indent="0" algn="ctr">
              <a:buNone/>
            </a:pPr>
            <a:r>
              <a:rPr lang="en-US" sz="1500" b="1" dirty="0">
                <a:solidFill>
                  <a:schemeClr val="tx2"/>
                </a:solidFill>
              </a:rPr>
              <a:t>SRT / TXT</a:t>
            </a:r>
            <a:endParaRPr lang="en-US" sz="1500" dirty="0"/>
          </a:p>
        </p:txBody>
      </p:sp>
      <p:sp>
        <p:nvSpPr>
          <p:cNvPr id="24" name="demo stats"/>
          <p:cNvSpPr/>
          <p:nvPr/>
        </p:nvSpPr>
        <p:spPr>
          <a:xfrm>
            <a:off x="7269480" y="5257800"/>
            <a:ext cx="4370832" cy="9144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25" name="Text 22"/>
          <p:cNvSpPr txBox="1"/>
          <p:nvPr/>
        </p:nvSpPr>
        <p:spPr>
          <a:xfrm>
            <a:off x="7452360" y="5330952"/>
            <a:ext cx="1417320" cy="438912"/>
          </a:xfrm>
          <a:prstGeom prst="rect">
            <a:avLst/>
          </a:prstGeom>
          <a:noFill/>
          <a:ln/>
        </p:spPr>
        <p:txBody>
          <a:bodyPr wrap="square" lIns="0" tIns="0" rIns="0" bIns="0" rtlCol="0" anchor="t"/>
          <a:lstStyle/>
          <a:p>
            <a:pPr marL="0" indent="0">
              <a:buNone/>
            </a:pPr>
            <a:r>
              <a:rPr lang="en-US" sz="2100" b="1" dirty="0">
                <a:solidFill>
                  <a:schemeClr val="bg1"/>
                </a:solidFill>
              </a:rPr>
              <a:t>14</a:t>
            </a:r>
            <a:endParaRPr lang="en-US" sz="2100" dirty="0"/>
          </a:p>
        </p:txBody>
      </p:sp>
      <p:sp>
        <p:nvSpPr>
          <p:cNvPr id="26" name="Text 23"/>
          <p:cNvSpPr txBox="1"/>
          <p:nvPr/>
        </p:nvSpPr>
        <p:spPr>
          <a:xfrm>
            <a:off x="7452360" y="5760720"/>
            <a:ext cx="1417320" cy="274320"/>
          </a:xfrm>
          <a:prstGeom prst="rect">
            <a:avLst/>
          </a:prstGeom>
          <a:noFill/>
          <a:ln/>
        </p:spPr>
        <p:txBody>
          <a:bodyPr wrap="square" lIns="0" tIns="0" rIns="0" bIns="0" rtlCol="0" anchor="t"/>
          <a:lstStyle/>
          <a:p>
            <a:pPr marL="0" indent="0">
              <a:buNone/>
            </a:pPr>
            <a:r>
              <a:rPr lang="en-US" sz="1200" dirty="0">
                <a:solidFill>
                  <a:schemeClr val="accent6"/>
                </a:solidFill>
              </a:rPr>
              <a:t>subtitle segments</a:t>
            </a:r>
            <a:endParaRPr lang="en-US" sz="1200" dirty="0"/>
          </a:p>
        </p:txBody>
      </p:sp>
      <p:sp>
        <p:nvSpPr>
          <p:cNvPr id="27" name="Text 24"/>
          <p:cNvSpPr txBox="1"/>
          <p:nvPr/>
        </p:nvSpPr>
        <p:spPr>
          <a:xfrm>
            <a:off x="8869680" y="5330952"/>
            <a:ext cx="1417320" cy="438912"/>
          </a:xfrm>
          <a:prstGeom prst="rect">
            <a:avLst/>
          </a:prstGeom>
          <a:noFill/>
          <a:ln/>
        </p:spPr>
        <p:txBody>
          <a:bodyPr wrap="square" lIns="0" tIns="0" rIns="0" bIns="0" rtlCol="0" anchor="t"/>
          <a:lstStyle/>
          <a:p>
            <a:pPr marL="0" indent="0">
              <a:buNone/>
            </a:pPr>
            <a:r>
              <a:rPr lang="en-US" sz="2100" b="1" dirty="0">
                <a:solidFill>
                  <a:schemeClr val="bg1"/>
                </a:solidFill>
              </a:rPr>
              <a:t>2m 41s</a:t>
            </a:r>
            <a:endParaRPr lang="en-US" sz="2100" dirty="0"/>
          </a:p>
        </p:txBody>
      </p:sp>
      <p:sp>
        <p:nvSpPr>
          <p:cNvPr id="28" name="Text 25"/>
          <p:cNvSpPr txBox="1"/>
          <p:nvPr/>
        </p:nvSpPr>
        <p:spPr>
          <a:xfrm>
            <a:off x="8869680" y="5760720"/>
            <a:ext cx="1417320" cy="274320"/>
          </a:xfrm>
          <a:prstGeom prst="rect">
            <a:avLst/>
          </a:prstGeom>
          <a:noFill/>
          <a:ln/>
        </p:spPr>
        <p:txBody>
          <a:bodyPr wrap="square" lIns="0" tIns="0" rIns="0" bIns="0" rtlCol="0" anchor="t"/>
          <a:lstStyle/>
          <a:p>
            <a:pPr marL="0" indent="0">
              <a:buNone/>
            </a:pPr>
            <a:r>
              <a:rPr lang="en-US" sz="1200" dirty="0">
                <a:solidFill>
                  <a:schemeClr val="accent6"/>
                </a:solidFill>
              </a:rPr>
              <a:t>video</a:t>
            </a:r>
            <a:endParaRPr lang="en-US" sz="1200" dirty="0"/>
          </a:p>
        </p:txBody>
      </p:sp>
      <p:sp>
        <p:nvSpPr>
          <p:cNvPr id="29" name="Text 26"/>
          <p:cNvSpPr txBox="1"/>
          <p:nvPr/>
        </p:nvSpPr>
        <p:spPr>
          <a:xfrm>
            <a:off x="10287000" y="5330952"/>
            <a:ext cx="1417320" cy="438912"/>
          </a:xfrm>
          <a:prstGeom prst="rect">
            <a:avLst/>
          </a:prstGeom>
          <a:noFill/>
          <a:ln/>
        </p:spPr>
        <p:txBody>
          <a:bodyPr wrap="square" lIns="0" tIns="0" rIns="0" bIns="0" rtlCol="0" anchor="t"/>
          <a:lstStyle/>
          <a:p>
            <a:pPr marL="0" indent="0">
              <a:buNone/>
            </a:pPr>
            <a:r>
              <a:rPr lang="en-US" sz="2100" b="1" dirty="0">
                <a:solidFill>
                  <a:schemeClr val="bg1"/>
                </a:solidFill>
              </a:rPr>
              <a:t>SRT / TXT</a:t>
            </a:r>
            <a:endParaRPr lang="en-US" sz="2100" dirty="0"/>
          </a:p>
        </p:txBody>
      </p:sp>
      <p:sp>
        <p:nvSpPr>
          <p:cNvPr id="30" name="Text 27"/>
          <p:cNvSpPr txBox="1"/>
          <p:nvPr/>
        </p:nvSpPr>
        <p:spPr>
          <a:xfrm>
            <a:off x="10287000" y="5760720"/>
            <a:ext cx="1417320" cy="274320"/>
          </a:xfrm>
          <a:prstGeom prst="rect">
            <a:avLst/>
          </a:prstGeom>
          <a:noFill/>
          <a:ln/>
        </p:spPr>
        <p:txBody>
          <a:bodyPr wrap="square" lIns="0" tIns="0" rIns="0" bIns="0" rtlCol="0" anchor="t"/>
          <a:lstStyle/>
          <a:p>
            <a:pPr marL="0" indent="0">
              <a:buNone/>
            </a:pPr>
            <a:r>
              <a:rPr lang="en-US" sz="1200" dirty="0">
                <a:solidFill>
                  <a:schemeClr val="accent6"/>
                </a:solidFill>
              </a:rPr>
              <a:t>export</a:t>
            </a:r>
            <a:endParaRPr lang="en-US" sz="1200" dirty="0"/>
          </a:p>
        </p:txBody>
      </p:sp>
      <p:sp>
        <p:nvSpPr>
          <p:cNvPr id="31"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tory tracker"/>
          <p:cNvSpPr txBox="1"/>
          <p:nvPr/>
        </p:nvSpPr>
        <p:spPr>
          <a:xfrm>
            <a:off x="548640" y="6373368"/>
            <a:ext cx="6583680" cy="292608"/>
          </a:xfrm>
          <a:prstGeom prst="rect">
            <a:avLst/>
          </a:prstGeom>
          <a:noFill/>
          <a:ln/>
        </p:spPr>
        <p:txBody>
          <a:bodyPr wrap="square" lIns="0" tIns="0" rIns="0" bIns="0" rtlCol="0" anchor="ctr"/>
          <a:lstStyle/>
          <a:p>
            <a:pPr marL="0" indent="0">
              <a:buNone/>
            </a:pPr>
            <a:r>
              <a:rPr lang="en-US" sz="1200" dirty="0">
                <a:solidFill>
                  <a:schemeClr val="accent5"/>
                </a:solidFill>
              </a:rPr>
              <a:t>Problem</a:t>
            </a:r>
            <a:r>
              <a:rPr lang="en-US" sz="1200" dirty="0">
                <a:solidFill>
                  <a:schemeClr val="accent6"/>
                </a:solidFill>
              </a:rPr>
              <a:t>   ›   </a:t>
            </a:r>
            <a:r>
              <a:rPr lang="en-US" sz="1200" dirty="0">
                <a:solidFill>
                  <a:schemeClr val="accent5"/>
                </a:solidFill>
              </a:rPr>
              <a:t>Data</a:t>
            </a:r>
            <a:r>
              <a:rPr lang="en-US" sz="1200" dirty="0">
                <a:solidFill>
                  <a:schemeClr val="accent6"/>
                </a:solidFill>
              </a:rPr>
              <a:t>   ›   </a:t>
            </a:r>
            <a:r>
              <a:rPr lang="en-US" sz="1200" dirty="0">
                <a:solidFill>
                  <a:schemeClr val="accent5"/>
                </a:solidFill>
              </a:rPr>
              <a:t>Model</a:t>
            </a:r>
            <a:r>
              <a:rPr lang="en-US" sz="1200" dirty="0">
                <a:solidFill>
                  <a:schemeClr val="accent6"/>
                </a:solidFill>
              </a:rPr>
              <a:t>   ›   </a:t>
            </a:r>
            <a:r>
              <a:rPr lang="en-US" sz="1200" dirty="0">
                <a:solidFill>
                  <a:schemeClr val="accent5"/>
                </a:solidFill>
              </a:rPr>
              <a:t>Experiments</a:t>
            </a:r>
            <a:r>
              <a:rPr lang="en-US" sz="1200" dirty="0">
                <a:solidFill>
                  <a:schemeClr val="accent6"/>
                </a:solidFill>
              </a:rPr>
              <a:t>   ›   </a:t>
            </a:r>
            <a:r>
              <a:rPr lang="en-US" sz="1200" dirty="0">
                <a:solidFill>
                  <a:schemeClr val="accent5"/>
                </a:solidFill>
              </a:rPr>
              <a:t>Results</a:t>
            </a:r>
            <a:r>
              <a:rPr lang="en-US" sz="1200" dirty="0">
                <a:solidFill>
                  <a:schemeClr val="accent6"/>
                </a:solidFill>
              </a:rPr>
              <a:t>   ›   </a:t>
            </a:r>
            <a:r>
              <a:rPr lang="en-US" sz="1200" b="1" dirty="0">
                <a:solidFill>
                  <a:schemeClr val="accent3"/>
                </a:solidFill>
              </a:rPr>
              <a:t>Application</a:t>
            </a:r>
            <a:endParaRPr lang="en-US" sz="1200" dirty="0"/>
          </a:p>
        </p:txBody>
      </p:sp>
      <p:sp>
        <p:nvSpPr>
          <p:cNvPr id="3" name="section number"/>
          <p:cNvSpPr txBox="1"/>
          <p:nvPr/>
        </p:nvSpPr>
        <p:spPr>
          <a:xfrm>
            <a:off x="8897112" y="45720"/>
            <a:ext cx="2834640" cy="1417320"/>
          </a:xfrm>
          <a:prstGeom prst="rect">
            <a:avLst/>
          </a:prstGeom>
          <a:noFill/>
          <a:ln/>
        </p:spPr>
        <p:txBody>
          <a:bodyPr wrap="square" lIns="0" tIns="0" rIns="0" bIns="0" rtlCol="0" anchor="t"/>
          <a:lstStyle/>
          <a:p>
            <a:pPr marL="0" indent="0" algn="r">
              <a:buNone/>
            </a:pPr>
            <a:r>
              <a:rPr lang="en-US" sz="11000" b="1" dirty="0">
                <a:solidFill>
                  <a:schemeClr val="accent6">
                    <a:alpha val="65000"/>
                  </a:schemeClr>
                </a:solidFill>
              </a:rPr>
              <a:t>17</a:t>
            </a:r>
            <a:endParaRPr lang="en-US" sz="11000" dirty="0"/>
          </a:p>
        </p:txBody>
      </p:sp>
      <p:sp>
        <p:nvSpPr>
          <p:cNvPr id="4"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17. Conclusion, limitations and future work</a:t>
            </a:r>
            <a:endParaRPr lang="en-US" sz="1400" dirty="0"/>
          </a:p>
        </p:txBody>
      </p:sp>
      <p:sp>
        <p:nvSpPr>
          <p:cNvPr id="5"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What we achieved and what comes next</a:t>
            </a:r>
            <a:endParaRPr lang="en-US" sz="3200" dirty="0"/>
          </a:p>
        </p:txBody>
      </p:sp>
      <p:sp>
        <p:nvSpPr>
          <p:cNvPr id="6" name="achievements panel"/>
          <p:cNvSpPr/>
          <p:nvPr/>
        </p:nvSpPr>
        <p:spPr>
          <a:xfrm>
            <a:off x="548640" y="1783080"/>
            <a:ext cx="4343400" cy="4206240"/>
          </a:xfrm>
          <a:prstGeom prst="roundRect">
            <a:avLst>
              <a:gd name="adj" fmla="val 1739"/>
            </a:avLst>
          </a:prstGeom>
          <a:solidFill>
            <a:schemeClr val="tx2"/>
          </a:solidFill>
          <a:ln w="12700">
            <a:solidFill>
              <a:schemeClr val="tx2"/>
            </a:solidFill>
            <a:prstDash val="solid"/>
          </a:ln>
        </p:spPr>
        <p:txBody>
          <a:bodyPr/>
          <a:lstStyle/>
          <a:p>
            <a:endParaRPr lang="en-US"/>
          </a:p>
        </p:txBody>
      </p:sp>
      <p:sp>
        <p:nvSpPr>
          <p:cNvPr id="7" name="Text 5"/>
          <p:cNvSpPr txBox="1"/>
          <p:nvPr/>
        </p:nvSpPr>
        <p:spPr>
          <a:xfrm>
            <a:off x="822960" y="1965960"/>
            <a:ext cx="3840480" cy="365760"/>
          </a:xfrm>
          <a:prstGeom prst="rect">
            <a:avLst/>
          </a:prstGeom>
          <a:noFill/>
          <a:ln/>
        </p:spPr>
        <p:txBody>
          <a:bodyPr wrap="square" lIns="0" tIns="0" rIns="0" bIns="0" rtlCol="0" anchor="t"/>
          <a:lstStyle/>
          <a:p>
            <a:pPr marL="0" indent="0">
              <a:buNone/>
            </a:pPr>
            <a:r>
              <a:rPr lang="en-US" sz="1900" b="1" dirty="0">
                <a:solidFill>
                  <a:schemeClr val="accent2"/>
                </a:solidFill>
              </a:rPr>
              <a:t>What we achieved</a:t>
            </a:r>
            <a:endParaRPr lang="en-US" sz="1900" dirty="0"/>
          </a:p>
        </p:txBody>
      </p:sp>
      <p:pic>
        <p:nvPicPr>
          <p:cNvPr id="8" name="Image 0" descr="check icon"/>
          <p:cNvPicPr>
            <a:picLocks noChangeAspect="1"/>
          </p:cNvPicPr>
          <p:nvPr/>
        </p:nvPicPr>
        <p:blipFill>
          <a:blip r:embed="rId3"/>
          <a:stretch>
            <a:fillRect/>
          </a:stretch>
        </p:blipFill>
        <p:spPr>
          <a:xfrm>
            <a:off x="822960" y="2523744"/>
            <a:ext cx="274320" cy="274320"/>
          </a:xfrm>
          <a:prstGeom prst="rect">
            <a:avLst/>
          </a:prstGeom>
        </p:spPr>
      </p:pic>
      <p:sp>
        <p:nvSpPr>
          <p:cNvPr id="9" name="Text 6"/>
          <p:cNvSpPr txBox="1"/>
          <p:nvPr/>
        </p:nvSpPr>
        <p:spPr>
          <a:xfrm>
            <a:off x="1234440" y="2487168"/>
            <a:ext cx="3520440" cy="594360"/>
          </a:xfrm>
          <a:prstGeom prst="rect">
            <a:avLst/>
          </a:prstGeom>
          <a:noFill/>
          <a:ln/>
        </p:spPr>
        <p:txBody>
          <a:bodyPr wrap="square" lIns="0" tIns="0" rIns="0" bIns="0" rtlCol="0" anchor="t"/>
          <a:lstStyle/>
          <a:p>
            <a:pPr marL="0" indent="0">
              <a:buNone/>
            </a:pPr>
            <a:r>
              <a:rPr lang="en-US" sz="1500" dirty="0">
                <a:solidFill>
                  <a:schemeClr val="bg1"/>
                </a:solidFill>
              </a:rPr>
              <a:t>Working YouTube-to-Khmer subtitle application</a:t>
            </a:r>
            <a:endParaRPr lang="en-US" sz="1500" dirty="0"/>
          </a:p>
        </p:txBody>
      </p:sp>
      <p:pic>
        <p:nvPicPr>
          <p:cNvPr id="10" name="Image 1" descr="check icon"/>
          <p:cNvPicPr>
            <a:picLocks noChangeAspect="1"/>
          </p:cNvPicPr>
          <p:nvPr/>
        </p:nvPicPr>
        <p:blipFill>
          <a:blip r:embed="rId3"/>
          <a:stretch>
            <a:fillRect/>
          </a:stretch>
        </p:blipFill>
        <p:spPr>
          <a:xfrm>
            <a:off x="822960" y="3209544"/>
            <a:ext cx="274320" cy="274320"/>
          </a:xfrm>
          <a:prstGeom prst="rect">
            <a:avLst/>
          </a:prstGeom>
        </p:spPr>
      </p:pic>
      <p:sp>
        <p:nvSpPr>
          <p:cNvPr id="11" name="Text 7"/>
          <p:cNvSpPr txBox="1"/>
          <p:nvPr/>
        </p:nvSpPr>
        <p:spPr>
          <a:xfrm>
            <a:off x="1234440" y="3172968"/>
            <a:ext cx="3520440" cy="594360"/>
          </a:xfrm>
          <a:prstGeom prst="rect">
            <a:avLst/>
          </a:prstGeom>
          <a:noFill/>
          <a:ln/>
        </p:spPr>
        <p:txBody>
          <a:bodyPr wrap="square" lIns="0" tIns="0" rIns="0" bIns="0" rtlCol="0" anchor="t"/>
          <a:lstStyle/>
          <a:p>
            <a:pPr marL="0" indent="0">
              <a:buNone/>
            </a:pPr>
            <a:r>
              <a:rPr lang="en-US" sz="1500" dirty="0">
                <a:solidFill>
                  <a:schemeClr val="bg1"/>
                </a:solidFill>
              </a:rPr>
              <a:t>Fully fine-tuned Whisper-small (~241M parameters)</a:t>
            </a:r>
            <a:endParaRPr lang="en-US" sz="1500" dirty="0"/>
          </a:p>
        </p:txBody>
      </p:sp>
      <p:pic>
        <p:nvPicPr>
          <p:cNvPr id="12" name="Image 2" descr="check icon"/>
          <p:cNvPicPr>
            <a:picLocks noChangeAspect="1"/>
          </p:cNvPicPr>
          <p:nvPr/>
        </p:nvPicPr>
        <p:blipFill>
          <a:blip r:embed="rId3"/>
          <a:stretch>
            <a:fillRect/>
          </a:stretch>
        </p:blipFill>
        <p:spPr>
          <a:xfrm>
            <a:off x="822960" y="3895344"/>
            <a:ext cx="274320" cy="274320"/>
          </a:xfrm>
          <a:prstGeom prst="rect">
            <a:avLst/>
          </a:prstGeom>
        </p:spPr>
      </p:pic>
      <p:sp>
        <p:nvSpPr>
          <p:cNvPr id="13" name="Text 8"/>
          <p:cNvSpPr txBox="1"/>
          <p:nvPr/>
        </p:nvSpPr>
        <p:spPr>
          <a:xfrm>
            <a:off x="1234440" y="3858768"/>
            <a:ext cx="3520440" cy="594360"/>
          </a:xfrm>
          <a:prstGeom prst="rect">
            <a:avLst/>
          </a:prstGeom>
          <a:noFill/>
          <a:ln/>
        </p:spPr>
        <p:txBody>
          <a:bodyPr wrap="square" lIns="0" tIns="0" rIns="0" bIns="0" rtlCol="0" anchor="t"/>
          <a:lstStyle/>
          <a:p>
            <a:pPr marL="0" indent="0">
              <a:buNone/>
            </a:pPr>
            <a:r>
              <a:rPr lang="en-US" sz="1500" dirty="0">
                <a:solidFill>
                  <a:schemeClr val="bg1"/>
                </a:solidFill>
              </a:rPr>
              <a:t>Test CER without spaces: 24.9%</a:t>
            </a:r>
            <a:endParaRPr lang="en-US" sz="1500" dirty="0"/>
          </a:p>
        </p:txBody>
      </p:sp>
      <p:pic>
        <p:nvPicPr>
          <p:cNvPr id="14" name="Image 3" descr="check icon"/>
          <p:cNvPicPr>
            <a:picLocks noChangeAspect="1"/>
          </p:cNvPicPr>
          <p:nvPr/>
        </p:nvPicPr>
        <p:blipFill>
          <a:blip r:embed="rId3"/>
          <a:stretch>
            <a:fillRect/>
          </a:stretch>
        </p:blipFill>
        <p:spPr>
          <a:xfrm>
            <a:off x="822960" y="4581144"/>
            <a:ext cx="274320" cy="274320"/>
          </a:xfrm>
          <a:prstGeom prst="rect">
            <a:avLst/>
          </a:prstGeom>
        </p:spPr>
      </p:pic>
      <p:sp>
        <p:nvSpPr>
          <p:cNvPr id="15" name="Text 9"/>
          <p:cNvSpPr txBox="1"/>
          <p:nvPr/>
        </p:nvSpPr>
        <p:spPr>
          <a:xfrm>
            <a:off x="1234440" y="4544568"/>
            <a:ext cx="3520440" cy="594360"/>
          </a:xfrm>
          <a:prstGeom prst="rect">
            <a:avLst/>
          </a:prstGeom>
          <a:noFill/>
          <a:ln/>
        </p:spPr>
        <p:txBody>
          <a:bodyPr wrap="square" lIns="0" tIns="0" rIns="0" bIns="0" rtlCol="0" anchor="t"/>
          <a:lstStyle/>
          <a:p>
            <a:pPr marL="0" indent="0">
              <a:buNone/>
            </a:pPr>
            <a:r>
              <a:rPr lang="en-US" sz="1500" dirty="0">
                <a:solidFill>
                  <a:schemeClr val="bg1"/>
                </a:solidFill>
              </a:rPr>
              <a:t>DDD_TEST CER without spaces: 18.9%</a:t>
            </a:r>
            <a:endParaRPr lang="en-US" sz="1500" dirty="0"/>
          </a:p>
        </p:txBody>
      </p:sp>
      <p:pic>
        <p:nvPicPr>
          <p:cNvPr id="16" name="Image 4" descr="check icon"/>
          <p:cNvPicPr>
            <a:picLocks noChangeAspect="1"/>
          </p:cNvPicPr>
          <p:nvPr/>
        </p:nvPicPr>
        <p:blipFill>
          <a:blip r:embed="rId3"/>
          <a:stretch>
            <a:fillRect/>
          </a:stretch>
        </p:blipFill>
        <p:spPr>
          <a:xfrm>
            <a:off x="822960" y="5266944"/>
            <a:ext cx="274320" cy="274320"/>
          </a:xfrm>
          <a:prstGeom prst="rect">
            <a:avLst/>
          </a:prstGeom>
        </p:spPr>
      </p:pic>
      <p:sp>
        <p:nvSpPr>
          <p:cNvPr id="17" name="Text 10"/>
          <p:cNvSpPr txBox="1"/>
          <p:nvPr/>
        </p:nvSpPr>
        <p:spPr>
          <a:xfrm>
            <a:off x="1234440" y="5230368"/>
            <a:ext cx="3520440" cy="594360"/>
          </a:xfrm>
          <a:prstGeom prst="rect">
            <a:avLst/>
          </a:prstGeom>
          <a:noFill/>
          <a:ln/>
        </p:spPr>
        <p:txBody>
          <a:bodyPr wrap="square" lIns="0" tIns="0" rIns="0" bIns="0" rtlCol="0" anchor="t"/>
          <a:lstStyle/>
          <a:p>
            <a:pPr marL="0" indent="0">
              <a:buNone/>
            </a:pPr>
            <a:r>
              <a:rPr lang="en-US" sz="1500" dirty="0">
                <a:solidFill>
                  <a:schemeClr val="bg1"/>
                </a:solidFill>
              </a:rPr>
              <a:t>Training completed in 44m 24s on one RTX 4090</a:t>
            </a:r>
            <a:endParaRPr lang="en-US" sz="1500" dirty="0"/>
          </a:p>
        </p:txBody>
      </p:sp>
      <p:sp>
        <p:nvSpPr>
          <p:cNvPr id="18" name="Text 11"/>
          <p:cNvSpPr txBox="1"/>
          <p:nvPr/>
        </p:nvSpPr>
        <p:spPr>
          <a:xfrm>
            <a:off x="5257800" y="1828800"/>
            <a:ext cx="3017520" cy="365760"/>
          </a:xfrm>
          <a:prstGeom prst="rect">
            <a:avLst/>
          </a:prstGeom>
          <a:noFill/>
          <a:ln/>
        </p:spPr>
        <p:txBody>
          <a:bodyPr wrap="square" lIns="0" tIns="0" rIns="0" bIns="0" rtlCol="0" anchor="t"/>
          <a:lstStyle/>
          <a:p>
            <a:pPr marL="0" indent="0">
              <a:buNone/>
            </a:pPr>
            <a:r>
              <a:rPr lang="en-US" sz="1900" b="1" dirty="0">
                <a:solidFill>
                  <a:schemeClr val="accent4"/>
                </a:solidFill>
              </a:rPr>
              <a:t>Limitations</a:t>
            </a:r>
            <a:endParaRPr lang="en-US" sz="1900" dirty="0"/>
          </a:p>
        </p:txBody>
      </p:sp>
      <p:sp>
        <p:nvSpPr>
          <p:cNvPr id="19" name="line"/>
          <p:cNvSpPr/>
          <p:nvPr/>
        </p:nvSpPr>
        <p:spPr>
          <a:xfrm>
            <a:off x="5257800" y="2267712"/>
            <a:ext cx="2926080" cy="0"/>
          </a:xfrm>
          <a:prstGeom prst="line">
            <a:avLst/>
          </a:prstGeom>
          <a:noFill/>
          <a:ln w="25400">
            <a:solidFill>
              <a:schemeClr val="accent4"/>
            </a:solidFill>
            <a:prstDash val="solid"/>
          </a:ln>
        </p:spPr>
        <p:txBody>
          <a:bodyPr/>
          <a:lstStyle/>
          <a:p>
            <a:endParaRPr lang="en-US"/>
          </a:p>
        </p:txBody>
      </p:sp>
      <p:sp>
        <p:nvSpPr>
          <p:cNvPr id="20" name="Text 13"/>
          <p:cNvSpPr txBox="1"/>
          <p:nvPr/>
        </p:nvSpPr>
        <p:spPr>
          <a:xfrm>
            <a:off x="5257800" y="2468880"/>
            <a:ext cx="301752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Training data is mostly read speech</a:t>
            </a:r>
            <a:endParaRPr lang="en-US" sz="1500" dirty="0"/>
          </a:p>
          <a:p>
            <a:pPr marL="342900" indent="-342900">
              <a:spcAft>
                <a:spcPts val="1000"/>
              </a:spcAft>
              <a:buSzPct val="100000"/>
              <a:buChar char="•"/>
            </a:pPr>
            <a:r>
              <a:rPr lang="en-US" sz="1500" dirty="0">
                <a:solidFill>
                  <a:schemeClr val="tx1"/>
                </a:solidFill>
              </a:rPr>
              <a:t>Subtitle timestamps are relatively coarse</a:t>
            </a:r>
            <a:endParaRPr lang="en-US" sz="1500" dirty="0"/>
          </a:p>
          <a:p>
            <a:pPr marL="342900" indent="-342900">
              <a:spcAft>
                <a:spcPts val="1000"/>
              </a:spcAft>
              <a:buSzPct val="100000"/>
              <a:buChar char="•"/>
            </a:pPr>
            <a:r>
              <a:rPr lang="en-US" sz="1500" dirty="0">
                <a:solidFill>
                  <a:schemeClr val="tx1"/>
                </a:solidFill>
              </a:rPr>
              <a:t>Some transcription errors remain</a:t>
            </a:r>
            <a:endParaRPr lang="en-US" sz="1500" dirty="0"/>
          </a:p>
          <a:p>
            <a:pPr marL="342900" indent="-342900">
              <a:spcAft>
                <a:spcPts val="1000"/>
              </a:spcAft>
              <a:buSzPct val="100000"/>
              <a:buChar char="•"/>
            </a:pPr>
            <a:r>
              <a:rPr lang="en-US" sz="1500" dirty="0">
                <a:solidFill>
                  <a:schemeClr val="tx1"/>
                </a:solidFill>
              </a:rPr>
              <a:t>Two sources are research-use only</a:t>
            </a:r>
            <a:endParaRPr lang="en-US" sz="1500" dirty="0"/>
          </a:p>
          <a:p>
            <a:pPr marL="342900" indent="-342900">
              <a:spcAft>
                <a:spcPts val="1000"/>
              </a:spcAft>
              <a:buSzPct val="100000"/>
              <a:buChar char="•"/>
            </a:pPr>
            <a:r>
              <a:rPr lang="en-US" sz="1500" dirty="0">
                <a:solidFill>
                  <a:schemeClr val="tx1"/>
                </a:solidFill>
              </a:rPr>
              <a:t>CPU inference is slow</a:t>
            </a:r>
            <a:endParaRPr lang="en-US" sz="1500" dirty="0"/>
          </a:p>
        </p:txBody>
      </p:sp>
      <p:sp>
        <p:nvSpPr>
          <p:cNvPr id="21" name="Text 14"/>
          <p:cNvSpPr txBox="1"/>
          <p:nvPr/>
        </p:nvSpPr>
        <p:spPr>
          <a:xfrm>
            <a:off x="8549640" y="1828800"/>
            <a:ext cx="3017520" cy="365760"/>
          </a:xfrm>
          <a:prstGeom prst="rect">
            <a:avLst/>
          </a:prstGeom>
          <a:noFill/>
          <a:ln/>
        </p:spPr>
        <p:txBody>
          <a:bodyPr wrap="square" lIns="0" tIns="0" rIns="0" bIns="0" rtlCol="0" anchor="t"/>
          <a:lstStyle/>
          <a:p>
            <a:pPr marL="0" indent="0">
              <a:buNone/>
            </a:pPr>
            <a:r>
              <a:rPr lang="en-US" sz="1900" b="1" dirty="0">
                <a:solidFill>
                  <a:schemeClr val="accent3"/>
                </a:solidFill>
              </a:rPr>
              <a:t>Future work</a:t>
            </a:r>
            <a:endParaRPr lang="en-US" sz="1900" dirty="0"/>
          </a:p>
        </p:txBody>
      </p:sp>
      <p:sp>
        <p:nvSpPr>
          <p:cNvPr id="22" name="line"/>
          <p:cNvSpPr/>
          <p:nvPr/>
        </p:nvSpPr>
        <p:spPr>
          <a:xfrm>
            <a:off x="8549640" y="2267712"/>
            <a:ext cx="2926080" cy="0"/>
          </a:xfrm>
          <a:prstGeom prst="line">
            <a:avLst/>
          </a:prstGeom>
          <a:noFill/>
          <a:ln w="25400">
            <a:solidFill>
              <a:schemeClr val="accent3"/>
            </a:solidFill>
            <a:prstDash val="solid"/>
          </a:ln>
        </p:spPr>
        <p:txBody>
          <a:bodyPr/>
          <a:lstStyle/>
          <a:p>
            <a:endParaRPr lang="en-US"/>
          </a:p>
        </p:txBody>
      </p:sp>
      <p:sp>
        <p:nvSpPr>
          <p:cNvPr id="23" name="Text 16"/>
          <p:cNvSpPr txBox="1"/>
          <p:nvPr/>
        </p:nvSpPr>
        <p:spPr>
          <a:xfrm>
            <a:off x="8549640" y="2468880"/>
            <a:ext cx="301752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Add transcribed real video audio</a:t>
            </a:r>
            <a:endParaRPr lang="en-US" sz="1500" dirty="0"/>
          </a:p>
          <a:p>
            <a:pPr marL="342900" indent="-342900">
              <a:spcAft>
                <a:spcPts val="1000"/>
              </a:spcAft>
              <a:buSzPct val="100000"/>
              <a:buChar char="•"/>
            </a:pPr>
            <a:r>
              <a:rPr lang="en-US" sz="1500" dirty="0">
                <a:solidFill>
                  <a:schemeClr val="tx1"/>
                </a:solidFill>
              </a:rPr>
              <a:t>Train on sentence-level timings</a:t>
            </a:r>
            <a:endParaRPr lang="en-US" sz="1500" dirty="0"/>
          </a:p>
          <a:p>
            <a:pPr marL="342900" indent="-342900">
              <a:spcAft>
                <a:spcPts val="1000"/>
              </a:spcAft>
              <a:buSzPct val="100000"/>
              <a:buChar char="•"/>
            </a:pPr>
            <a:r>
              <a:rPr lang="en-US" sz="1500" dirty="0">
                <a:solidFill>
                  <a:schemeClr val="tx1"/>
                </a:solidFill>
              </a:rPr>
              <a:t>Larger Whisper models, longer training</a:t>
            </a:r>
            <a:endParaRPr lang="en-US" sz="1500" dirty="0"/>
          </a:p>
          <a:p>
            <a:pPr marL="342900" indent="-342900">
              <a:spcAft>
                <a:spcPts val="1000"/>
              </a:spcAft>
              <a:buSzPct val="100000"/>
              <a:buChar char="•"/>
            </a:pPr>
            <a:r>
              <a:rPr lang="en-US" sz="1500" dirty="0">
                <a:solidFill>
                  <a:schemeClr val="tx1"/>
                </a:solidFill>
              </a:rPr>
              <a:t>Subtitle editing and local uploads</a:t>
            </a:r>
            <a:endParaRPr lang="en-US" sz="1500" dirty="0"/>
          </a:p>
          <a:p>
            <a:pPr marL="342900" indent="-342900">
              <a:spcAft>
                <a:spcPts val="1000"/>
              </a:spcAft>
              <a:buSzPct val="100000"/>
              <a:buChar char="•"/>
            </a:pPr>
            <a:r>
              <a:rPr lang="en-US" sz="1500" dirty="0">
                <a:solidFill>
                  <a:schemeClr val="tx1"/>
                </a:solidFill>
              </a:rPr>
              <a:t>Facebook and other video sources</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Royal University of Phnom Penh campus"/>
          <p:cNvPicPr>
            <a:picLocks noChangeAspect="1"/>
          </p:cNvPicPr>
          <p:nvPr/>
        </p:nvPicPr>
        <p:blipFill>
          <a:blip r:embed="rId3"/>
          <a:srcRect/>
          <a:stretch/>
        </p:blipFill>
        <p:spPr>
          <a:xfrm>
            <a:off x="7616952" y="0"/>
            <a:ext cx="4572000" cy="6858000"/>
          </a:xfrm>
          <a:prstGeom prst="rect">
            <a:avLst/>
          </a:prstGeom>
        </p:spPr>
      </p:pic>
      <p:pic>
        <p:nvPicPr>
          <p:cNvPr id="3" name="Image 1" descr="RUPP logo"/>
          <p:cNvPicPr>
            <a:picLocks noChangeAspect="1"/>
          </p:cNvPicPr>
          <p:nvPr/>
        </p:nvPicPr>
        <p:blipFill>
          <a:blip r:embed="rId4"/>
          <a:stretch>
            <a:fillRect/>
          </a:stretch>
        </p:blipFill>
        <p:spPr>
          <a:xfrm>
            <a:off x="548640" y="502920"/>
            <a:ext cx="566928" cy="585216"/>
          </a:xfrm>
          <a:prstGeom prst="rect">
            <a:avLst/>
          </a:prstGeom>
        </p:spPr>
      </p:pic>
      <p:sp>
        <p:nvSpPr>
          <p:cNvPr id="4" name="Text 0"/>
          <p:cNvSpPr txBox="1"/>
          <p:nvPr/>
        </p:nvSpPr>
        <p:spPr>
          <a:xfrm>
            <a:off x="1261872" y="548640"/>
            <a:ext cx="5943600" cy="274320"/>
          </a:xfrm>
          <a:prstGeom prst="rect">
            <a:avLst/>
          </a:prstGeom>
          <a:noFill/>
          <a:ln/>
        </p:spPr>
        <p:txBody>
          <a:bodyPr wrap="square" lIns="0" tIns="0" rIns="0" bIns="0" rtlCol="0" anchor="t"/>
          <a:lstStyle/>
          <a:p>
            <a:pPr marL="0" indent="0">
              <a:buNone/>
            </a:pPr>
            <a:r>
              <a:rPr lang="en-US" sz="1300" b="1" dirty="0">
                <a:solidFill>
                  <a:schemeClr val="bg1"/>
                </a:solidFill>
              </a:rPr>
              <a:t>Royal University of Phnom Penh</a:t>
            </a:r>
            <a:endParaRPr lang="en-US" sz="1300" dirty="0"/>
          </a:p>
        </p:txBody>
      </p:sp>
      <p:sp>
        <p:nvSpPr>
          <p:cNvPr id="5" name="Text 1"/>
          <p:cNvSpPr txBox="1"/>
          <p:nvPr/>
        </p:nvSpPr>
        <p:spPr>
          <a:xfrm>
            <a:off x="1261872" y="822960"/>
            <a:ext cx="5943600" cy="274320"/>
          </a:xfrm>
          <a:prstGeom prst="rect">
            <a:avLst/>
          </a:prstGeom>
          <a:noFill/>
          <a:ln/>
        </p:spPr>
        <p:txBody>
          <a:bodyPr wrap="square" lIns="0" tIns="0" rIns="0" bIns="0" rtlCol="0" anchor="t"/>
          <a:lstStyle/>
          <a:p>
            <a:pPr marL="0" indent="0">
              <a:buNone/>
            </a:pPr>
            <a:r>
              <a:rPr lang="en-US" sz="1200" dirty="0">
                <a:solidFill>
                  <a:schemeClr val="accent6"/>
                </a:solidFill>
              </a:rPr>
              <a:t>Master of Science in Data Science and Engineering</a:t>
            </a:r>
            <a:endParaRPr lang="en-US" sz="1200" dirty="0"/>
          </a:p>
        </p:txBody>
      </p:sp>
      <p:sp>
        <p:nvSpPr>
          <p:cNvPr id="6" name="Text 2"/>
          <p:cNvSpPr txBox="1"/>
          <p:nvPr/>
        </p:nvSpPr>
        <p:spPr>
          <a:xfrm>
            <a:off x="548640" y="2103120"/>
            <a:ext cx="6675120" cy="914400"/>
          </a:xfrm>
          <a:prstGeom prst="rect">
            <a:avLst/>
          </a:prstGeom>
          <a:noFill/>
          <a:ln/>
        </p:spPr>
        <p:txBody>
          <a:bodyPr wrap="square" lIns="0" tIns="0" rIns="0" bIns="0" rtlCol="0" anchor="t"/>
          <a:lstStyle/>
          <a:p>
            <a:pPr marL="0" indent="0">
              <a:buNone/>
            </a:pPr>
            <a:r>
              <a:rPr lang="en-US" sz="5800" b="1" dirty="0">
                <a:solidFill>
                  <a:schemeClr val="bg1"/>
                </a:solidFill>
              </a:rPr>
              <a:t>THANK YOU</a:t>
            </a:r>
            <a:endParaRPr lang="en-US" sz="5800" dirty="0"/>
          </a:p>
        </p:txBody>
      </p:sp>
      <p:sp>
        <p:nvSpPr>
          <p:cNvPr id="7" name="Text 3"/>
          <p:cNvSpPr txBox="1"/>
          <p:nvPr/>
        </p:nvSpPr>
        <p:spPr>
          <a:xfrm>
            <a:off x="548640" y="3063240"/>
            <a:ext cx="6675120" cy="548640"/>
          </a:xfrm>
          <a:prstGeom prst="rect">
            <a:avLst/>
          </a:prstGeom>
          <a:noFill/>
          <a:ln/>
        </p:spPr>
        <p:txBody>
          <a:bodyPr wrap="square" lIns="0" tIns="0" rIns="0" bIns="0" rtlCol="0" anchor="t"/>
          <a:lstStyle/>
          <a:p>
            <a:pPr marL="0" indent="0">
              <a:buNone/>
            </a:pPr>
            <a:r>
              <a:rPr lang="en-US" sz="3000" dirty="0">
                <a:solidFill>
                  <a:schemeClr val="accent2"/>
                </a:solidFill>
              </a:rPr>
              <a:t>Questions?</a:t>
            </a:r>
            <a:endParaRPr lang="en-US" sz="3000" dirty="0"/>
          </a:p>
        </p:txBody>
      </p:sp>
      <p:sp>
        <p:nvSpPr>
          <p:cNvPr id="8" name="Text 4"/>
          <p:cNvSpPr txBox="1"/>
          <p:nvPr/>
        </p:nvSpPr>
        <p:spPr>
          <a:xfrm>
            <a:off x="548640" y="4023360"/>
            <a:ext cx="6400800" cy="731520"/>
          </a:xfrm>
          <a:prstGeom prst="rect">
            <a:avLst/>
          </a:prstGeom>
          <a:noFill/>
          <a:ln/>
        </p:spPr>
        <p:txBody>
          <a:bodyPr wrap="square" lIns="0" tIns="0" rIns="0" bIns="0" rtlCol="0" anchor="t"/>
          <a:lstStyle/>
          <a:p>
            <a:pPr marL="0" indent="0">
              <a:buNone/>
            </a:pPr>
            <a:r>
              <a:rPr lang="en-US" sz="1800" dirty="0">
                <a:solidFill>
                  <a:schemeClr val="accent6"/>
                </a:solidFill>
              </a:rPr>
              <a:t>Fine-tuning reduced CER without spaces on unseen Khmer speakers from 147.6% to 18.9%.</a:t>
            </a:r>
            <a:endParaRPr lang="en-US" sz="1800" dirty="0"/>
          </a:p>
        </p:txBody>
      </p:sp>
      <p:sp>
        <p:nvSpPr>
          <p:cNvPr id="9" name="Text 5"/>
          <p:cNvSpPr txBox="1"/>
          <p:nvPr/>
        </p:nvSpPr>
        <p:spPr>
          <a:xfrm>
            <a:off x="548640" y="4892040"/>
            <a:ext cx="6675120" cy="320040"/>
          </a:xfrm>
          <a:prstGeom prst="rect">
            <a:avLst/>
          </a:prstGeom>
          <a:noFill/>
          <a:ln/>
        </p:spPr>
        <p:txBody>
          <a:bodyPr wrap="square" lIns="0" tIns="0" rIns="0" bIns="0" rtlCol="0" anchor="t"/>
          <a:lstStyle/>
          <a:p>
            <a:pPr marL="0" indent="0">
              <a:buNone/>
            </a:pPr>
            <a:r>
              <a:rPr lang="en-US" sz="1400" dirty="0">
                <a:solidFill>
                  <a:schemeClr val="accent2"/>
                </a:solidFill>
              </a:rPr>
              <a:t>github.com/codingwithchitra777/whisper-small-khmer-mini</a:t>
            </a:r>
            <a:endParaRPr lang="en-US" sz="1400" dirty="0"/>
          </a:p>
        </p:txBody>
      </p:sp>
      <p:sp>
        <p:nvSpPr>
          <p:cNvPr id="10" name="Text 6"/>
          <p:cNvSpPr txBox="1"/>
          <p:nvPr/>
        </p:nvSpPr>
        <p:spPr>
          <a:xfrm>
            <a:off x="548640" y="5715000"/>
            <a:ext cx="6675120" cy="320040"/>
          </a:xfrm>
          <a:prstGeom prst="rect">
            <a:avLst/>
          </a:prstGeom>
          <a:noFill/>
          <a:ln/>
        </p:spPr>
        <p:txBody>
          <a:bodyPr wrap="square" lIns="0" tIns="0" rIns="0" bIns="0" rtlCol="0" anchor="t"/>
          <a:lstStyle/>
          <a:p>
            <a:pPr marL="0" indent="0">
              <a:buNone/>
            </a:pPr>
            <a:r>
              <a:rPr lang="en-US" sz="1400" b="1" dirty="0">
                <a:solidFill>
                  <a:schemeClr val="bg1"/>
                </a:solidFill>
              </a:rPr>
              <a:t>Sem Chitra, Sar Sakal, Earn Pisey, Sam Reaksmey</a:t>
            </a:r>
            <a:endParaRPr lang="en-US" sz="1400" dirty="0"/>
          </a:p>
        </p:txBody>
      </p:sp>
      <p:sp>
        <p:nvSpPr>
          <p:cNvPr id="11" name="Text 7"/>
          <p:cNvSpPr txBox="1"/>
          <p:nvPr/>
        </p:nvSpPr>
        <p:spPr>
          <a:xfrm>
            <a:off x="548640" y="6053328"/>
            <a:ext cx="6675120" cy="292608"/>
          </a:xfrm>
          <a:prstGeom prst="rect">
            <a:avLst/>
          </a:prstGeom>
          <a:noFill/>
          <a:ln/>
        </p:spPr>
        <p:txBody>
          <a:bodyPr wrap="square" lIns="0" tIns="0" rIns="0" bIns="0" rtlCol="0" anchor="t"/>
          <a:lstStyle/>
          <a:p>
            <a:pPr marL="0" indent="0">
              <a:buNone/>
            </a:pPr>
            <a:r>
              <a:rPr lang="en-US" sz="1200" dirty="0">
                <a:solidFill>
                  <a:schemeClr val="accent6"/>
                </a:solidFill>
              </a:rPr>
              <a:t>MDSE Cohort 3, Introduction to Large Language Models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11091672" cy="292608"/>
          </a:xfrm>
          <a:prstGeom prst="rect">
            <a:avLst/>
          </a:prstGeom>
          <a:noFill/>
          <a:ln/>
        </p:spPr>
        <p:txBody>
          <a:bodyPr wrap="square" lIns="0" tIns="0" rIns="0" bIns="0" rtlCol="0" anchor="t"/>
          <a:lstStyle/>
          <a:p>
            <a:pPr marL="0" indent="0">
              <a:buNone/>
            </a:pPr>
            <a:r>
              <a:rPr lang="en-US" sz="1400" b="1" dirty="0">
                <a:solidFill>
                  <a:schemeClr val="accent3"/>
                </a:solidFill>
              </a:rPr>
              <a:t>References</a:t>
            </a:r>
            <a:endParaRPr lang="en-US" sz="1400" dirty="0"/>
          </a:p>
        </p:txBody>
      </p:sp>
      <p:sp>
        <p:nvSpPr>
          <p:cNvPr id="3" name="Text 0"/>
          <p:cNvSpPr>
            <a:spLocks noGrp="1"/>
          </p:cNvSpPr>
          <p:nvPr>
            <p:ph type="title" idx="101" hasCustomPrompt="1"/>
          </p:nvPr>
        </p:nvSpPr>
        <p:spPr>
          <a:xfrm>
            <a:off x="548640" y="713232"/>
            <a:ext cx="11091672" cy="685800"/>
          </a:xfrm>
          <a:prstGeom prst="rect">
            <a:avLst/>
          </a:prstGeom>
          <a:noFill/>
          <a:ln/>
        </p:spPr>
        <p:txBody>
          <a:bodyPr wrap="square" lIns="0" tIns="0" rIns="0" bIns="0" rtlCol="0" anchor="t"/>
          <a:lstStyle/>
          <a:p>
            <a:pPr marL="0" indent="0" algn="l">
              <a:buNone/>
            </a:pPr>
            <a:r>
              <a:rPr lang="en-US" sz="3200" b="1" dirty="0">
                <a:solidFill>
                  <a:schemeClr val="tx2"/>
                </a:solidFill>
                <a:latin typeface="Calibri" pitchFamily="34" charset="0"/>
                <a:ea typeface="Calibri" pitchFamily="34" charset="-122"/>
                <a:cs typeface="Calibri" pitchFamily="34" charset="-120"/>
              </a:rPr>
              <a:t>Datasets, model and code</a:t>
            </a:r>
            <a:endParaRPr lang="en-US" sz="3200" dirty="0"/>
          </a:p>
        </p:txBody>
      </p:sp>
      <p:sp>
        <p:nvSpPr>
          <p:cNvPr id="4" name="Text 2"/>
          <p:cNvSpPr txBox="1"/>
          <p:nvPr/>
        </p:nvSpPr>
        <p:spPr>
          <a:xfrm>
            <a:off x="548640" y="1728216"/>
            <a:ext cx="5486400" cy="274320"/>
          </a:xfrm>
          <a:prstGeom prst="rect">
            <a:avLst/>
          </a:prstGeom>
          <a:noFill/>
          <a:ln/>
        </p:spPr>
        <p:txBody>
          <a:bodyPr wrap="square" lIns="0" tIns="0" rIns="0" bIns="0" rtlCol="0" anchor="t"/>
          <a:lstStyle/>
          <a:p>
            <a:pPr marL="0" indent="0">
              <a:buNone/>
            </a:pPr>
            <a:r>
              <a:rPr lang="en-US" sz="1300" b="1" dirty="0">
                <a:solidFill>
                  <a:schemeClr val="accent3"/>
                </a:solidFill>
              </a:rPr>
              <a:t>Training data</a:t>
            </a:r>
            <a:endParaRPr lang="en-US" sz="1300" dirty="0"/>
          </a:p>
        </p:txBody>
      </p:sp>
      <p:sp>
        <p:nvSpPr>
          <p:cNvPr id="5" name="Text 3"/>
          <p:cNvSpPr txBox="1"/>
          <p:nvPr/>
        </p:nvSpPr>
        <p:spPr>
          <a:xfrm>
            <a:off x="548640" y="2020824"/>
            <a:ext cx="3291840" cy="365760"/>
          </a:xfrm>
          <a:prstGeom prst="rect">
            <a:avLst/>
          </a:prstGeom>
          <a:noFill/>
          <a:ln/>
        </p:spPr>
        <p:txBody>
          <a:bodyPr wrap="square" lIns="0" tIns="0" rIns="0" bIns="0" rtlCol="0" anchor="ctr"/>
          <a:lstStyle/>
          <a:p>
            <a:pPr marL="0" indent="0">
              <a:buNone/>
            </a:pPr>
            <a:r>
              <a:rPr lang="en-US" sz="1400" b="1" dirty="0">
                <a:solidFill>
                  <a:schemeClr val="tx2"/>
                </a:solidFill>
              </a:rPr>
              <a:t>km-speech-corpus</a:t>
            </a:r>
            <a:endParaRPr lang="en-US" sz="1400" dirty="0"/>
          </a:p>
        </p:txBody>
      </p:sp>
      <p:sp>
        <p:nvSpPr>
          <p:cNvPr id="6" name="Text 4"/>
          <p:cNvSpPr txBox="1"/>
          <p:nvPr/>
        </p:nvSpPr>
        <p:spPr>
          <a:xfrm>
            <a:off x="3886200" y="2020824"/>
            <a:ext cx="6035040" cy="365760"/>
          </a:xfrm>
          <a:prstGeom prst="rect">
            <a:avLst/>
          </a:prstGeom>
          <a:noFill/>
          <a:ln/>
        </p:spPr>
        <p:txBody>
          <a:bodyPr wrap="square" lIns="0" tIns="0" rIns="0" bIns="0" rtlCol="0" anchor="ctr"/>
          <a:lstStyle/>
          <a:p>
            <a:pPr marL="0" indent="0">
              <a:buNone/>
            </a:pPr>
            <a:r>
              <a:rPr lang="en-US" sz="1400" u="sng" dirty="0">
                <a:solidFill>
                  <a:schemeClr val="accent3"/>
                </a:solidFill>
                <a:hlinkClick r:id="rId3" tooltip="https://huggingface.co/datasets/seanghay/km-speech-corpus">
                  <a:extLst>
                    <a:ext uri="{A12FA001-AC4F-418D-AE19-62706E023703}">
                      <ahyp:hlinkClr xmlns:ahyp="http://schemas.microsoft.com/office/drawing/2018/hyperlinkcolor" val="tx"/>
                    </a:ext>
                  </a:extLst>
                </a:hlinkClick>
              </a:rPr>
              <a:t>huggingface.co/datasets/seanghay/km-speech-corpus</a:t>
            </a:r>
            <a:endParaRPr lang="en-US" sz="1400" dirty="0"/>
          </a:p>
        </p:txBody>
      </p:sp>
      <p:sp>
        <p:nvSpPr>
          <p:cNvPr id="7" name="Text 5"/>
          <p:cNvSpPr txBox="1"/>
          <p:nvPr/>
        </p:nvSpPr>
        <p:spPr>
          <a:xfrm>
            <a:off x="10012680" y="2020824"/>
            <a:ext cx="1627632" cy="365760"/>
          </a:xfrm>
          <a:prstGeom prst="rect">
            <a:avLst/>
          </a:prstGeom>
          <a:noFill/>
          <a:ln/>
        </p:spPr>
        <p:txBody>
          <a:bodyPr wrap="square" lIns="0" tIns="0" rIns="0" bIns="0" rtlCol="0" anchor="ctr"/>
          <a:lstStyle/>
          <a:p>
            <a:pPr marL="0" indent="0" algn="r">
              <a:buNone/>
            </a:pPr>
            <a:r>
              <a:rPr lang="en-US" sz="1200" b="1" dirty="0">
                <a:solidFill>
                  <a:schemeClr val="accent5"/>
                </a:solidFill>
              </a:rPr>
              <a:t>CC-BY-4.0</a:t>
            </a:r>
            <a:endParaRPr lang="en-US" sz="1200" dirty="0"/>
          </a:p>
        </p:txBody>
      </p:sp>
      <p:sp>
        <p:nvSpPr>
          <p:cNvPr id="8" name="line"/>
          <p:cNvSpPr/>
          <p:nvPr/>
        </p:nvSpPr>
        <p:spPr>
          <a:xfrm>
            <a:off x="548640" y="2395728"/>
            <a:ext cx="11091672" cy="0"/>
          </a:xfrm>
          <a:prstGeom prst="line">
            <a:avLst/>
          </a:prstGeom>
          <a:noFill/>
          <a:ln w="9525">
            <a:solidFill>
              <a:schemeClr val="accent6"/>
            </a:solidFill>
            <a:prstDash val="solid"/>
          </a:ln>
        </p:spPr>
        <p:txBody>
          <a:bodyPr/>
          <a:lstStyle/>
          <a:p>
            <a:endParaRPr lang="en-US"/>
          </a:p>
        </p:txBody>
      </p:sp>
      <p:sp>
        <p:nvSpPr>
          <p:cNvPr id="9" name="Text 7"/>
          <p:cNvSpPr txBox="1"/>
          <p:nvPr/>
        </p:nvSpPr>
        <p:spPr>
          <a:xfrm>
            <a:off x="548640" y="2423160"/>
            <a:ext cx="3291840" cy="365760"/>
          </a:xfrm>
          <a:prstGeom prst="rect">
            <a:avLst/>
          </a:prstGeom>
          <a:noFill/>
          <a:ln/>
        </p:spPr>
        <p:txBody>
          <a:bodyPr wrap="square" lIns="0" tIns="0" rIns="0" bIns="0" rtlCol="0" anchor="ctr"/>
          <a:lstStyle/>
          <a:p>
            <a:pPr marL="0" indent="0">
              <a:buNone/>
            </a:pPr>
            <a:r>
              <a:rPr lang="en-US" sz="1400" b="1" dirty="0">
                <a:solidFill>
                  <a:schemeClr val="tx2"/>
                </a:solidFill>
              </a:rPr>
              <a:t>OpenSLR 42</a:t>
            </a:r>
            <a:endParaRPr lang="en-US" sz="1400" dirty="0"/>
          </a:p>
        </p:txBody>
      </p:sp>
      <p:sp>
        <p:nvSpPr>
          <p:cNvPr id="10" name="Text 8"/>
          <p:cNvSpPr txBox="1"/>
          <p:nvPr/>
        </p:nvSpPr>
        <p:spPr>
          <a:xfrm>
            <a:off x="3886200" y="2423160"/>
            <a:ext cx="6035040" cy="365760"/>
          </a:xfrm>
          <a:prstGeom prst="rect">
            <a:avLst/>
          </a:prstGeom>
          <a:noFill/>
          <a:ln/>
        </p:spPr>
        <p:txBody>
          <a:bodyPr wrap="square" lIns="0" tIns="0" rIns="0" bIns="0" rtlCol="0" anchor="ctr"/>
          <a:lstStyle/>
          <a:p>
            <a:pPr marL="0" indent="0">
              <a:buNone/>
            </a:pPr>
            <a:r>
              <a:rPr lang="en-US" sz="1400" u="sng" dirty="0">
                <a:solidFill>
                  <a:schemeClr val="accent3"/>
                </a:solidFill>
                <a:hlinkClick r:id="rId4" tooltip="https://openslr.org/42/">
                  <a:extLst>
                    <a:ext uri="{A12FA001-AC4F-418D-AE19-62706E023703}">
                      <ahyp:hlinkClr xmlns:ahyp="http://schemas.microsoft.com/office/drawing/2018/hyperlinkcolor" val="tx"/>
                    </a:ext>
                  </a:extLst>
                </a:hlinkClick>
              </a:rPr>
              <a:t>openslr.org/42</a:t>
            </a:r>
            <a:endParaRPr lang="en-US" sz="1400" dirty="0"/>
          </a:p>
        </p:txBody>
      </p:sp>
      <p:sp>
        <p:nvSpPr>
          <p:cNvPr id="11" name="Text 9"/>
          <p:cNvSpPr txBox="1"/>
          <p:nvPr/>
        </p:nvSpPr>
        <p:spPr>
          <a:xfrm>
            <a:off x="10012680" y="2423160"/>
            <a:ext cx="1627632" cy="365760"/>
          </a:xfrm>
          <a:prstGeom prst="rect">
            <a:avLst/>
          </a:prstGeom>
          <a:noFill/>
          <a:ln/>
        </p:spPr>
        <p:txBody>
          <a:bodyPr wrap="square" lIns="0" tIns="0" rIns="0" bIns="0" rtlCol="0" anchor="ctr"/>
          <a:lstStyle/>
          <a:p>
            <a:pPr marL="0" indent="0" algn="r">
              <a:buNone/>
            </a:pPr>
            <a:r>
              <a:rPr lang="en-US" sz="1200" b="1" dirty="0">
                <a:solidFill>
                  <a:schemeClr val="accent5"/>
                </a:solidFill>
              </a:rPr>
              <a:t>CC-BY-SA-4.0</a:t>
            </a:r>
            <a:endParaRPr lang="en-US" sz="1200" dirty="0"/>
          </a:p>
        </p:txBody>
      </p:sp>
      <p:sp>
        <p:nvSpPr>
          <p:cNvPr id="12" name="line"/>
          <p:cNvSpPr/>
          <p:nvPr/>
        </p:nvSpPr>
        <p:spPr>
          <a:xfrm>
            <a:off x="548640" y="2798064"/>
            <a:ext cx="11091672" cy="0"/>
          </a:xfrm>
          <a:prstGeom prst="line">
            <a:avLst/>
          </a:prstGeom>
          <a:noFill/>
          <a:ln w="9525">
            <a:solidFill>
              <a:schemeClr val="accent6"/>
            </a:solidFill>
            <a:prstDash val="solid"/>
          </a:ln>
        </p:spPr>
        <p:txBody>
          <a:bodyPr/>
          <a:lstStyle/>
          <a:p>
            <a:endParaRPr lang="en-US"/>
          </a:p>
        </p:txBody>
      </p:sp>
      <p:sp>
        <p:nvSpPr>
          <p:cNvPr id="13" name="Text 11"/>
          <p:cNvSpPr txBox="1"/>
          <p:nvPr/>
        </p:nvSpPr>
        <p:spPr>
          <a:xfrm>
            <a:off x="548640" y="2825496"/>
            <a:ext cx="3291840" cy="365760"/>
          </a:xfrm>
          <a:prstGeom prst="rect">
            <a:avLst/>
          </a:prstGeom>
          <a:noFill/>
          <a:ln/>
        </p:spPr>
        <p:txBody>
          <a:bodyPr wrap="square" lIns="0" tIns="0" rIns="0" bIns="0" rtlCol="0" anchor="ctr"/>
          <a:lstStyle/>
          <a:p>
            <a:pPr marL="0" indent="0">
              <a:buNone/>
            </a:pPr>
            <a:r>
              <a:rPr lang="en-US" sz="1400" b="1" dirty="0">
                <a:solidFill>
                  <a:schemeClr val="tx2"/>
                </a:solidFill>
              </a:rPr>
              <a:t>khmer_kheng_info_speech</a:t>
            </a:r>
            <a:endParaRPr lang="en-US" sz="1400" dirty="0"/>
          </a:p>
        </p:txBody>
      </p:sp>
      <p:sp>
        <p:nvSpPr>
          <p:cNvPr id="14" name="Text 12"/>
          <p:cNvSpPr txBox="1"/>
          <p:nvPr/>
        </p:nvSpPr>
        <p:spPr>
          <a:xfrm>
            <a:off x="3886200" y="2825496"/>
            <a:ext cx="6035040" cy="365760"/>
          </a:xfrm>
          <a:prstGeom prst="rect">
            <a:avLst/>
          </a:prstGeom>
          <a:noFill/>
          <a:ln/>
        </p:spPr>
        <p:txBody>
          <a:bodyPr wrap="square" lIns="0" tIns="0" rIns="0" bIns="0" rtlCol="0" anchor="ctr"/>
          <a:lstStyle/>
          <a:p>
            <a:pPr marL="0" indent="0">
              <a:buNone/>
            </a:pPr>
            <a:r>
              <a:rPr lang="en-US" sz="1400" u="sng" dirty="0">
                <a:solidFill>
                  <a:schemeClr val="accent3"/>
                </a:solidFill>
                <a:hlinkClick r:id="rId5" tooltip="https://huggingface.co/datasets/seanghay/khmer_kheng_info_speech">
                  <a:extLst>
                    <a:ext uri="{A12FA001-AC4F-418D-AE19-62706E023703}">
                      <ahyp:hlinkClr xmlns:ahyp="http://schemas.microsoft.com/office/drawing/2018/hyperlinkcolor" val="tx"/>
                    </a:ext>
                  </a:extLst>
                </a:hlinkClick>
              </a:rPr>
              <a:t>huggingface.co/datasets/seanghay/khmer_kheng_info_speech</a:t>
            </a:r>
            <a:endParaRPr lang="en-US" sz="1400" dirty="0"/>
          </a:p>
        </p:txBody>
      </p:sp>
      <p:sp>
        <p:nvSpPr>
          <p:cNvPr id="15" name="Text 13"/>
          <p:cNvSpPr txBox="1"/>
          <p:nvPr/>
        </p:nvSpPr>
        <p:spPr>
          <a:xfrm>
            <a:off x="10012680" y="2825496"/>
            <a:ext cx="1627632" cy="365760"/>
          </a:xfrm>
          <a:prstGeom prst="rect">
            <a:avLst/>
          </a:prstGeom>
          <a:noFill/>
          <a:ln/>
        </p:spPr>
        <p:txBody>
          <a:bodyPr wrap="square" lIns="0" tIns="0" rIns="0" bIns="0" rtlCol="0" anchor="ctr"/>
          <a:lstStyle/>
          <a:p>
            <a:pPr marL="0" indent="0" algn="r">
              <a:buNone/>
            </a:pPr>
            <a:r>
              <a:rPr lang="en-US" sz="1200" b="1" dirty="0">
                <a:solidFill>
                  <a:schemeClr val="accent4"/>
                </a:solidFill>
              </a:rPr>
              <a:t>Research only</a:t>
            </a:r>
            <a:endParaRPr lang="en-US" sz="1200" dirty="0"/>
          </a:p>
        </p:txBody>
      </p:sp>
      <p:sp>
        <p:nvSpPr>
          <p:cNvPr id="16" name="line"/>
          <p:cNvSpPr/>
          <p:nvPr/>
        </p:nvSpPr>
        <p:spPr>
          <a:xfrm>
            <a:off x="548640" y="3200400"/>
            <a:ext cx="11091672" cy="0"/>
          </a:xfrm>
          <a:prstGeom prst="line">
            <a:avLst/>
          </a:prstGeom>
          <a:noFill/>
          <a:ln w="9525">
            <a:solidFill>
              <a:schemeClr val="accent6"/>
            </a:solidFill>
            <a:prstDash val="solid"/>
          </a:ln>
        </p:spPr>
        <p:txBody>
          <a:bodyPr/>
          <a:lstStyle/>
          <a:p>
            <a:endParaRPr lang="en-US"/>
          </a:p>
        </p:txBody>
      </p:sp>
      <p:sp>
        <p:nvSpPr>
          <p:cNvPr id="17" name="Text 15"/>
          <p:cNvSpPr txBox="1"/>
          <p:nvPr/>
        </p:nvSpPr>
        <p:spPr>
          <a:xfrm>
            <a:off x="548640" y="3227832"/>
            <a:ext cx="3291840" cy="365760"/>
          </a:xfrm>
          <a:prstGeom prst="rect">
            <a:avLst/>
          </a:prstGeom>
          <a:noFill/>
          <a:ln/>
        </p:spPr>
        <p:txBody>
          <a:bodyPr wrap="square" lIns="0" tIns="0" rIns="0" bIns="0" rtlCol="0" anchor="ctr"/>
          <a:lstStyle/>
          <a:p>
            <a:pPr marL="0" indent="0">
              <a:buNone/>
            </a:pPr>
            <a:r>
              <a:rPr lang="en-US" sz="1400" b="1" dirty="0">
                <a:solidFill>
                  <a:schemeClr val="tx2"/>
                </a:solidFill>
              </a:rPr>
              <a:t>khmer_mpwt_speech</a:t>
            </a:r>
            <a:endParaRPr lang="en-US" sz="1400" dirty="0"/>
          </a:p>
        </p:txBody>
      </p:sp>
      <p:sp>
        <p:nvSpPr>
          <p:cNvPr id="18" name="Text 16"/>
          <p:cNvSpPr txBox="1"/>
          <p:nvPr/>
        </p:nvSpPr>
        <p:spPr>
          <a:xfrm>
            <a:off x="3886200" y="3227832"/>
            <a:ext cx="6035040" cy="365760"/>
          </a:xfrm>
          <a:prstGeom prst="rect">
            <a:avLst/>
          </a:prstGeom>
          <a:noFill/>
          <a:ln/>
        </p:spPr>
        <p:txBody>
          <a:bodyPr wrap="square" lIns="0" tIns="0" rIns="0" bIns="0" rtlCol="0" anchor="ctr"/>
          <a:lstStyle/>
          <a:p>
            <a:pPr marL="0" indent="0">
              <a:buNone/>
            </a:pPr>
            <a:r>
              <a:rPr lang="en-US" sz="1400" u="sng" dirty="0">
                <a:solidFill>
                  <a:schemeClr val="accent3"/>
                </a:solidFill>
                <a:hlinkClick r:id="rId6" tooltip="https://huggingface.co/datasets/seanghay/khmer_mpwt_speech">
                  <a:extLst>
                    <a:ext uri="{A12FA001-AC4F-418D-AE19-62706E023703}">
                      <ahyp:hlinkClr xmlns:ahyp="http://schemas.microsoft.com/office/drawing/2018/hyperlinkcolor" val="tx"/>
                    </a:ext>
                  </a:extLst>
                </a:hlinkClick>
              </a:rPr>
              <a:t>huggingface.co/datasets/seanghay/khmer_mpwt_speech</a:t>
            </a:r>
            <a:endParaRPr lang="en-US" sz="1400" dirty="0"/>
          </a:p>
        </p:txBody>
      </p:sp>
      <p:sp>
        <p:nvSpPr>
          <p:cNvPr id="19" name="Text 17"/>
          <p:cNvSpPr txBox="1"/>
          <p:nvPr/>
        </p:nvSpPr>
        <p:spPr>
          <a:xfrm>
            <a:off x="10012680" y="3227832"/>
            <a:ext cx="1627632" cy="365760"/>
          </a:xfrm>
          <a:prstGeom prst="rect">
            <a:avLst/>
          </a:prstGeom>
          <a:noFill/>
          <a:ln/>
        </p:spPr>
        <p:txBody>
          <a:bodyPr wrap="square" lIns="0" tIns="0" rIns="0" bIns="0" rtlCol="0" anchor="ctr"/>
          <a:lstStyle/>
          <a:p>
            <a:pPr marL="0" indent="0" algn="r">
              <a:buNone/>
            </a:pPr>
            <a:r>
              <a:rPr lang="en-US" sz="1200" b="1" dirty="0">
                <a:solidFill>
                  <a:schemeClr val="accent4"/>
                </a:solidFill>
              </a:rPr>
              <a:t>Research only</a:t>
            </a:r>
            <a:endParaRPr lang="en-US" sz="1200" dirty="0"/>
          </a:p>
        </p:txBody>
      </p:sp>
      <p:sp>
        <p:nvSpPr>
          <p:cNvPr id="20" name="line"/>
          <p:cNvSpPr/>
          <p:nvPr/>
        </p:nvSpPr>
        <p:spPr>
          <a:xfrm>
            <a:off x="548640" y="3602736"/>
            <a:ext cx="11091672" cy="0"/>
          </a:xfrm>
          <a:prstGeom prst="line">
            <a:avLst/>
          </a:prstGeom>
          <a:noFill/>
          <a:ln w="9525">
            <a:solidFill>
              <a:schemeClr val="accent6"/>
            </a:solidFill>
            <a:prstDash val="solid"/>
          </a:ln>
        </p:spPr>
        <p:txBody>
          <a:bodyPr/>
          <a:lstStyle/>
          <a:p>
            <a:endParaRPr lang="en-US"/>
          </a:p>
        </p:txBody>
      </p:sp>
      <p:sp>
        <p:nvSpPr>
          <p:cNvPr id="21" name="Text 19"/>
          <p:cNvSpPr txBox="1"/>
          <p:nvPr/>
        </p:nvSpPr>
        <p:spPr>
          <a:xfrm>
            <a:off x="548640" y="3630168"/>
            <a:ext cx="3291840" cy="365760"/>
          </a:xfrm>
          <a:prstGeom prst="rect">
            <a:avLst/>
          </a:prstGeom>
          <a:noFill/>
          <a:ln/>
        </p:spPr>
        <p:txBody>
          <a:bodyPr wrap="square" lIns="0" tIns="0" rIns="0" bIns="0" rtlCol="0" anchor="ctr"/>
          <a:lstStyle/>
          <a:p>
            <a:pPr marL="0" indent="0">
              <a:buNone/>
            </a:pPr>
            <a:r>
              <a:rPr lang="en-US" sz="1400" b="1" dirty="0">
                <a:solidFill>
                  <a:schemeClr val="tx2"/>
                </a:solidFill>
              </a:rPr>
              <a:t>RFI Khmer</a:t>
            </a:r>
            <a:endParaRPr lang="en-US" sz="1400" dirty="0"/>
          </a:p>
        </p:txBody>
      </p:sp>
      <p:sp>
        <p:nvSpPr>
          <p:cNvPr id="22" name="Text 20"/>
          <p:cNvSpPr txBox="1"/>
          <p:nvPr/>
        </p:nvSpPr>
        <p:spPr>
          <a:xfrm>
            <a:off x="3886200" y="3630168"/>
            <a:ext cx="6035040" cy="365760"/>
          </a:xfrm>
          <a:prstGeom prst="rect">
            <a:avLst/>
          </a:prstGeom>
          <a:noFill/>
          <a:ln/>
        </p:spPr>
        <p:txBody>
          <a:bodyPr wrap="square" lIns="0" tIns="0" rIns="0" bIns="0" rtlCol="0" anchor="ctr"/>
          <a:lstStyle/>
          <a:p>
            <a:pPr marL="0" indent="0">
              <a:buNone/>
            </a:pPr>
            <a:r>
              <a:rPr lang="en-US" sz="1400" dirty="0">
                <a:solidFill>
                  <a:schemeClr val="tx1"/>
                </a:solidFill>
              </a:rPr>
              <a:t>Clips cut and transcribed by our team from RFI Khmer news</a:t>
            </a:r>
            <a:endParaRPr lang="en-US" sz="1400" dirty="0"/>
          </a:p>
        </p:txBody>
      </p:sp>
      <p:sp>
        <p:nvSpPr>
          <p:cNvPr id="23" name="Text 21"/>
          <p:cNvSpPr txBox="1"/>
          <p:nvPr/>
        </p:nvSpPr>
        <p:spPr>
          <a:xfrm>
            <a:off x="10012680" y="3630168"/>
            <a:ext cx="1627632" cy="365760"/>
          </a:xfrm>
          <a:prstGeom prst="rect">
            <a:avLst/>
          </a:prstGeom>
          <a:noFill/>
          <a:ln/>
        </p:spPr>
        <p:txBody>
          <a:bodyPr wrap="square" lIns="0" tIns="0" rIns="0" bIns="0" rtlCol="0" anchor="ctr"/>
          <a:lstStyle/>
          <a:p>
            <a:pPr marL="0" indent="0" algn="r">
              <a:buNone/>
            </a:pPr>
            <a:r>
              <a:rPr lang="en-US" sz="1200" b="1" dirty="0">
                <a:solidFill>
                  <a:schemeClr val="accent5"/>
                </a:solidFill>
              </a:rPr>
              <a:t>Own collection</a:t>
            </a:r>
            <a:endParaRPr lang="en-US" sz="1200" dirty="0"/>
          </a:p>
        </p:txBody>
      </p:sp>
      <p:sp>
        <p:nvSpPr>
          <p:cNvPr id="24" name="line"/>
          <p:cNvSpPr/>
          <p:nvPr/>
        </p:nvSpPr>
        <p:spPr>
          <a:xfrm>
            <a:off x="548640" y="4005072"/>
            <a:ext cx="11091672" cy="0"/>
          </a:xfrm>
          <a:prstGeom prst="line">
            <a:avLst/>
          </a:prstGeom>
          <a:noFill/>
          <a:ln w="9525">
            <a:solidFill>
              <a:schemeClr val="accent6"/>
            </a:solidFill>
            <a:prstDash val="solid"/>
          </a:ln>
        </p:spPr>
        <p:txBody>
          <a:bodyPr/>
          <a:lstStyle/>
          <a:p>
            <a:endParaRPr lang="en-US"/>
          </a:p>
        </p:txBody>
      </p:sp>
      <p:sp>
        <p:nvSpPr>
          <p:cNvPr id="25" name="Text 23"/>
          <p:cNvSpPr txBox="1"/>
          <p:nvPr/>
        </p:nvSpPr>
        <p:spPr>
          <a:xfrm>
            <a:off x="548640" y="4069080"/>
            <a:ext cx="5486400" cy="274320"/>
          </a:xfrm>
          <a:prstGeom prst="rect">
            <a:avLst/>
          </a:prstGeom>
          <a:noFill/>
          <a:ln/>
        </p:spPr>
        <p:txBody>
          <a:bodyPr wrap="square" lIns="0" tIns="0" rIns="0" bIns="0" rtlCol="0" anchor="t"/>
          <a:lstStyle/>
          <a:p>
            <a:pPr marL="0" indent="0">
              <a:buNone/>
            </a:pPr>
            <a:r>
              <a:rPr lang="en-US" sz="1300" b="1" dirty="0">
                <a:solidFill>
                  <a:schemeClr val="accent3"/>
                </a:solidFill>
              </a:rPr>
              <a:t>Unseen-speaker test (ddd_test)</a:t>
            </a:r>
            <a:endParaRPr lang="en-US" sz="1300" dirty="0"/>
          </a:p>
        </p:txBody>
      </p:sp>
      <p:sp>
        <p:nvSpPr>
          <p:cNvPr id="26" name="Text 24"/>
          <p:cNvSpPr txBox="1"/>
          <p:nvPr/>
        </p:nvSpPr>
        <p:spPr>
          <a:xfrm>
            <a:off x="548640" y="4361688"/>
            <a:ext cx="3291840" cy="365760"/>
          </a:xfrm>
          <a:prstGeom prst="rect">
            <a:avLst/>
          </a:prstGeom>
          <a:noFill/>
          <a:ln/>
        </p:spPr>
        <p:txBody>
          <a:bodyPr wrap="square" lIns="0" tIns="0" rIns="0" bIns="0" rtlCol="0" anchor="ctr"/>
          <a:lstStyle/>
          <a:p>
            <a:pPr marL="0" indent="0">
              <a:buNone/>
            </a:pPr>
            <a:r>
              <a:rPr lang="en-US" sz="1400" b="1" dirty="0">
                <a:solidFill>
                  <a:schemeClr val="tx2"/>
                </a:solidFill>
              </a:rPr>
              <a:t>Digital Divide Data, Khmer ASR</a:t>
            </a:r>
            <a:endParaRPr lang="en-US" sz="1400" dirty="0"/>
          </a:p>
        </p:txBody>
      </p:sp>
      <p:sp>
        <p:nvSpPr>
          <p:cNvPr id="27" name="Text 25"/>
          <p:cNvSpPr txBox="1"/>
          <p:nvPr/>
        </p:nvSpPr>
        <p:spPr>
          <a:xfrm>
            <a:off x="3886200" y="4361688"/>
            <a:ext cx="6035040" cy="365760"/>
          </a:xfrm>
          <a:prstGeom prst="rect">
            <a:avLst/>
          </a:prstGeom>
          <a:noFill/>
          <a:ln/>
        </p:spPr>
        <p:txBody>
          <a:bodyPr wrap="square" lIns="0" tIns="0" rIns="0" bIns="0" rtlCol="0" anchor="ctr"/>
          <a:lstStyle/>
          <a:p>
            <a:pPr marL="0" indent="0">
              <a:buNone/>
            </a:pPr>
            <a:r>
              <a:rPr lang="en-US" sz="1400" u="sng" dirty="0">
                <a:solidFill>
                  <a:schemeClr val="accent3"/>
                </a:solidFill>
                <a:hlinkClick r:id="rId7" tooltip="https://huggingface.co/datasets/Digital-Divide-Data/khm-asr-cultural">
                  <a:extLst>
                    <a:ext uri="{A12FA001-AC4F-418D-AE19-62706E023703}">
                      <ahyp:hlinkClr xmlns:ahyp="http://schemas.microsoft.com/office/drawing/2018/hyperlinkcolor" val="tx"/>
                    </a:ext>
                  </a:extLst>
                </a:hlinkClick>
              </a:rPr>
              <a:t>huggingface.co/datasets/Digital-Divide-Data/khm-asr-cultural</a:t>
            </a:r>
            <a:endParaRPr lang="en-US" sz="1400" dirty="0"/>
          </a:p>
        </p:txBody>
      </p:sp>
      <p:sp>
        <p:nvSpPr>
          <p:cNvPr id="28" name="Text 26"/>
          <p:cNvSpPr txBox="1"/>
          <p:nvPr/>
        </p:nvSpPr>
        <p:spPr>
          <a:xfrm>
            <a:off x="10012680" y="4361688"/>
            <a:ext cx="1627632" cy="365760"/>
          </a:xfrm>
          <a:prstGeom prst="rect">
            <a:avLst/>
          </a:prstGeom>
          <a:noFill/>
          <a:ln/>
        </p:spPr>
        <p:txBody>
          <a:bodyPr wrap="square" lIns="0" tIns="0" rIns="0" bIns="0" rtlCol="0" anchor="ctr"/>
          <a:lstStyle/>
          <a:p>
            <a:pPr marL="0" indent="0" algn="r">
              <a:buNone/>
            </a:pPr>
            <a:r>
              <a:rPr lang="en-US" sz="1200" b="1" dirty="0">
                <a:solidFill>
                  <a:schemeClr val="accent5"/>
                </a:solidFill>
              </a:rPr>
              <a:t>CC-BY-SA-4.0</a:t>
            </a:r>
            <a:endParaRPr lang="en-US" sz="1200" dirty="0"/>
          </a:p>
        </p:txBody>
      </p:sp>
      <p:sp>
        <p:nvSpPr>
          <p:cNvPr id="29" name="line"/>
          <p:cNvSpPr/>
          <p:nvPr/>
        </p:nvSpPr>
        <p:spPr>
          <a:xfrm>
            <a:off x="548640" y="4736592"/>
            <a:ext cx="11091672" cy="0"/>
          </a:xfrm>
          <a:prstGeom prst="line">
            <a:avLst/>
          </a:prstGeom>
          <a:noFill/>
          <a:ln w="9525">
            <a:solidFill>
              <a:schemeClr val="accent6"/>
            </a:solidFill>
            <a:prstDash val="solid"/>
          </a:ln>
        </p:spPr>
        <p:txBody>
          <a:bodyPr/>
          <a:lstStyle/>
          <a:p>
            <a:endParaRPr lang="en-US"/>
          </a:p>
        </p:txBody>
      </p:sp>
      <p:sp>
        <p:nvSpPr>
          <p:cNvPr id="30" name="Text 28"/>
          <p:cNvSpPr txBox="1"/>
          <p:nvPr/>
        </p:nvSpPr>
        <p:spPr>
          <a:xfrm>
            <a:off x="548640" y="4800600"/>
            <a:ext cx="5486400" cy="274320"/>
          </a:xfrm>
          <a:prstGeom prst="rect">
            <a:avLst/>
          </a:prstGeom>
          <a:noFill/>
          <a:ln/>
        </p:spPr>
        <p:txBody>
          <a:bodyPr wrap="square" lIns="0" tIns="0" rIns="0" bIns="0" rtlCol="0" anchor="t"/>
          <a:lstStyle/>
          <a:p>
            <a:pPr marL="0" indent="0">
              <a:buNone/>
            </a:pPr>
            <a:r>
              <a:rPr lang="en-US" sz="1300" b="1" dirty="0">
                <a:solidFill>
                  <a:schemeClr val="accent3"/>
                </a:solidFill>
              </a:rPr>
              <a:t>Model and code</a:t>
            </a:r>
            <a:endParaRPr lang="en-US" sz="1300" dirty="0"/>
          </a:p>
        </p:txBody>
      </p:sp>
      <p:sp>
        <p:nvSpPr>
          <p:cNvPr id="31" name="Text 29"/>
          <p:cNvSpPr txBox="1"/>
          <p:nvPr/>
        </p:nvSpPr>
        <p:spPr>
          <a:xfrm>
            <a:off x="548640" y="5093208"/>
            <a:ext cx="3291840" cy="365760"/>
          </a:xfrm>
          <a:prstGeom prst="rect">
            <a:avLst/>
          </a:prstGeom>
          <a:noFill/>
          <a:ln/>
        </p:spPr>
        <p:txBody>
          <a:bodyPr wrap="square" lIns="0" tIns="0" rIns="0" bIns="0" rtlCol="0" anchor="ctr"/>
          <a:lstStyle/>
          <a:p>
            <a:pPr marL="0" indent="0">
              <a:buNone/>
            </a:pPr>
            <a:r>
              <a:rPr lang="en-US" sz="1400" b="1" dirty="0">
                <a:solidFill>
                  <a:schemeClr val="tx2"/>
                </a:solidFill>
              </a:rPr>
              <a:t>Whisper-small (Radford et al., 2023)</a:t>
            </a:r>
            <a:endParaRPr lang="en-US" sz="1400" dirty="0"/>
          </a:p>
        </p:txBody>
      </p:sp>
      <p:sp>
        <p:nvSpPr>
          <p:cNvPr id="32" name="Text 30"/>
          <p:cNvSpPr txBox="1"/>
          <p:nvPr/>
        </p:nvSpPr>
        <p:spPr>
          <a:xfrm>
            <a:off x="3886200" y="5093208"/>
            <a:ext cx="6035040" cy="365760"/>
          </a:xfrm>
          <a:prstGeom prst="rect">
            <a:avLst/>
          </a:prstGeom>
          <a:noFill/>
          <a:ln/>
        </p:spPr>
        <p:txBody>
          <a:bodyPr wrap="square" lIns="0" tIns="0" rIns="0" bIns="0" rtlCol="0" anchor="ctr"/>
          <a:lstStyle/>
          <a:p>
            <a:pPr marL="0" indent="0">
              <a:buNone/>
            </a:pPr>
            <a:r>
              <a:rPr lang="en-US" sz="1400" u="sng" dirty="0">
                <a:solidFill>
                  <a:schemeClr val="accent3"/>
                </a:solidFill>
                <a:hlinkClick r:id="rId8" tooltip="https://huggingface.co/openai/whisper-small">
                  <a:extLst>
                    <a:ext uri="{A12FA001-AC4F-418D-AE19-62706E023703}">
                      <ahyp:hlinkClr xmlns:ahyp="http://schemas.microsoft.com/office/drawing/2018/hyperlinkcolor" val="tx"/>
                    </a:ext>
                  </a:extLst>
                </a:hlinkClick>
              </a:rPr>
              <a:t>huggingface.co/openai/whisper-small</a:t>
            </a:r>
            <a:endParaRPr lang="en-US" sz="1400" dirty="0"/>
          </a:p>
        </p:txBody>
      </p:sp>
      <p:sp>
        <p:nvSpPr>
          <p:cNvPr id="33" name="Text 31"/>
          <p:cNvSpPr txBox="1"/>
          <p:nvPr/>
        </p:nvSpPr>
        <p:spPr>
          <a:xfrm>
            <a:off x="10012680" y="5093208"/>
            <a:ext cx="1627632" cy="365760"/>
          </a:xfrm>
          <a:prstGeom prst="rect">
            <a:avLst/>
          </a:prstGeom>
          <a:noFill/>
          <a:ln/>
        </p:spPr>
        <p:txBody>
          <a:bodyPr wrap="square" lIns="0" tIns="0" rIns="0" bIns="0" rtlCol="0" anchor="ctr"/>
          <a:lstStyle/>
          <a:p>
            <a:pPr marL="0" indent="0" algn="r">
              <a:buNone/>
            </a:pPr>
            <a:r>
              <a:rPr lang="en-US" sz="1200" b="1" dirty="0">
                <a:solidFill>
                  <a:schemeClr val="accent5"/>
                </a:solidFill>
              </a:rPr>
              <a:t>Apache-2.0</a:t>
            </a:r>
            <a:endParaRPr lang="en-US" sz="1200" dirty="0"/>
          </a:p>
        </p:txBody>
      </p:sp>
      <p:sp>
        <p:nvSpPr>
          <p:cNvPr id="34" name="line"/>
          <p:cNvSpPr/>
          <p:nvPr/>
        </p:nvSpPr>
        <p:spPr>
          <a:xfrm>
            <a:off x="548640" y="5468112"/>
            <a:ext cx="11091672" cy="0"/>
          </a:xfrm>
          <a:prstGeom prst="line">
            <a:avLst/>
          </a:prstGeom>
          <a:noFill/>
          <a:ln w="9525">
            <a:solidFill>
              <a:schemeClr val="accent6"/>
            </a:solidFill>
            <a:prstDash val="solid"/>
          </a:ln>
        </p:spPr>
        <p:txBody>
          <a:bodyPr/>
          <a:lstStyle/>
          <a:p>
            <a:endParaRPr lang="en-US"/>
          </a:p>
        </p:txBody>
      </p:sp>
      <p:sp>
        <p:nvSpPr>
          <p:cNvPr id="35" name="Text 33"/>
          <p:cNvSpPr txBox="1"/>
          <p:nvPr/>
        </p:nvSpPr>
        <p:spPr>
          <a:xfrm>
            <a:off x="548640" y="5495544"/>
            <a:ext cx="3291840" cy="365760"/>
          </a:xfrm>
          <a:prstGeom prst="rect">
            <a:avLst/>
          </a:prstGeom>
          <a:noFill/>
          <a:ln/>
        </p:spPr>
        <p:txBody>
          <a:bodyPr wrap="square" lIns="0" tIns="0" rIns="0" bIns="0" rtlCol="0" anchor="ctr"/>
          <a:lstStyle/>
          <a:p>
            <a:pPr marL="0" indent="0">
              <a:buNone/>
            </a:pPr>
            <a:r>
              <a:rPr lang="en-US" sz="1400" b="1" dirty="0">
                <a:solidFill>
                  <a:schemeClr val="tx2"/>
                </a:solidFill>
              </a:rPr>
              <a:t>Our project code</a:t>
            </a:r>
            <a:endParaRPr lang="en-US" sz="1400" dirty="0"/>
          </a:p>
        </p:txBody>
      </p:sp>
      <p:sp>
        <p:nvSpPr>
          <p:cNvPr id="36" name="Text 34"/>
          <p:cNvSpPr txBox="1"/>
          <p:nvPr/>
        </p:nvSpPr>
        <p:spPr>
          <a:xfrm>
            <a:off x="3886200" y="5495544"/>
            <a:ext cx="6035040" cy="365760"/>
          </a:xfrm>
          <a:prstGeom prst="rect">
            <a:avLst/>
          </a:prstGeom>
          <a:noFill/>
          <a:ln/>
        </p:spPr>
        <p:txBody>
          <a:bodyPr wrap="square" lIns="0" tIns="0" rIns="0" bIns="0" rtlCol="0" anchor="ctr"/>
          <a:lstStyle/>
          <a:p>
            <a:pPr marL="0" indent="0">
              <a:buNone/>
            </a:pPr>
            <a:r>
              <a:rPr lang="en-US" sz="1400" u="sng" dirty="0">
                <a:solidFill>
                  <a:schemeClr val="accent3"/>
                </a:solidFill>
                <a:hlinkClick r:id="rId9" tooltip="https://github.com/codingwithchitra777/whisper-small-khmer-mini">
                  <a:extLst>
                    <a:ext uri="{A12FA001-AC4F-418D-AE19-62706E023703}">
                      <ahyp:hlinkClr xmlns:ahyp="http://schemas.microsoft.com/office/drawing/2018/hyperlinkcolor" val="tx"/>
                    </a:ext>
                  </a:extLst>
                </a:hlinkClick>
              </a:rPr>
              <a:t>github.com/codingwithchitra777/whisper-small-khmer-mini</a:t>
            </a:r>
            <a:endParaRPr lang="en-US" sz="1400" dirty="0"/>
          </a:p>
        </p:txBody>
      </p:sp>
      <p:sp>
        <p:nvSpPr>
          <p:cNvPr id="37" name="line"/>
          <p:cNvSpPr/>
          <p:nvPr/>
        </p:nvSpPr>
        <p:spPr>
          <a:xfrm>
            <a:off x="548640" y="5870448"/>
            <a:ext cx="11091672" cy="0"/>
          </a:xfrm>
          <a:prstGeom prst="line">
            <a:avLst/>
          </a:prstGeom>
          <a:noFill/>
          <a:ln w="9525">
            <a:solidFill>
              <a:schemeClr val="accent6"/>
            </a:solidFill>
            <a:prstDash val="solid"/>
          </a:ln>
        </p:spPr>
        <p:txBody>
          <a:bodyPr/>
          <a:lstStyle/>
          <a:p>
            <a:endParaRPr lang="en-US"/>
          </a:p>
        </p:txBody>
      </p:sp>
      <p:sp>
        <p:nvSpPr>
          <p:cNvPr id="38" name="Text 36"/>
          <p:cNvSpPr txBox="1"/>
          <p:nvPr/>
        </p:nvSpPr>
        <p:spPr>
          <a:xfrm>
            <a:off x="548640" y="5897880"/>
            <a:ext cx="3291840" cy="365760"/>
          </a:xfrm>
          <a:prstGeom prst="rect">
            <a:avLst/>
          </a:prstGeom>
          <a:noFill/>
          <a:ln/>
        </p:spPr>
        <p:txBody>
          <a:bodyPr wrap="square" lIns="0" tIns="0" rIns="0" bIns="0" rtlCol="0" anchor="ctr"/>
          <a:lstStyle/>
          <a:p>
            <a:pPr marL="0" indent="0">
              <a:buNone/>
            </a:pPr>
            <a:r>
              <a:rPr lang="en-US" sz="1400" b="1" dirty="0">
                <a:solidFill>
                  <a:schemeClr val="tx2"/>
                </a:solidFill>
              </a:rPr>
              <a:t>Metric formula (WER, CER)</a:t>
            </a:r>
            <a:endParaRPr lang="en-US" sz="1400" dirty="0"/>
          </a:p>
        </p:txBody>
      </p:sp>
      <p:sp>
        <p:nvSpPr>
          <p:cNvPr id="39" name="Text 37"/>
          <p:cNvSpPr txBox="1"/>
          <p:nvPr/>
        </p:nvSpPr>
        <p:spPr>
          <a:xfrm>
            <a:off x="3886200" y="5897880"/>
            <a:ext cx="6035040" cy="365760"/>
          </a:xfrm>
          <a:prstGeom prst="rect">
            <a:avLst/>
          </a:prstGeom>
          <a:noFill/>
          <a:ln/>
        </p:spPr>
        <p:txBody>
          <a:bodyPr wrap="square" lIns="0" tIns="0" rIns="0" bIns="0" rtlCol="0" anchor="ctr"/>
          <a:lstStyle/>
          <a:p>
            <a:pPr marL="0" indent="0">
              <a:buNone/>
            </a:pPr>
            <a:r>
              <a:rPr lang="en-US" sz="1400" u="sng" dirty="0">
                <a:solidFill>
                  <a:schemeClr val="accent3"/>
                </a:solidFill>
                <a:hlinkClick r:id="rId10" tooltip="https://huggingface.co/learn/audio-course/chapter5/evaluation">
                  <a:extLst>
                    <a:ext uri="{A12FA001-AC4F-418D-AE19-62706E023703}">
                      <ahyp:hlinkClr xmlns:ahyp="http://schemas.microsoft.com/office/drawing/2018/hyperlinkcolor" val="tx"/>
                    </a:ext>
                  </a:extLst>
                </a:hlinkClick>
              </a:rPr>
              <a:t>huggingface.co/learn/audio-course/chapter5/evaluation</a:t>
            </a:r>
            <a:endParaRPr lang="en-US" sz="1400" dirty="0"/>
          </a:p>
        </p:txBody>
      </p:sp>
      <p:sp>
        <p:nvSpPr>
          <p:cNvPr id="40" name="line"/>
          <p:cNvSpPr/>
          <p:nvPr/>
        </p:nvSpPr>
        <p:spPr>
          <a:xfrm>
            <a:off x="548640" y="6272784"/>
            <a:ext cx="11091672" cy="0"/>
          </a:xfrm>
          <a:prstGeom prst="line">
            <a:avLst/>
          </a:prstGeom>
          <a:noFill/>
          <a:ln w="9525">
            <a:solidFill>
              <a:schemeClr val="accent6"/>
            </a:solidFill>
            <a:prstDash val="solid"/>
          </a:ln>
        </p:spPr>
        <p:txBody>
          <a:bodyPr/>
          <a:lstStyle/>
          <a:p>
            <a:endParaRPr lang="en-US"/>
          </a:p>
        </p:txBody>
      </p:sp>
      <p:sp>
        <p:nvSpPr>
          <p:cNvPr id="41"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theme/theme1.xml><?xml version="1.0" encoding="utf-8"?>
<a:theme xmlns:a="http://schemas.openxmlformats.org/drawingml/2006/main" name="Khmer ASR">
  <a:themeElements>
    <a:clrScheme name="Khmer ASR">
      <a:dk1>
        <a:srgbClr val="1B2433"/>
      </a:dk1>
      <a:lt1>
        <a:srgbClr val="FFFFFF"/>
      </a:lt1>
      <a:dk2>
        <a:srgbClr val="14213D"/>
      </a:dk2>
      <a:lt2>
        <a:srgbClr val="F2F4F8"/>
      </a:lt2>
      <a:accent1>
        <a:srgbClr val="14213D"/>
      </a:accent1>
      <a:accent2>
        <a:srgbClr val="E3A535"/>
      </a:accent2>
      <a:accent3>
        <a:srgbClr val="1F7A72"/>
      </a:accent3>
      <a:accent4>
        <a:srgbClr val="B5473A"/>
      </a:accent4>
      <a:accent5>
        <a:srgbClr val="5E6B7E"/>
      </a:accent5>
      <a:accent6>
        <a:srgbClr val="D9DEE6"/>
      </a:accent6>
      <a:hlink>
        <a:srgbClr val="1F7A72"/>
      </a:hlink>
      <a:folHlink>
        <a:srgbClr val="5E6B7E"/>
      </a:folHlink>
    </a:clrScheme>
    <a:fontScheme name="Khmer AS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4373</Words>
  <Application>Microsoft Office PowerPoint</Application>
  <PresentationFormat>Widescreen</PresentationFormat>
  <Paragraphs>650</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Cambria Math</vt:lpstr>
      <vt:lpstr>Consolas</vt:lpstr>
      <vt:lpstr>Khmer ASR</vt:lpstr>
      <vt:lpstr>PowerPoint Presentation</vt:lpstr>
      <vt:lpstr>Table of contents</vt:lpstr>
      <vt:lpstr>Most Khmer videos have no subtitles</vt:lpstr>
      <vt:lpstr>What exists today, and what is missing</vt:lpstr>
      <vt:lpstr>From a YouTube URL to Khmer subtitles</vt:lpstr>
      <vt:lpstr>Five Khmer speech sources, 17.85 hours assembled</vt:lpstr>
      <vt:lpstr>Clean the data, then split it without leakage</vt:lpstr>
      <vt:lpstr>Whisper-small Transformer Architecture</vt:lpstr>
      <vt:lpstr>Inside each Transformer layer</vt:lpstr>
      <vt:lpstr>Fine-tuning Whisper-small for Khmer</vt:lpstr>
      <vt:lpstr>Training hyperparameters: 5 epochs, 44 minutes</vt:lpstr>
      <vt:lpstr>Three models, each answering one question</vt:lpstr>
      <vt:lpstr>CER without spaces is our primary metric</vt:lpstr>
      <vt:lpstr>Fine-tuning reduced error on unseen speakers from 147.6% to 18.9%</vt:lpstr>
      <vt:lpstr>Validation selected step 3,000 as the best checkpoint</vt:lpstr>
      <vt:lpstr>Typical mistakes are near-miss spellings</vt:lpstr>
      <vt:lpstr>Six insights from this project</vt:lpstr>
      <vt:lpstr>A web app, an API and our model</vt:lpstr>
      <vt:lpstr>Paste a YouTube link and get Khmer subtitles</vt:lpstr>
      <vt:lpstr>What we achieved and what comes next</vt:lpstr>
      <vt:lpstr>PowerPoint Presentation</vt:lpstr>
      <vt:lpstr>Datasets, model and code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Khmer Speech-to-Subtitles</dc:title>
  <dc:subject>PptxGenJS Presentation</dc:subject>
  <dc:creator>Sem Chitra, Sar Sakal, Earn Pisey, Sam Reaksmey</dc:creator>
  <cp:lastModifiedBy>Reaksmey Sam</cp:lastModifiedBy>
  <cp:revision>1</cp:revision>
  <dcterms:created xsi:type="dcterms:W3CDTF">2026-10-05T04:01:57Z</dcterms:created>
  <dcterms:modified xsi:type="dcterms:W3CDTF">2026-10-09T13:57:38Z</dcterms:modified>
</cp:coreProperties>
</file>